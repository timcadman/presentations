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77" r:id="rId1"/>
    <p:sldMasterId id="2147483891" r:id="rId2"/>
    <p:sldMasterId id="2147483904" r:id="rId3"/>
  </p:sldMasterIdLst>
  <p:notesMasterIdLst>
    <p:notesMasterId r:id="rId37"/>
  </p:notesMasterIdLst>
  <p:sldIdLst>
    <p:sldId id="1001" r:id="rId4"/>
    <p:sldId id="1003" r:id="rId5"/>
    <p:sldId id="1002" r:id="rId6"/>
    <p:sldId id="1004" r:id="rId7"/>
    <p:sldId id="1005" r:id="rId8"/>
    <p:sldId id="1006" r:id="rId9"/>
    <p:sldId id="1007" r:id="rId10"/>
    <p:sldId id="1025" r:id="rId11"/>
    <p:sldId id="1008" r:id="rId12"/>
    <p:sldId id="1012" r:id="rId13"/>
    <p:sldId id="1024" r:id="rId14"/>
    <p:sldId id="1013" r:id="rId15"/>
    <p:sldId id="1010" r:id="rId16"/>
    <p:sldId id="1011" r:id="rId17"/>
    <p:sldId id="1014" r:id="rId18"/>
    <p:sldId id="286" r:id="rId19"/>
    <p:sldId id="287" r:id="rId20"/>
    <p:sldId id="322" r:id="rId21"/>
    <p:sldId id="276" r:id="rId22"/>
    <p:sldId id="1015" r:id="rId23"/>
    <p:sldId id="282" r:id="rId24"/>
    <p:sldId id="264" r:id="rId25"/>
    <p:sldId id="271" r:id="rId26"/>
    <p:sldId id="268" r:id="rId27"/>
    <p:sldId id="288" r:id="rId28"/>
    <p:sldId id="1016" r:id="rId29"/>
    <p:sldId id="1017" r:id="rId30"/>
    <p:sldId id="1018" r:id="rId31"/>
    <p:sldId id="1019" r:id="rId32"/>
    <p:sldId id="1020" r:id="rId33"/>
    <p:sldId id="1021" r:id="rId34"/>
    <p:sldId id="1022" r:id="rId35"/>
    <p:sldId id="1023" r:id="rId36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38"/>
    </p:embeddedFont>
    <p:embeddedFont>
      <p:font typeface="Century Gothic" panose="020B0502020202020204" pitchFamily="34" charset="0"/>
      <p:regular r:id="rId39"/>
      <p:bold r:id="rId40"/>
      <p:italic r:id="rId41"/>
      <p:boldItalic r:id="rId42"/>
    </p:embeddedFont>
    <p:embeddedFont>
      <p:font typeface="Garamond" panose="02020404030301010803" pitchFamily="18" charset="0"/>
      <p:regular r:id="rId43"/>
      <p:bold r:id="rId44"/>
      <p:italic r:id="rId45"/>
      <p:boldItalic r:id="rId46"/>
    </p:embeddedFont>
    <p:embeddedFont>
      <p:font typeface="Helvetica Neue" panose="02000503000000020004" pitchFamily="2" charset="0"/>
      <p:regular r:id="rId47"/>
      <p:bold r:id="rId48"/>
      <p:italic r:id="rId49"/>
      <p:boldItalic r:id="rId50"/>
    </p:embeddedFont>
    <p:embeddedFont>
      <p:font typeface="IBM Plex Mono" panose="020B0509050203000203" pitchFamily="49" charset="77"/>
      <p:regular r:id="rId51"/>
      <p:bold r:id="rId52"/>
      <p:italic r:id="rId53"/>
      <p:boldItalic r:id="rId54"/>
    </p:embeddedFont>
    <p:embeddedFont>
      <p:font typeface="IBM Plex Sans" panose="020B0503050203000203" pitchFamily="34" charset="0"/>
      <p:regular r:id="rId55"/>
      <p:bold r:id="rId56"/>
      <p:italic r:id="rId57"/>
      <p:boldItalic r:id="rId58"/>
    </p:embeddedFont>
    <p:embeddedFont>
      <p:font typeface="Inter" panose="02000503000000020004" pitchFamily="2" charset="0"/>
      <p:regular r:id="rId59"/>
      <p:bold r:id="rId60"/>
      <p:italic r:id="rId61"/>
      <p:boldItalic r:id="rId62"/>
    </p:embeddedFont>
    <p:embeddedFont>
      <p:font typeface="Nunito" pitchFamily="2" charset="77"/>
      <p:regular r:id="rId63"/>
      <p:bold r:id="rId64"/>
      <p:italic r:id="rId65"/>
      <p:boldItalic r:id="rId66"/>
    </p:embeddedFont>
    <p:embeddedFont>
      <p:font typeface="Oswald Medium" panose="00000600000000000000" pitchFamily="2" charset="77"/>
      <p:regular r:id="rId67"/>
      <p:bold r:id="rId68"/>
    </p:embeddedFont>
    <p:embeddedFont>
      <p:font typeface="Roboto Mono" pitchFamily="49" charset="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7F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7"/>
    <p:restoredTop sz="96534"/>
  </p:normalViewPr>
  <p:slideViewPr>
    <p:cSldViewPr snapToGrid="0">
      <p:cViewPr varScale="1">
        <p:scale>
          <a:sx n="202" d="100"/>
          <a:sy n="202" d="100"/>
        </p:scale>
        <p:origin x="72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63" Type="http://schemas.openxmlformats.org/officeDocument/2006/relationships/font" Target="fonts/font26.fntdata"/><Relationship Id="rId68" Type="http://schemas.openxmlformats.org/officeDocument/2006/relationships/font" Target="fonts/font3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8" Type="http://schemas.openxmlformats.org/officeDocument/2006/relationships/font" Target="fonts/font21.fntdata"/><Relationship Id="rId66" Type="http://schemas.openxmlformats.org/officeDocument/2006/relationships/font" Target="fonts/font29.fntdata"/><Relationship Id="rId74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font" Target="fonts/font24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font" Target="fonts/font19.fntdata"/><Relationship Id="rId64" Type="http://schemas.openxmlformats.org/officeDocument/2006/relationships/font" Target="fonts/font27.fntdata"/><Relationship Id="rId69" Type="http://schemas.openxmlformats.org/officeDocument/2006/relationships/font" Target="fonts/font32.fntdata"/><Relationship Id="rId8" Type="http://schemas.openxmlformats.org/officeDocument/2006/relationships/slide" Target="slides/slide5.xml"/><Relationship Id="rId51" Type="http://schemas.openxmlformats.org/officeDocument/2006/relationships/font" Target="fonts/font14.fntdata"/><Relationship Id="rId72" Type="http://schemas.openxmlformats.org/officeDocument/2006/relationships/font" Target="fonts/font35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59" Type="http://schemas.openxmlformats.org/officeDocument/2006/relationships/font" Target="fonts/font22.fntdata"/><Relationship Id="rId67" Type="http://schemas.openxmlformats.org/officeDocument/2006/relationships/font" Target="fonts/font30.fntdata"/><Relationship Id="rId20" Type="http://schemas.openxmlformats.org/officeDocument/2006/relationships/slide" Target="slides/slide17.xml"/><Relationship Id="rId41" Type="http://schemas.openxmlformats.org/officeDocument/2006/relationships/font" Target="fonts/font4.fntdata"/><Relationship Id="rId54" Type="http://schemas.openxmlformats.org/officeDocument/2006/relationships/font" Target="fonts/font17.fntdata"/><Relationship Id="rId62" Type="http://schemas.openxmlformats.org/officeDocument/2006/relationships/font" Target="fonts/font25.fntdata"/><Relationship Id="rId70" Type="http://schemas.openxmlformats.org/officeDocument/2006/relationships/font" Target="fonts/font33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12.fntdata"/><Relationship Id="rId57" Type="http://schemas.openxmlformats.org/officeDocument/2006/relationships/font" Target="fonts/font20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60" Type="http://schemas.openxmlformats.org/officeDocument/2006/relationships/font" Target="fonts/font23.fntdata"/><Relationship Id="rId65" Type="http://schemas.openxmlformats.org/officeDocument/2006/relationships/font" Target="fonts/font28.fntdata"/><Relationship Id="rId73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font" Target="fonts/font2.fntdata"/><Relationship Id="rId34" Type="http://schemas.openxmlformats.org/officeDocument/2006/relationships/slide" Target="slides/slide31.xml"/><Relationship Id="rId50" Type="http://schemas.openxmlformats.org/officeDocument/2006/relationships/font" Target="fonts/font13.fntdata"/><Relationship Id="rId55" Type="http://schemas.openxmlformats.org/officeDocument/2006/relationships/font" Target="fonts/font18.fntdata"/><Relationship Id="rId76" Type="http://schemas.openxmlformats.org/officeDocument/2006/relationships/tableStyles" Target="tableStyles.xml"/><Relationship Id="rId7" Type="http://schemas.openxmlformats.org/officeDocument/2006/relationships/slide" Target="slides/slide4.xml"/><Relationship Id="rId71" Type="http://schemas.openxmlformats.org/officeDocument/2006/relationships/font" Target="fonts/font3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65716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704458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26972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4B763-5A68-8100-21CE-E001E7567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03A3F-DA59-D8B4-DD74-B7A51803D8B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3DC85-9BED-07F8-BB25-562CEBD5A6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8798FC-F68C-9240-ADC2-0F58419A4232}" type="slidenum">
              <a:rPr kumimoji="0" lang="-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-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4" name="Google Shape;3864;g36fa5fe301d_0_8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5" name="Google Shape;3865;g36fa5fe301d_0_8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663b9be120_0_4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1" name="Google Shape;791;g3663b9be120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4.pn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2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26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sdia">
  <p:cSld name="Basisdia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628650" y="832899"/>
            <a:ext cx="2741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7FFD"/>
              </a:buClr>
              <a:buSzPts val="3000"/>
              <a:buFont typeface="Bebas Neue"/>
              <a:buNone/>
              <a:defRPr sz="3000">
                <a:solidFill>
                  <a:srgbClr val="017FF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628651" y="1998578"/>
            <a:ext cx="27411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2385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17FFD"/>
              </a:buClr>
              <a:buSzPts val="1500"/>
              <a:buFont typeface="Arial"/>
              <a:buChar char="•"/>
              <a:defRPr sz="1500">
                <a:solidFill>
                  <a:srgbClr val="017FFD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17FFD"/>
              </a:buClr>
              <a:buSzPts val="1100"/>
              <a:buNone/>
              <a:defRPr sz="1100">
                <a:solidFill>
                  <a:srgbClr val="017FFD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3855721" y="661391"/>
            <a:ext cx="4659600" cy="38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58" name="Google Shape;58;p14"/>
          <p:cNvCxnSpPr/>
          <p:nvPr/>
        </p:nvCxnSpPr>
        <p:spPr>
          <a:xfrm>
            <a:off x="628650" y="661391"/>
            <a:ext cx="2741100" cy="0"/>
          </a:xfrm>
          <a:prstGeom prst="straightConnector1">
            <a:avLst/>
          </a:prstGeom>
          <a:noFill/>
          <a:ln w="50800" cap="flat" cmpd="sng">
            <a:solidFill>
              <a:srgbClr val="007BF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7FFD"/>
              </a:buClr>
              <a:buSzPts val="3300"/>
              <a:buFont typeface="Bebas Neue"/>
              <a:buNone/>
              <a:defRPr>
                <a:solidFill>
                  <a:srgbClr val="017FF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71" name="Google Shape;71;p16"/>
          <p:cNvCxnSpPr/>
          <p:nvPr/>
        </p:nvCxnSpPr>
        <p:spPr>
          <a:xfrm>
            <a:off x="628650" y="282889"/>
            <a:ext cx="2741100" cy="0"/>
          </a:xfrm>
          <a:prstGeom prst="straightConnector1">
            <a:avLst/>
          </a:prstGeom>
          <a:noFill/>
          <a:ln w="50800" cap="flat" cmpd="sng">
            <a:solidFill>
              <a:srgbClr val="017FFD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eldia" type="title">
  <p:cSld name="TITLE"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ctrTitle"/>
          </p:nvPr>
        </p:nvSpPr>
        <p:spPr>
          <a:xfrm>
            <a:off x="1143000" y="1708714"/>
            <a:ext cx="68580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200"/>
              <a:buFont typeface="Bebas Neue"/>
              <a:buNone/>
              <a:defRPr sz="6200" b="1" i="0">
                <a:solidFill>
                  <a:schemeClr val="accent5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ubTitle" idx="1"/>
          </p:nvPr>
        </p:nvSpPr>
        <p:spPr>
          <a:xfrm>
            <a:off x="1143000" y="2742677"/>
            <a:ext cx="68580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8" name="Google Shape;78;p17"/>
          <p:cNvSpPr txBox="1"/>
          <p:nvPr/>
        </p:nvSpPr>
        <p:spPr>
          <a:xfrm>
            <a:off x="125451" y="4803378"/>
            <a:ext cx="1698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7BFF"/>
                </a:solidFill>
                <a:latin typeface="Bebas Neue"/>
                <a:ea typeface="Bebas Neue"/>
                <a:cs typeface="Bebas Neue"/>
                <a:sym typeface="Bebas Neue"/>
              </a:rPr>
              <a:t>Genomics coordination center</a:t>
            </a:r>
            <a:endParaRPr sz="11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eldia">
  <p:cSld name="2_Titeldia">
    <p:bg>
      <p:bgPr>
        <a:solidFill>
          <a:schemeClr val="accent5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ctrTitle"/>
          </p:nvPr>
        </p:nvSpPr>
        <p:spPr>
          <a:xfrm>
            <a:off x="1143000" y="1708714"/>
            <a:ext cx="68580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Bebas Neue"/>
              <a:buNone/>
              <a:defRPr sz="6200" b="1" i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ubTitle" idx="1"/>
          </p:nvPr>
        </p:nvSpPr>
        <p:spPr>
          <a:xfrm>
            <a:off x="1143000" y="2742677"/>
            <a:ext cx="68580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egindia_wit">
  <p:cSld name="1_Begindia_wit">
    <p:bg>
      <p:bgPr>
        <a:solidFill>
          <a:schemeClr val="accent5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91045" y="1378913"/>
            <a:ext cx="1908130" cy="258296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125451" y="4803378"/>
            <a:ext cx="1698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Genomics coordination center</a:t>
            </a:r>
            <a:endParaRPr sz="11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gindia_wit">
  <p:cSld name="Begindia_wit">
    <p:bg>
      <p:bgPr>
        <a:solidFill>
          <a:schemeClr val="l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7934" y="1378913"/>
            <a:ext cx="1908130" cy="258296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8"/>
          <p:cNvSpPr txBox="1"/>
          <p:nvPr/>
        </p:nvSpPr>
        <p:spPr>
          <a:xfrm>
            <a:off x="125451" y="4803378"/>
            <a:ext cx="1698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7BFF"/>
                </a:solidFill>
                <a:latin typeface="Bebas Neue"/>
                <a:ea typeface="Bebas Neue"/>
                <a:cs typeface="Bebas Neue"/>
                <a:sym typeface="Bebas Neue"/>
              </a:rPr>
              <a:t>Genomics coordination center</a:t>
            </a:r>
            <a:endParaRPr sz="11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e alinea's">
  <p:cSld name="Twee alinea's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>
            <a:spLocks noGrp="1"/>
          </p:cNvSpPr>
          <p:nvPr>
            <p:ph type="body" idx="1"/>
          </p:nvPr>
        </p:nvSpPr>
        <p:spPr>
          <a:xfrm>
            <a:off x="628650" y="2992582"/>
            <a:ext cx="3497100" cy="16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marL="914400" lvl="1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sldNum" idx="12"/>
          </p:nvPr>
        </p:nvSpPr>
        <p:spPr>
          <a:xfrm>
            <a:off x="6978811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017FFD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017FFD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017FFD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017FFD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017FFD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017FFD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017FFD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017FFD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017FFD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158" name="Google Shape;158;p29"/>
          <p:cNvCxnSpPr/>
          <p:nvPr/>
        </p:nvCxnSpPr>
        <p:spPr>
          <a:xfrm>
            <a:off x="628650" y="661391"/>
            <a:ext cx="2741100" cy="0"/>
          </a:xfrm>
          <a:prstGeom prst="straightConnector1">
            <a:avLst/>
          </a:prstGeom>
          <a:noFill/>
          <a:ln w="50800" cap="flat" cmpd="sng">
            <a:solidFill>
              <a:srgbClr val="007B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9" name="Google Shape;159;p29"/>
          <p:cNvSpPr txBox="1">
            <a:spLocks noGrp="1"/>
          </p:cNvSpPr>
          <p:nvPr>
            <p:ph type="title"/>
          </p:nvPr>
        </p:nvSpPr>
        <p:spPr>
          <a:xfrm>
            <a:off x="628650" y="832899"/>
            <a:ext cx="2741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7FFD"/>
              </a:buClr>
              <a:buSzPts val="3000"/>
              <a:buFont typeface="Bebas Neue"/>
              <a:buNone/>
              <a:defRPr sz="3000">
                <a:solidFill>
                  <a:srgbClr val="017FF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9"/>
          <p:cNvSpPr txBox="1">
            <a:spLocks noGrp="1"/>
          </p:cNvSpPr>
          <p:nvPr>
            <p:ph type="body" idx="2"/>
          </p:nvPr>
        </p:nvSpPr>
        <p:spPr>
          <a:xfrm>
            <a:off x="628651" y="1998578"/>
            <a:ext cx="27411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17FFD"/>
              </a:buClr>
              <a:buSzPts val="1500"/>
              <a:buNone/>
              <a:defRPr sz="1500">
                <a:solidFill>
                  <a:srgbClr val="017FFD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body" idx="3"/>
          </p:nvPr>
        </p:nvSpPr>
        <p:spPr>
          <a:xfrm>
            <a:off x="5018314" y="2992582"/>
            <a:ext cx="3497100" cy="16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marL="914400" lvl="1" indent="-3238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sommingdia">
  <p:cSld name="Opsommingdia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body" idx="1"/>
          </p:nvPr>
        </p:nvSpPr>
        <p:spPr>
          <a:xfrm>
            <a:off x="628649" y="3039398"/>
            <a:ext cx="78867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>
              <a:lnSpc>
                <a:spcPct val="1875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5" name="Google Shape;165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sldNum" idx="12"/>
          </p:nvPr>
        </p:nvSpPr>
        <p:spPr>
          <a:xfrm>
            <a:off x="6978811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67" name="Google Shape;167;p30"/>
          <p:cNvSpPr txBox="1">
            <a:spLocks noGrp="1"/>
          </p:cNvSpPr>
          <p:nvPr>
            <p:ph type="title"/>
          </p:nvPr>
        </p:nvSpPr>
        <p:spPr>
          <a:xfrm>
            <a:off x="628650" y="832899"/>
            <a:ext cx="2741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7FFD"/>
              </a:buClr>
              <a:buSzPts val="3000"/>
              <a:buFont typeface="Bebas Neue"/>
              <a:buNone/>
              <a:defRPr sz="3000">
                <a:solidFill>
                  <a:srgbClr val="017FF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0"/>
          <p:cNvSpPr txBox="1">
            <a:spLocks noGrp="1"/>
          </p:cNvSpPr>
          <p:nvPr>
            <p:ph type="body" idx="2"/>
          </p:nvPr>
        </p:nvSpPr>
        <p:spPr>
          <a:xfrm>
            <a:off x="628651" y="1998578"/>
            <a:ext cx="27411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17FFD"/>
              </a:buClr>
              <a:buSzPts val="1500"/>
              <a:buNone/>
              <a:defRPr sz="1500">
                <a:solidFill>
                  <a:srgbClr val="017FFD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cxnSp>
        <p:nvCxnSpPr>
          <p:cNvPr id="169" name="Google Shape;169;p30"/>
          <p:cNvCxnSpPr/>
          <p:nvPr/>
        </p:nvCxnSpPr>
        <p:spPr>
          <a:xfrm>
            <a:off x="628650" y="661391"/>
            <a:ext cx="2741100" cy="0"/>
          </a:xfrm>
          <a:prstGeom prst="straightConnector1">
            <a:avLst/>
          </a:prstGeom>
          <a:noFill/>
          <a:ln w="50800" cap="flat" cmpd="sng">
            <a:solidFill>
              <a:srgbClr val="007BF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fbeelding met bijschrift">
  <p:cSld name="Afbeelding met bijschrif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>
            <a:spLocks noGrp="1"/>
          </p:cNvSpPr>
          <p:nvPr>
            <p:ph type="pic" idx="2"/>
          </p:nvPr>
        </p:nvSpPr>
        <p:spPr>
          <a:xfrm>
            <a:off x="3887391" y="832899"/>
            <a:ext cx="4629300" cy="3562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72" name="Google Shape;172;p31"/>
          <p:cNvCxnSpPr/>
          <p:nvPr/>
        </p:nvCxnSpPr>
        <p:spPr>
          <a:xfrm>
            <a:off x="628650" y="661391"/>
            <a:ext cx="2741100" cy="0"/>
          </a:xfrm>
          <a:prstGeom prst="straightConnector1">
            <a:avLst/>
          </a:prstGeom>
          <a:noFill/>
          <a:ln w="50800" cap="flat" cmpd="sng">
            <a:solidFill>
              <a:srgbClr val="007B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3" name="Google Shape;173;p31"/>
          <p:cNvSpPr txBox="1">
            <a:spLocks noGrp="1"/>
          </p:cNvSpPr>
          <p:nvPr>
            <p:ph type="title"/>
          </p:nvPr>
        </p:nvSpPr>
        <p:spPr>
          <a:xfrm>
            <a:off x="628650" y="832899"/>
            <a:ext cx="2741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7FFD"/>
              </a:buClr>
              <a:buSzPts val="3000"/>
              <a:buFont typeface="Bebas Neue"/>
              <a:buNone/>
              <a:defRPr sz="3000">
                <a:solidFill>
                  <a:srgbClr val="017FF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body" idx="1"/>
          </p:nvPr>
        </p:nvSpPr>
        <p:spPr>
          <a:xfrm>
            <a:off x="628651" y="1998578"/>
            <a:ext cx="27411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17FFD"/>
              </a:buClr>
              <a:buSzPts val="1500"/>
              <a:buNone/>
              <a:defRPr sz="1500">
                <a:solidFill>
                  <a:srgbClr val="017FFD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ners/sponsoren dia">
  <p:cSld name="Partners/sponsoren dia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2" descr="ttp://bbmri.nl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4849" y="1710651"/>
            <a:ext cx="1612447" cy="125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2" descr="ttp://bbmri-eric.eu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849" y="3109190"/>
            <a:ext cx="1612446" cy="477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2" descr="ttp://rd-connect.eu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45331" y="1521639"/>
            <a:ext cx="1827983" cy="468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2" descr="ttp://lifelines.ne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60777" y="3085824"/>
            <a:ext cx="1385481" cy="514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2" descr="ttp://ctmm-trait.n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42842" y="3963451"/>
            <a:ext cx="1203415" cy="698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2" descr="ttp://bioshare.eu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40686" y="1338296"/>
            <a:ext cx="1205439" cy="765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2" descr="ttp://biomedbridges.eu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96040" y="2332806"/>
            <a:ext cx="1675312" cy="357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2" descr="ttp://www.wageningenur.nl/en/Expertise-Services/Chair-groups/Plant-Sciences/Laboratory-of-Nematology/Pro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074920" y="4063067"/>
            <a:ext cx="1755391" cy="598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2" descr="ttp://www.tifn.nl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5524" y="2318798"/>
            <a:ext cx="978694" cy="292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2" descr="ttp://www.rug.nl/gbic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74920" y="2306149"/>
            <a:ext cx="1786450" cy="415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2" descr="ttp://www.energyacademy.org/research/energysense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50834" y="3307386"/>
            <a:ext cx="1244238" cy="13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2" descr="ttp://www.ercet.eu/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213496" y="1619639"/>
            <a:ext cx="1296862" cy="27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2" descr="ttp://dtls.nl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113048" y="3198357"/>
            <a:ext cx="1373198" cy="340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2" descr="ttp://www.nfu.nl/publicaties/data4lifesciences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647384" y="2232935"/>
            <a:ext cx="557213" cy="557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2" descr="ttp://www.erare.eu/financed-projects/insaid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486650" y="3947120"/>
            <a:ext cx="878681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2"/>
          <p:cNvSpPr txBox="1">
            <a:spLocks noGrp="1"/>
          </p:cNvSpPr>
          <p:nvPr>
            <p:ph type="title"/>
          </p:nvPr>
        </p:nvSpPr>
        <p:spPr>
          <a:xfrm>
            <a:off x="628649" y="832899"/>
            <a:ext cx="33774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3000"/>
              <a:buFont typeface="Bebas Neue"/>
              <a:buNone/>
              <a:defRPr sz="3000">
                <a:solidFill>
                  <a:srgbClr val="007B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95" name="Google Shape;195;p32"/>
          <p:cNvCxnSpPr/>
          <p:nvPr/>
        </p:nvCxnSpPr>
        <p:spPr>
          <a:xfrm>
            <a:off x="628650" y="661391"/>
            <a:ext cx="2741100" cy="0"/>
          </a:xfrm>
          <a:prstGeom prst="straightConnector1">
            <a:avLst/>
          </a:prstGeom>
          <a:noFill/>
          <a:ln w="50800" cap="flat" cmpd="sng">
            <a:solidFill>
              <a:srgbClr val="007BF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4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2" name="Google Shape;392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82A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82A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82A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82A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82A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82A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82A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82A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82A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fbeelding met bijschrift 1">
  <p:cSld name="Afbeelding met bijschrift 1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8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6" name="Google Shape;746;p8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7" name="Google Shape;747;p8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749" name="Google Shape;749;p81"/>
          <p:cNvSpPr txBox="1">
            <a:spLocks noGrp="1"/>
          </p:cNvSpPr>
          <p:nvPr>
            <p:ph type="title"/>
          </p:nvPr>
        </p:nvSpPr>
        <p:spPr>
          <a:xfrm>
            <a:off x="628650" y="832899"/>
            <a:ext cx="2741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3000"/>
              <a:buFont typeface="Oswald Medium"/>
              <a:buNone/>
              <a:defRPr sz="3000">
                <a:solidFill>
                  <a:srgbClr val="007BFF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750" name="Google Shape;750;p81"/>
          <p:cNvSpPr txBox="1">
            <a:spLocks noGrp="1"/>
          </p:cNvSpPr>
          <p:nvPr>
            <p:ph type="body" idx="1"/>
          </p:nvPr>
        </p:nvSpPr>
        <p:spPr>
          <a:xfrm>
            <a:off x="628651" y="1998577"/>
            <a:ext cx="27411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7BFF"/>
              </a:buClr>
              <a:buSzPts val="1500"/>
              <a:buNone/>
              <a:defRPr sz="1500">
                <a:solidFill>
                  <a:srgbClr val="007BFF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5706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06"/>
          <p:cNvSpPr txBox="1">
            <a:spLocks noGrp="1"/>
          </p:cNvSpPr>
          <p:nvPr>
            <p:ph type="title"/>
          </p:nvPr>
        </p:nvSpPr>
        <p:spPr>
          <a:xfrm>
            <a:off x="311700" y="19548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37" name="Google Shape;1037;p106"/>
          <p:cNvSpPr txBox="1">
            <a:spLocks noGrp="1"/>
          </p:cNvSpPr>
          <p:nvPr>
            <p:ph type="body" idx="1"/>
          </p:nvPr>
        </p:nvSpPr>
        <p:spPr>
          <a:xfrm>
            <a:off x="323850" y="844153"/>
            <a:ext cx="8351700" cy="3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8880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fbeelding met bijschrift">
  <p:cSld name="1_Afbeelding met bijschrift"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6" name="Google Shape;1246;p1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7" name="Google Shape;1247;p1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249" name="Google Shape;1249;p123"/>
          <p:cNvSpPr txBox="1">
            <a:spLocks noGrp="1"/>
          </p:cNvSpPr>
          <p:nvPr>
            <p:ph type="title"/>
          </p:nvPr>
        </p:nvSpPr>
        <p:spPr>
          <a:xfrm>
            <a:off x="628650" y="832899"/>
            <a:ext cx="2741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3000"/>
              <a:buFont typeface="Oswald Medium"/>
              <a:buNone/>
              <a:defRPr sz="3000">
                <a:solidFill>
                  <a:srgbClr val="007BFF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250" name="Google Shape;1250;p123"/>
          <p:cNvSpPr txBox="1">
            <a:spLocks noGrp="1"/>
          </p:cNvSpPr>
          <p:nvPr>
            <p:ph type="body" idx="1"/>
          </p:nvPr>
        </p:nvSpPr>
        <p:spPr>
          <a:xfrm>
            <a:off x="628651" y="1998577"/>
            <a:ext cx="27411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7BFF"/>
              </a:buClr>
              <a:buSzPts val="1500"/>
              <a:buNone/>
              <a:defRPr sz="1500">
                <a:solidFill>
                  <a:srgbClr val="007BFF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01176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dia 2">
  <p:cSld name="Titeldia 2">
    <p:bg>
      <p:bgPr>
        <a:noFill/>
        <a:effectLst/>
      </p:bgPr>
    </p:bg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173"/>
          <p:cNvSpPr txBox="1">
            <a:spLocks noGrp="1"/>
          </p:cNvSpPr>
          <p:nvPr>
            <p:ph type="ctrTitle"/>
          </p:nvPr>
        </p:nvSpPr>
        <p:spPr>
          <a:xfrm>
            <a:off x="1143000" y="1708714"/>
            <a:ext cx="68580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6000"/>
              <a:buFont typeface="Oswald Medium"/>
              <a:buNone/>
              <a:defRPr sz="6000" b="0" i="0">
                <a:solidFill>
                  <a:srgbClr val="007BFF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6000"/>
              <a:buFont typeface="Oswald Medium"/>
              <a:buNone/>
              <a:defRPr sz="6000">
                <a:solidFill>
                  <a:srgbClr val="007BFF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6000"/>
              <a:buFont typeface="Oswald Medium"/>
              <a:buNone/>
              <a:defRPr sz="6000">
                <a:solidFill>
                  <a:srgbClr val="007BFF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6000"/>
              <a:buFont typeface="Oswald Medium"/>
              <a:buNone/>
              <a:defRPr sz="6000">
                <a:solidFill>
                  <a:srgbClr val="007BFF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6000"/>
              <a:buFont typeface="Oswald Medium"/>
              <a:buNone/>
              <a:defRPr sz="6000">
                <a:solidFill>
                  <a:srgbClr val="007BFF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6000"/>
              <a:buFont typeface="Oswald Medium"/>
              <a:buNone/>
              <a:defRPr sz="6000">
                <a:solidFill>
                  <a:srgbClr val="007BFF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6000"/>
              <a:buFont typeface="Oswald Medium"/>
              <a:buNone/>
              <a:defRPr sz="6000">
                <a:solidFill>
                  <a:srgbClr val="007BFF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6000"/>
              <a:buFont typeface="Oswald Medium"/>
              <a:buNone/>
              <a:defRPr sz="6000">
                <a:solidFill>
                  <a:srgbClr val="007BFF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6000"/>
              <a:buFont typeface="Oswald Medium"/>
              <a:buNone/>
              <a:defRPr sz="6000">
                <a:solidFill>
                  <a:srgbClr val="007BFF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731" name="Google Shape;1731;p173"/>
          <p:cNvSpPr txBox="1">
            <a:spLocks noGrp="1"/>
          </p:cNvSpPr>
          <p:nvPr>
            <p:ph type="subTitle" idx="1"/>
          </p:nvPr>
        </p:nvSpPr>
        <p:spPr>
          <a:xfrm>
            <a:off x="1143000" y="2742676"/>
            <a:ext cx="68580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Roboto Mono"/>
              <a:buNone/>
              <a:defRPr sz="1500"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Mono"/>
              <a:buNone/>
              <a:defRPr sz="1500">
                <a:latin typeface="Roboto Mono"/>
                <a:ea typeface="Roboto Mono"/>
                <a:cs typeface="Roboto Mono"/>
                <a:sym typeface="Roboto Mono"/>
              </a:defRPr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oboto Mono"/>
              <a:buNone/>
              <a:defRPr sz="1400">
                <a:latin typeface="Roboto Mono"/>
                <a:ea typeface="Roboto Mono"/>
                <a:cs typeface="Roboto Mono"/>
                <a:sym typeface="Roboto Mono"/>
              </a:defRPr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Roboto Mono"/>
              <a:buNone/>
              <a:defRPr sz="1200">
                <a:latin typeface="Roboto Mono"/>
                <a:ea typeface="Roboto Mono"/>
                <a:cs typeface="Roboto Mono"/>
                <a:sym typeface="Roboto Mono"/>
              </a:defRPr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Roboto Mono"/>
              <a:buNone/>
              <a:defRPr sz="1200">
                <a:latin typeface="Roboto Mono"/>
                <a:ea typeface="Roboto Mono"/>
                <a:cs typeface="Roboto Mono"/>
                <a:sym typeface="Roboto Mono"/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Roboto Mono"/>
              <a:buNone/>
              <a:defRPr sz="1200">
                <a:latin typeface="Roboto Mono"/>
                <a:ea typeface="Roboto Mono"/>
                <a:cs typeface="Roboto Mono"/>
                <a:sym typeface="Roboto Mono"/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Roboto Mono"/>
              <a:buNone/>
              <a:defRPr sz="1200">
                <a:latin typeface="Roboto Mono"/>
                <a:ea typeface="Roboto Mono"/>
                <a:cs typeface="Roboto Mono"/>
                <a:sym typeface="Roboto Mono"/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Roboto Mono"/>
              <a:buNone/>
              <a:defRPr sz="1200">
                <a:latin typeface="Roboto Mono"/>
                <a:ea typeface="Roboto Mono"/>
                <a:cs typeface="Roboto Mono"/>
                <a:sym typeface="Roboto Mono"/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Roboto Mono"/>
              <a:buNone/>
              <a:defRPr sz="12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  <p:sp>
        <p:nvSpPr>
          <p:cNvPr id="1732" name="Google Shape;1732;p17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3" name="Google Shape;1733;p17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4" name="Google Shape;1734;p17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3419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rst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u Flag PNG, Vector, PSD, and Clipart With Transparent Background for Free  Download | Pngtree">
            <a:extLst>
              <a:ext uri="{FF2B5EF4-FFF2-40B4-BE49-F238E27FC236}">
                <a16:creationId xmlns:a16="http://schemas.microsoft.com/office/drawing/2014/main" id="{6315CD6C-8C52-222B-90B8-A274320876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56981" y="4718834"/>
            <a:ext cx="361302" cy="19212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29E9E88C-63B2-649F-2123-8D553B1E26D4}"/>
              </a:ext>
            </a:extLst>
          </p:cNvPr>
          <p:cNvSpPr txBox="1"/>
          <p:nvPr/>
        </p:nvSpPr>
        <p:spPr>
          <a:xfrm>
            <a:off x="4118284" y="4699481"/>
            <a:ext cx="1227259" cy="2308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45720" tIns="22860" rIns="45720" bIns="22860" anchor="t" anchorCtr="0" compatLnSpc="1">
            <a:spAutoFit/>
          </a:bodyPr>
          <a:lstStyle/>
          <a:p>
            <a: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04685"/>
                </a:solidFill>
                <a:uFillTx/>
                <a:latin typeface=""/>
              </a:rPr>
              <a:t>Funded by The European Union</a:t>
            </a:r>
          </a:p>
          <a:p>
            <a: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00000"/>
                </a:solidFill>
                <a:uFillTx/>
                <a:latin typeface=""/>
              </a:rPr>
              <a:t>Grant agreement No. 101131809</a:t>
            </a:r>
          </a:p>
        </p:txBody>
      </p:sp>
      <p:pic>
        <p:nvPicPr>
          <p:cNvPr id="4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BAA98A46-EAEC-4AC7-9762-5FFE5FE72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83" y="1311611"/>
            <a:ext cx="8742437" cy="2520278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568576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C278AD63-A7DB-253B-F6FA-14CE16748F7D}"/>
              </a:ext>
            </a:extLst>
          </p:cNvPr>
          <p:cNvSpPr/>
          <p:nvPr/>
        </p:nvSpPr>
        <p:spPr>
          <a:xfrm>
            <a:off x="980899" y="1428750"/>
            <a:ext cx="7182196" cy="3230964"/>
          </a:xfrm>
          <a:prstGeom prst="rect">
            <a:avLst/>
          </a:prstGeom>
          <a:solidFill>
            <a:srgbClr val="0089AD"/>
          </a:solidFill>
          <a:ln cap="flat">
            <a:noFill/>
            <a:prstDash val="solid"/>
          </a:ln>
          <a:effectLst>
            <a:outerShdw dir="16200000" algn="tl">
              <a:srgbClr val="000000">
                <a:alpha val="66000"/>
              </a:srgbClr>
            </a:outerShdw>
          </a:effectLst>
        </p:spPr>
        <p:txBody>
          <a:bodyPr lIns="0" tIns="0" rIns="0" bIns="0"/>
          <a:lstStyle/>
          <a:p>
            <a:endParaRPr lang="en-NL" sz="700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E2E7BBF2-0EA8-877B-E042-D9B21EBDB803}"/>
              </a:ext>
            </a:extLst>
          </p:cNvPr>
          <p:cNvSpPr/>
          <p:nvPr/>
        </p:nvSpPr>
        <p:spPr>
          <a:xfrm>
            <a:off x="1085849" y="1536662"/>
            <a:ext cx="6972300" cy="3026079"/>
          </a:xfrm>
          <a:prstGeom prst="rect">
            <a:avLst/>
          </a:prstGeom>
          <a:noFill/>
          <a:ln w="6345" cap="sq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NL" sz="7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21CECE1-B0A1-1851-265F-A40BC4A6C91D}"/>
              </a:ext>
            </a:extLst>
          </p:cNvPr>
          <p:cNvGrpSpPr/>
          <p:nvPr/>
        </p:nvGrpSpPr>
        <p:grpSpPr>
          <a:xfrm>
            <a:off x="3937635" y="1428750"/>
            <a:ext cx="1268730" cy="483974"/>
            <a:chOff x="7875270" y="2857500"/>
            <a:chExt cx="2537460" cy="967947"/>
          </a:xfrm>
        </p:grpSpPr>
        <p:cxnSp>
          <p:nvCxnSpPr>
            <p:cNvPr id="5" name="Straight Connector 16">
              <a:extLst>
                <a:ext uri="{FF2B5EF4-FFF2-40B4-BE49-F238E27FC236}">
                  <a16:creationId xmlns:a16="http://schemas.microsoft.com/office/drawing/2014/main" id="{B7832A2E-DFEF-6F69-186E-7F526D1C9A53}"/>
                </a:ext>
              </a:extLst>
            </p:cNvPr>
            <p:cNvCxnSpPr/>
            <p:nvPr/>
          </p:nvCxnSpPr>
          <p:spPr>
            <a:xfrm>
              <a:off x="7875270" y="2857500"/>
              <a:ext cx="0" cy="960120"/>
            </a:xfrm>
            <a:prstGeom prst="straightConnector1">
              <a:avLst/>
            </a:prstGeom>
            <a:noFill/>
            <a:ln w="6345" cap="flat">
              <a:solidFill>
                <a:srgbClr val="FFFFFF"/>
              </a:solidFill>
              <a:prstDash val="solid"/>
              <a:miter/>
            </a:ln>
          </p:spPr>
        </p:cxnSp>
        <p:cxnSp>
          <p:nvCxnSpPr>
            <p:cNvPr id="6" name="Straight Connector 17">
              <a:extLst>
                <a:ext uri="{FF2B5EF4-FFF2-40B4-BE49-F238E27FC236}">
                  <a16:creationId xmlns:a16="http://schemas.microsoft.com/office/drawing/2014/main" id="{817851AC-33B1-838F-FB21-128B0AB85484}"/>
                </a:ext>
              </a:extLst>
            </p:cNvPr>
            <p:cNvCxnSpPr/>
            <p:nvPr/>
          </p:nvCxnSpPr>
          <p:spPr>
            <a:xfrm>
              <a:off x="10412730" y="2857500"/>
              <a:ext cx="0" cy="960120"/>
            </a:xfrm>
            <a:prstGeom prst="straightConnector1">
              <a:avLst/>
            </a:prstGeom>
            <a:noFill/>
            <a:ln w="6345" cap="flat">
              <a:solidFill>
                <a:srgbClr val="FFFFFF"/>
              </a:solidFill>
              <a:prstDash val="solid"/>
              <a:miter/>
            </a:ln>
          </p:spPr>
        </p:cxnSp>
        <p:cxnSp>
          <p:nvCxnSpPr>
            <p:cNvPr id="7" name="Straight Connector 18">
              <a:extLst>
                <a:ext uri="{FF2B5EF4-FFF2-40B4-BE49-F238E27FC236}">
                  <a16:creationId xmlns:a16="http://schemas.microsoft.com/office/drawing/2014/main" id="{E7B1D68E-5219-4499-948C-6CC498D002DE}"/>
                </a:ext>
              </a:extLst>
            </p:cNvPr>
            <p:cNvCxnSpPr/>
            <p:nvPr/>
          </p:nvCxnSpPr>
          <p:spPr>
            <a:xfrm>
              <a:off x="7875270" y="3825447"/>
              <a:ext cx="2537460" cy="0"/>
            </a:xfrm>
            <a:prstGeom prst="straightConnector1">
              <a:avLst/>
            </a:prstGeom>
            <a:noFill/>
            <a:ln w="6345" cap="flat">
              <a:solidFill>
                <a:srgbClr val="FFFFFF"/>
              </a:solidFill>
              <a:prstDash val="solid"/>
              <a:miter/>
            </a:ln>
          </p:spPr>
        </p:cxn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C80BA946-09EB-42D6-A465-A6AD4CE4DD5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71278" y="2046400"/>
            <a:ext cx="6801440" cy="1943100"/>
          </a:xfrm>
        </p:spPr>
        <p:txBody>
          <a:bodyPr anchorCtr="1">
            <a:noAutofit/>
          </a:bodyPr>
          <a:lstStyle>
            <a:lvl1pPr algn="ctr">
              <a:lnSpc>
                <a:spcPct val="83000"/>
              </a:lnSpc>
              <a:defRPr sz="5400" cap="all" spc="-75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CABDFAA-C6C4-DB8A-8362-BA970AFCCC1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71575" y="3989500"/>
            <a:ext cx="6803136" cy="342900"/>
          </a:xfrm>
        </p:spPr>
        <p:txBody>
          <a:bodyPr anchorCtr="1"/>
          <a:lstStyle>
            <a:lvl1pPr marL="0" indent="0" algn="ctr">
              <a:spcBef>
                <a:spcPts val="0"/>
              </a:spcBef>
              <a:buNone/>
              <a:defRPr spc="60">
                <a:solidFill>
                  <a:srgbClr val="FFFFFF"/>
                </a:solidFill>
                <a:latin typeface="Myriad Pro" pitchFamily="34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Slide Number Placeholder 21">
            <a:extLst>
              <a:ext uri="{FF2B5EF4-FFF2-40B4-BE49-F238E27FC236}">
                <a16:creationId xmlns:a16="http://schemas.microsoft.com/office/drawing/2014/main" id="{0E907033-CFFB-CAB4-D743-D7A9551B0DD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455189" y="4387012"/>
            <a:ext cx="1583910" cy="171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FFFFFF"/>
                </a:solidFill>
                <a:uFillTx/>
                <a:latin typeface=""/>
              </a:defRPr>
            </a:lvl1pPr>
          </a:lstStyle>
          <a:p>
            <a:pPr lvl="0"/>
            <a:fld id="{C13FB075-181C-0040-8C30-FF779C949E09}" type="slidenum">
              <a:t>‹Nº›</a:t>
            </a:fld>
            <a:endParaRPr lang="en-US"/>
          </a:p>
        </p:txBody>
      </p:sp>
      <p:pic>
        <p:nvPicPr>
          <p:cNvPr id="11" name="Picture 2" descr="Eu Flag PNG, Vector, PSD, and Clipart With Transparent Background for Free  Download | Pngtree">
            <a:extLst>
              <a:ext uri="{FF2B5EF4-FFF2-40B4-BE49-F238E27FC236}">
                <a16:creationId xmlns:a16="http://schemas.microsoft.com/office/drawing/2014/main" id="{5210BCD5-E25F-2964-65BA-ED58379BE5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56981" y="4718834"/>
            <a:ext cx="361302" cy="19212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TextBox 8">
            <a:extLst>
              <a:ext uri="{FF2B5EF4-FFF2-40B4-BE49-F238E27FC236}">
                <a16:creationId xmlns:a16="http://schemas.microsoft.com/office/drawing/2014/main" id="{A48D9BBA-8A56-F0B2-1E5B-104931E63E7F}"/>
              </a:ext>
            </a:extLst>
          </p:cNvPr>
          <p:cNvSpPr txBox="1"/>
          <p:nvPr/>
        </p:nvSpPr>
        <p:spPr>
          <a:xfrm>
            <a:off x="4118284" y="4699481"/>
            <a:ext cx="1227259" cy="2308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45720" tIns="22860" rIns="45720" bIns="22860" anchor="t" anchorCtr="0" compatLnSpc="1">
            <a:spAutoFit/>
          </a:bodyPr>
          <a:lstStyle/>
          <a:p>
            <a: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04685"/>
                </a:solidFill>
                <a:uFillTx/>
                <a:latin typeface=""/>
              </a:rPr>
              <a:t>Funded by The European Union</a:t>
            </a:r>
          </a:p>
          <a:p>
            <a: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00000"/>
                </a:solidFill>
                <a:uFillTx/>
                <a:latin typeface=""/>
              </a:rPr>
              <a:t>Grant agreement No. 101131809</a:t>
            </a:r>
          </a:p>
        </p:txBody>
      </p:sp>
      <p:pic>
        <p:nvPicPr>
          <p:cNvPr id="13" name="Picture 5" descr="A close-up of a logo&#10;&#10;Description automatically generated">
            <a:extLst>
              <a:ext uri="{FF2B5EF4-FFF2-40B4-BE49-F238E27FC236}">
                <a16:creationId xmlns:a16="http://schemas.microsoft.com/office/drawing/2014/main" id="{71846F5E-B8D2-F00A-9D98-32E00E745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647" y="483786"/>
            <a:ext cx="3146702" cy="90697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77018473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294787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rgbClr val="0089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>
            <a:extLst>
              <a:ext uri="{FF2B5EF4-FFF2-40B4-BE49-F238E27FC236}">
                <a16:creationId xmlns:a16="http://schemas.microsoft.com/office/drawing/2014/main" id="{F6201646-6D80-87BE-0688-849AF68C602A}"/>
              </a:ext>
            </a:extLst>
          </p:cNvPr>
          <p:cNvSpPr/>
          <p:nvPr/>
        </p:nvSpPr>
        <p:spPr>
          <a:xfrm>
            <a:off x="983186" y="1434223"/>
            <a:ext cx="7182196" cy="3230964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0089AD"/>
            </a:solidFill>
            <a:prstDash val="solid"/>
          </a:ln>
          <a:effectLst>
            <a:outerShdw dir="16200000" algn="tl">
              <a:srgbClr val="000000">
                <a:alpha val="66000"/>
              </a:srgbClr>
            </a:outerShdw>
          </a:effectLst>
        </p:spPr>
        <p:txBody>
          <a:bodyPr vert="horz" wrap="square" lIns="45720" tIns="22860" rIns="45720" bIns="22860" anchor="t" anchorCtr="0" compatLnSpc="1">
            <a:noAutofit/>
          </a:bodyPr>
          <a:lstStyle/>
          <a:p>
            <a: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0" i="0" u="none" strike="noStrike" kern="1200" cap="none" spc="0" baseline="0">
              <a:solidFill>
                <a:srgbClr val="000000"/>
              </a:solidFill>
              <a:uFillTx/>
              <a:latin typeface="Century Gothic"/>
            </a:endParaRPr>
          </a:p>
        </p:txBody>
      </p:sp>
      <p:sp>
        <p:nvSpPr>
          <p:cNvPr id="3" name="Rectangle 23">
            <a:extLst>
              <a:ext uri="{FF2B5EF4-FFF2-40B4-BE49-F238E27FC236}">
                <a16:creationId xmlns:a16="http://schemas.microsoft.com/office/drawing/2014/main" id="{615FD18E-2356-1EAC-0610-C3CD280CC0E7}"/>
              </a:ext>
            </a:extLst>
          </p:cNvPr>
          <p:cNvSpPr/>
          <p:nvPr/>
        </p:nvSpPr>
        <p:spPr>
          <a:xfrm>
            <a:off x="1085849" y="1536662"/>
            <a:ext cx="6972300" cy="3026079"/>
          </a:xfrm>
          <a:prstGeom prst="rect">
            <a:avLst/>
          </a:prstGeom>
          <a:noFill/>
          <a:ln w="6345" cap="sq">
            <a:solidFill>
              <a:srgbClr val="0089AD"/>
            </a:solidFill>
            <a:prstDash val="solid"/>
            <a:miter/>
          </a:ln>
        </p:spPr>
        <p:txBody>
          <a:bodyPr vert="horz" wrap="square" lIns="45720" tIns="22860" rIns="45720" bIns="22860" anchor="t" anchorCtr="0" compatLnSpc="1">
            <a:noAutofit/>
          </a:bodyPr>
          <a:lstStyle/>
          <a:p>
            <a: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0" i="0" u="none" strike="noStrike" kern="1200" cap="none" spc="0" baseline="0">
              <a:solidFill>
                <a:srgbClr val="000000"/>
              </a:solidFill>
              <a:uFillTx/>
              <a:latin typeface="Century Gothic"/>
            </a:endParaRP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4101A11C-89FC-7DA8-834F-0F63783C74FE}"/>
              </a:ext>
            </a:extLst>
          </p:cNvPr>
          <p:cNvSpPr/>
          <p:nvPr/>
        </p:nvSpPr>
        <p:spPr>
          <a:xfrm>
            <a:off x="3851910" y="1428750"/>
            <a:ext cx="1440180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45720" tIns="22860" rIns="45720" bIns="22860" anchor="t" anchorCtr="0" compatLnSpc="1">
            <a:noAutofit/>
          </a:bodyPr>
          <a:lstStyle/>
          <a:p>
            <a: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grpSp>
        <p:nvGrpSpPr>
          <p:cNvPr id="5" name="Group 30">
            <a:extLst>
              <a:ext uri="{FF2B5EF4-FFF2-40B4-BE49-F238E27FC236}">
                <a16:creationId xmlns:a16="http://schemas.microsoft.com/office/drawing/2014/main" id="{5F56B8AD-B7FF-B7DE-9F05-E50B0CAFA403}"/>
              </a:ext>
            </a:extLst>
          </p:cNvPr>
          <p:cNvGrpSpPr/>
          <p:nvPr/>
        </p:nvGrpSpPr>
        <p:grpSpPr>
          <a:xfrm>
            <a:off x="3937635" y="1428750"/>
            <a:ext cx="1268730" cy="483974"/>
            <a:chOff x="7875270" y="2857500"/>
            <a:chExt cx="2537460" cy="967947"/>
          </a:xfrm>
        </p:grpSpPr>
        <p:cxnSp>
          <p:nvCxnSpPr>
            <p:cNvPr id="6" name="Straight Connector 31">
              <a:extLst>
                <a:ext uri="{FF2B5EF4-FFF2-40B4-BE49-F238E27FC236}">
                  <a16:creationId xmlns:a16="http://schemas.microsoft.com/office/drawing/2014/main" id="{23DC4BC8-85FA-A131-1074-B9B82E044E5F}"/>
                </a:ext>
              </a:extLst>
            </p:cNvPr>
            <p:cNvCxnSpPr/>
            <p:nvPr/>
          </p:nvCxnSpPr>
          <p:spPr>
            <a:xfrm>
              <a:off x="7875270" y="2857500"/>
              <a:ext cx="0" cy="960120"/>
            </a:xfrm>
            <a:prstGeom prst="straightConnector1">
              <a:avLst/>
            </a:prstGeom>
            <a:noFill/>
            <a:ln w="6345" cap="flat">
              <a:solidFill>
                <a:srgbClr val="004685"/>
              </a:solidFill>
              <a:prstDash val="solid"/>
              <a:miter/>
            </a:ln>
          </p:spPr>
        </p:cxnSp>
        <p:cxnSp>
          <p:nvCxnSpPr>
            <p:cNvPr id="7" name="Straight Connector 32">
              <a:extLst>
                <a:ext uri="{FF2B5EF4-FFF2-40B4-BE49-F238E27FC236}">
                  <a16:creationId xmlns:a16="http://schemas.microsoft.com/office/drawing/2014/main" id="{36302A32-091E-75B0-8419-A00B0910319E}"/>
                </a:ext>
              </a:extLst>
            </p:cNvPr>
            <p:cNvCxnSpPr/>
            <p:nvPr/>
          </p:nvCxnSpPr>
          <p:spPr>
            <a:xfrm>
              <a:off x="10412730" y="2857500"/>
              <a:ext cx="0" cy="960120"/>
            </a:xfrm>
            <a:prstGeom prst="straightConnector1">
              <a:avLst/>
            </a:prstGeom>
            <a:noFill/>
            <a:ln w="6345" cap="flat">
              <a:solidFill>
                <a:srgbClr val="004685"/>
              </a:solidFill>
              <a:prstDash val="solid"/>
              <a:miter/>
            </a:ln>
          </p:spPr>
        </p:cxnSp>
        <p:cxnSp>
          <p:nvCxnSpPr>
            <p:cNvPr id="8" name="Straight Connector 33">
              <a:extLst>
                <a:ext uri="{FF2B5EF4-FFF2-40B4-BE49-F238E27FC236}">
                  <a16:creationId xmlns:a16="http://schemas.microsoft.com/office/drawing/2014/main" id="{E3222C0D-AD03-2199-0093-ADAF241FEA73}"/>
                </a:ext>
              </a:extLst>
            </p:cNvPr>
            <p:cNvCxnSpPr/>
            <p:nvPr/>
          </p:nvCxnSpPr>
          <p:spPr>
            <a:xfrm>
              <a:off x="7875270" y="3825447"/>
              <a:ext cx="2537460" cy="0"/>
            </a:xfrm>
            <a:prstGeom prst="straightConnector1">
              <a:avLst/>
            </a:prstGeom>
            <a:noFill/>
            <a:ln w="6345" cap="flat">
              <a:solidFill>
                <a:srgbClr val="004685"/>
              </a:solidFill>
              <a:prstDash val="solid"/>
              <a:miter/>
            </a:ln>
          </p:spPr>
        </p:cxn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D589009B-F946-57D9-659D-87A49E6A2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2718" y="2048686"/>
            <a:ext cx="6803136" cy="1940814"/>
          </a:xfrm>
        </p:spPr>
        <p:txBody>
          <a:bodyPr anchorCtr="1">
            <a:noAutofit/>
          </a:bodyPr>
          <a:lstStyle>
            <a:lvl1pPr algn="ctr">
              <a:lnSpc>
                <a:spcPct val="83000"/>
              </a:lnSpc>
              <a:defRPr sz="5400" cap="all" spc="-75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72EC9EB-4A06-4BEC-524B-6CD0F337A1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72718" y="3989500"/>
            <a:ext cx="6803136" cy="342900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96D5CE"/>
                </a:solidFill>
                <a:latin typeface="Myriad Pro" pitchFamily="3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A7CC2EA-A11F-07D4-1E39-07FA9832A3A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453378" y="4386249"/>
            <a:ext cx="1584198" cy="171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000000"/>
                </a:solidFill>
                <a:uFillTx/>
                <a:latin typeface=""/>
              </a:defRPr>
            </a:lvl1pPr>
          </a:lstStyle>
          <a:p>
            <a:pPr lvl="0"/>
            <a:fld id="{AF577714-4AD7-1046-95A6-FCE3D2C1B4EC}" type="slidenum">
              <a:t>‹Nº›</a:t>
            </a:fld>
            <a:endParaRPr lang="en-US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181CF1E-3538-AE3A-DDD3-C3A90ED32C9F}"/>
              </a:ext>
            </a:extLst>
          </p:cNvPr>
          <p:cNvSpPr/>
          <p:nvPr/>
        </p:nvSpPr>
        <p:spPr>
          <a:xfrm>
            <a:off x="3314700" y="472845"/>
            <a:ext cx="2514600" cy="955905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720" tIns="22860" rIns="45720" bIns="22860" anchor="ctr" anchorCtr="1" compatLnSpc="1">
            <a:noAutofit/>
          </a:bodyPr>
          <a:lstStyle/>
          <a:p>
            <a:pPr marL="0" marR="0" lvl="0" indent="0" algn="ctr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pic>
        <p:nvPicPr>
          <p:cNvPr id="13" name="Picture 2" descr="Eu Flag PNG, Vector, PSD, and Clipart With Transparent Background for Free  Download | Pngtree">
            <a:extLst>
              <a:ext uri="{FF2B5EF4-FFF2-40B4-BE49-F238E27FC236}">
                <a16:creationId xmlns:a16="http://schemas.microsoft.com/office/drawing/2014/main" id="{D9F246C5-C0C5-C128-8306-861A82DF95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56981" y="4718834"/>
            <a:ext cx="361302" cy="19212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TextBox 12">
            <a:extLst>
              <a:ext uri="{FF2B5EF4-FFF2-40B4-BE49-F238E27FC236}">
                <a16:creationId xmlns:a16="http://schemas.microsoft.com/office/drawing/2014/main" id="{C8310154-6FD5-C4D2-A8A5-9FA78138640D}"/>
              </a:ext>
            </a:extLst>
          </p:cNvPr>
          <p:cNvSpPr txBox="1"/>
          <p:nvPr/>
        </p:nvSpPr>
        <p:spPr>
          <a:xfrm>
            <a:off x="4118284" y="4699481"/>
            <a:ext cx="1227259" cy="2308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45720" tIns="22860" rIns="45720" bIns="22860" anchor="t" anchorCtr="0" compatLnSpc="1">
            <a:spAutoFit/>
          </a:bodyPr>
          <a:lstStyle/>
          <a:p>
            <a: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04685"/>
                </a:solidFill>
                <a:uFillTx/>
                <a:latin typeface=""/>
              </a:rPr>
              <a:t>Funded by The European Union</a:t>
            </a:r>
          </a:p>
          <a:p>
            <a: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FFFFFF"/>
                </a:solidFill>
                <a:uFillTx/>
                <a:latin typeface=""/>
              </a:rPr>
              <a:t>Grant agreement No. 101131809</a:t>
            </a:r>
          </a:p>
        </p:txBody>
      </p:sp>
      <p:pic>
        <p:nvPicPr>
          <p:cNvPr id="15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4671538C-BAC8-36A2-6342-C27C2E310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474" y="627333"/>
            <a:ext cx="2425048" cy="698972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20390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3298399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A8BA3353-80DF-A455-0B5D-1F5156A6B65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780026" y="2067436"/>
            <a:ext cx="3566160" cy="24003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4E172AB9-813C-CFD4-8A4E-211DE0C0B68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66698" y="4690108"/>
            <a:ext cx="2057400" cy="205740"/>
          </a:xfrm>
        </p:spPr>
        <p:txBody>
          <a:bodyPr/>
          <a:lstStyle>
            <a:lvl1pPr>
              <a:defRPr/>
            </a:lvl1pPr>
          </a:lstStyle>
          <a:p>
            <a:pPr lvl="0"/>
            <a:fld id="{EFAE6636-AAD7-6849-BD57-1087A1B466A7}" type="datetime1">
              <a:rPr lang="en-US"/>
              <a:pPr lvl="0"/>
              <a:t>5/19/26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2710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488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9864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:a16="http://schemas.microsoft.com/office/drawing/2014/main" id="{73A1EB8A-09E6-31FE-2AC8-B1CB81903DA8}"/>
              </a:ext>
            </a:extLst>
          </p:cNvPr>
          <p:cNvSpPr/>
          <p:nvPr/>
        </p:nvSpPr>
        <p:spPr>
          <a:xfrm>
            <a:off x="184146" y="178308"/>
            <a:ext cx="6398514" cy="4786884"/>
          </a:xfrm>
          <a:prstGeom prst="rect">
            <a:avLst/>
          </a:prstGeom>
          <a:solidFill>
            <a:srgbClr val="0089AD"/>
          </a:solidFill>
          <a:ln cap="flat">
            <a:noFill/>
            <a:prstDash val="solid"/>
          </a:ln>
        </p:spPr>
        <p:txBody>
          <a:bodyPr vert="horz" wrap="square" lIns="45720" tIns="22860" rIns="45720" bIns="22860" anchor="t" anchorCtr="0" compatLnSpc="1">
            <a:noAutofit/>
          </a:bodyPr>
          <a:lstStyle/>
          <a:p>
            <a: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D7662DD5-9391-AE99-3D74-92786563D0B5}"/>
              </a:ext>
            </a:extLst>
          </p:cNvPr>
          <p:cNvSpPr/>
          <p:nvPr/>
        </p:nvSpPr>
        <p:spPr>
          <a:xfrm>
            <a:off x="6765289" y="178308"/>
            <a:ext cx="2194560" cy="4786884"/>
          </a:xfrm>
          <a:prstGeom prst="rect">
            <a:avLst/>
          </a:prstGeom>
          <a:solidFill>
            <a:srgbClr val="96D5CE"/>
          </a:solidFill>
          <a:ln cap="flat">
            <a:noFill/>
            <a:prstDash val="solid"/>
          </a:ln>
        </p:spPr>
        <p:txBody>
          <a:bodyPr vert="horz" wrap="square" lIns="45720" tIns="22860" rIns="45720" bIns="22860" anchor="t" anchorCtr="0" compatLnSpc="1">
            <a:noAutofit/>
          </a:bodyPr>
          <a:lstStyle/>
          <a:p>
            <a: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42706D0-5884-DB99-2FDD-50343EA00D2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>
            <a:extLst>
              <a:ext uri="{FF2B5EF4-FFF2-40B4-BE49-F238E27FC236}">
                <a16:creationId xmlns:a16="http://schemas.microsoft.com/office/drawing/2014/main" id="{B8B4220F-57BB-F56F-AF7F-7407664DC3B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66698" y="4705352"/>
            <a:ext cx="2057400" cy="205740"/>
          </a:xfrm>
          <a:noFill/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9D2D23AA-2760-7444-BBC6-01A0941662CD}" type="datetime1">
              <a:rPr lang="en-US"/>
              <a:pPr lvl="0"/>
              <a:t>5/19/26</a:t>
            </a:fld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49048FB7-14C8-682B-E2D3-ECA7C3112C0F}"/>
              </a:ext>
            </a:extLst>
          </p:cNvPr>
          <p:cNvSpPr/>
          <p:nvPr/>
        </p:nvSpPr>
        <p:spPr>
          <a:xfrm>
            <a:off x="6868159" y="281178"/>
            <a:ext cx="1988820" cy="4581144"/>
          </a:xfrm>
          <a:prstGeom prst="rect">
            <a:avLst/>
          </a:prstGeom>
          <a:noFill/>
          <a:ln w="6345" cap="sq">
            <a:solidFill>
              <a:srgbClr val="FFFFFF"/>
            </a:solidFill>
            <a:prstDash val="solid"/>
            <a:miter/>
          </a:ln>
        </p:spPr>
        <p:txBody>
          <a:bodyPr vert="horz" wrap="square" lIns="45720" tIns="22860" rIns="45720" bIns="22860" anchor="t" anchorCtr="0" compatLnSpc="1">
            <a:noAutofit/>
          </a:bodyPr>
          <a:lstStyle/>
          <a:p>
            <a: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2DFA7F-4802-8181-D0BB-34AA8EE918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455" y="1079317"/>
            <a:ext cx="1824228" cy="1234440"/>
          </a:xfrm>
        </p:spPr>
        <p:txBody>
          <a:bodyPr anchor="b">
            <a:noAutofit/>
          </a:bodyPr>
          <a:lstStyle>
            <a:lvl1pPr>
              <a:defRPr sz="27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8ED2A1F-EC2F-0A9A-7049-F75D28B6249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950455" y="2416627"/>
            <a:ext cx="1824228" cy="215080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2" descr="Eu Flag PNG, Vector, PSD, and Clipart With Transparent Background for Free  Download | Pngtree">
            <a:extLst>
              <a:ext uri="{FF2B5EF4-FFF2-40B4-BE49-F238E27FC236}">
                <a16:creationId xmlns:a16="http://schemas.microsoft.com/office/drawing/2014/main" id="{CCCA0760-F434-10E0-4673-871DBE2B01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04703" y="4635510"/>
            <a:ext cx="360662" cy="1917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9B80F40A-7111-7FFA-CE0B-C68348BEE8AC}"/>
              </a:ext>
            </a:extLst>
          </p:cNvPr>
          <p:cNvSpPr txBox="1"/>
          <p:nvPr/>
        </p:nvSpPr>
        <p:spPr>
          <a:xfrm>
            <a:off x="7650042" y="4629150"/>
            <a:ext cx="1227259" cy="2308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45720" tIns="22860" rIns="45720" bIns="22860" anchor="t" anchorCtr="0" compatLnSpc="1">
            <a:spAutoFit/>
          </a:bodyPr>
          <a:lstStyle/>
          <a:p>
            <a:pPr marL="0" marR="0" lvl="0" indent="0" algn="r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FFFFFF"/>
                </a:solidFill>
                <a:uFillTx/>
                <a:latin typeface=""/>
              </a:rPr>
              <a:t>Funded by The European Union</a:t>
            </a:r>
          </a:p>
          <a:p>
            <a:pPr marL="0" marR="0" lvl="0" indent="0" algn="r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FFFFFF"/>
                </a:solidFill>
                <a:uFillTx/>
                <a:latin typeface=""/>
              </a:rPr>
              <a:t>Grant agreement No. 101131809</a:t>
            </a:r>
          </a:p>
        </p:txBody>
      </p:sp>
      <p:pic>
        <p:nvPicPr>
          <p:cNvPr id="11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11CB85E1-8CFB-46F8-EEAF-81AD68B9C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187" y="384925"/>
            <a:ext cx="1830496" cy="52760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6375478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2F9BDF76-D811-0393-8B7C-3C16150C13E5}"/>
              </a:ext>
            </a:extLst>
          </p:cNvPr>
          <p:cNvSpPr/>
          <p:nvPr/>
        </p:nvSpPr>
        <p:spPr>
          <a:xfrm>
            <a:off x="6765289" y="178308"/>
            <a:ext cx="2194560" cy="4786884"/>
          </a:xfrm>
          <a:prstGeom prst="rect">
            <a:avLst/>
          </a:prstGeom>
          <a:solidFill>
            <a:srgbClr val="96D5CE"/>
          </a:solidFill>
          <a:ln cap="flat">
            <a:noFill/>
            <a:prstDash val="solid"/>
          </a:ln>
        </p:spPr>
        <p:txBody>
          <a:bodyPr vert="horz" wrap="square" lIns="45720" tIns="22860" rIns="45720" bIns="22860" anchor="t" anchorCtr="0" compatLnSpc="1">
            <a:noAutofit/>
          </a:bodyPr>
          <a:lstStyle/>
          <a:p>
            <a: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8D5D882-499E-2F2E-3D3E-4F83DE685D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455" y="1079317"/>
            <a:ext cx="1824228" cy="1234440"/>
          </a:xfrm>
        </p:spPr>
        <p:txBody>
          <a:bodyPr anchor="b">
            <a:noAutofit/>
          </a:bodyPr>
          <a:lstStyle>
            <a:lvl1pPr>
              <a:defRPr sz="27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3DAA635-9677-9657-2F95-ADE1483B54C2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71450" y="178308"/>
            <a:ext cx="6398514" cy="4786884"/>
          </a:xfrm>
          <a:solidFill>
            <a:srgbClr val="0089AD"/>
          </a:solidFill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587C6C9-25A7-A3E7-17BC-B116807248D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950455" y="2416627"/>
            <a:ext cx="1824228" cy="215080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F66D400-036E-8C11-D2AD-F90F115D94C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66698" y="4705352"/>
            <a:ext cx="2057400" cy="205740"/>
          </a:xfrm>
          <a:noFill/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dist="6348" dir="2700000">
                    <a:srgbClr val="000000"/>
                  </a:outerShdw>
                </a:effectLst>
              </a:defRPr>
            </a:lvl1pPr>
          </a:lstStyle>
          <a:p>
            <a:pPr lvl="0"/>
            <a:fld id="{5C64891D-D22B-4547-A4B3-451DAD99B93C}" type="datetime1">
              <a:rPr lang="en-US"/>
              <a:pPr lvl="0"/>
              <a:t>5/19/26</a:t>
            </a:fld>
            <a:endParaRPr lang="en-US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DE128760-0535-75BB-F50D-AB48DC8DDD5B}"/>
              </a:ext>
            </a:extLst>
          </p:cNvPr>
          <p:cNvSpPr/>
          <p:nvPr/>
        </p:nvSpPr>
        <p:spPr>
          <a:xfrm>
            <a:off x="6868159" y="281178"/>
            <a:ext cx="1988820" cy="4581144"/>
          </a:xfrm>
          <a:prstGeom prst="rect">
            <a:avLst/>
          </a:prstGeom>
          <a:noFill/>
          <a:ln w="6345" cap="sq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NL" sz="700"/>
          </a:p>
        </p:txBody>
      </p:sp>
      <p:pic>
        <p:nvPicPr>
          <p:cNvPr id="8" name="Picture 2" descr="Eu Flag PNG, Vector, PSD, and Clipart With Transparent Background for Free  Download | Pngtree">
            <a:extLst>
              <a:ext uri="{FF2B5EF4-FFF2-40B4-BE49-F238E27FC236}">
                <a16:creationId xmlns:a16="http://schemas.microsoft.com/office/drawing/2014/main" id="{87D28373-AB87-AF19-C79A-4A9C4C700D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04703" y="4635510"/>
            <a:ext cx="360662" cy="1917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Box 12">
            <a:extLst>
              <a:ext uri="{FF2B5EF4-FFF2-40B4-BE49-F238E27FC236}">
                <a16:creationId xmlns:a16="http://schemas.microsoft.com/office/drawing/2014/main" id="{642892A7-2A82-835D-8F51-84D9631E1B6E}"/>
              </a:ext>
            </a:extLst>
          </p:cNvPr>
          <p:cNvSpPr txBox="1"/>
          <p:nvPr/>
        </p:nvSpPr>
        <p:spPr>
          <a:xfrm>
            <a:off x="7650042" y="4629150"/>
            <a:ext cx="1227259" cy="2308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45720" tIns="22860" rIns="45720" bIns="22860" anchor="t" anchorCtr="0" compatLnSpc="1">
            <a:spAutoFit/>
          </a:bodyPr>
          <a:lstStyle/>
          <a:p>
            <a:pPr marL="0" marR="0" lvl="0" indent="0" algn="r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FFFFFF"/>
                </a:solidFill>
                <a:uFillTx/>
                <a:latin typeface=""/>
              </a:rPr>
              <a:t>Funded by The European Union</a:t>
            </a:r>
          </a:p>
          <a:p>
            <a:pPr marL="0" marR="0" lvl="0" indent="0" algn="r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FFFFFF"/>
                </a:solidFill>
                <a:uFillTx/>
                <a:latin typeface=""/>
              </a:rPr>
              <a:t>Grant agreement No. 101131809</a:t>
            </a:r>
          </a:p>
        </p:txBody>
      </p:sp>
      <p:pic>
        <p:nvPicPr>
          <p:cNvPr id="10" name="Picture 5" descr="A close-up of a logo&#10;&#10;Description automatically generated">
            <a:extLst>
              <a:ext uri="{FF2B5EF4-FFF2-40B4-BE49-F238E27FC236}">
                <a16:creationId xmlns:a16="http://schemas.microsoft.com/office/drawing/2014/main" id="{A7BFB431-81DA-9EDF-8FE6-04997FBEB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187" y="384925"/>
            <a:ext cx="1830496" cy="52760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8699119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:a16="http://schemas.microsoft.com/office/drawing/2014/main" id="{20B3255D-98AB-4B67-D9C3-3897498385A0}"/>
              </a:ext>
            </a:extLst>
          </p:cNvPr>
          <p:cNvSpPr/>
          <p:nvPr/>
        </p:nvSpPr>
        <p:spPr>
          <a:xfrm>
            <a:off x="184146" y="178308"/>
            <a:ext cx="6398514" cy="4786884"/>
          </a:xfrm>
          <a:prstGeom prst="rect">
            <a:avLst/>
          </a:prstGeom>
          <a:solidFill>
            <a:srgbClr val="0089AD"/>
          </a:solidFill>
          <a:ln cap="flat">
            <a:noFill/>
            <a:prstDash val="solid"/>
          </a:ln>
        </p:spPr>
        <p:txBody>
          <a:bodyPr vert="horz" wrap="square" lIns="45720" tIns="22860" rIns="45720" bIns="22860" anchor="t" anchorCtr="0" compatLnSpc="1">
            <a:noAutofit/>
          </a:bodyPr>
          <a:lstStyle/>
          <a:p>
            <a: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A8C5753B-E03D-DF22-A355-D57B30CB2E89}"/>
              </a:ext>
            </a:extLst>
          </p:cNvPr>
          <p:cNvSpPr/>
          <p:nvPr/>
        </p:nvSpPr>
        <p:spPr>
          <a:xfrm>
            <a:off x="6765289" y="178308"/>
            <a:ext cx="2194560" cy="4786884"/>
          </a:xfrm>
          <a:prstGeom prst="rect">
            <a:avLst/>
          </a:prstGeom>
          <a:solidFill>
            <a:srgbClr val="96D5CE"/>
          </a:solidFill>
          <a:ln cap="flat">
            <a:noFill/>
            <a:prstDash val="solid"/>
          </a:ln>
        </p:spPr>
        <p:txBody>
          <a:bodyPr vert="horz" wrap="square" lIns="45720" tIns="22860" rIns="45720" bIns="22860" anchor="t" anchorCtr="0" compatLnSpc="1">
            <a:noAutofit/>
          </a:bodyPr>
          <a:lstStyle/>
          <a:p>
            <a: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8C569F-B359-948A-620B-97199B7BC40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 marL="0" indent="0" algn="ctr">
              <a:buNone/>
              <a:defRPr sz="3300">
                <a:solidFill>
                  <a:srgbClr val="FFFFFF"/>
                </a:solidFill>
                <a:latin typeface="Myriad Pro" pitchFamily="34"/>
              </a:defRPr>
            </a:lvl1pPr>
            <a:lvl2pPr algn="ctr"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7">
            <a:extLst>
              <a:ext uri="{FF2B5EF4-FFF2-40B4-BE49-F238E27FC236}">
                <a16:creationId xmlns:a16="http://schemas.microsoft.com/office/drawing/2014/main" id="{A6DD8208-2C96-2345-A0AC-D2D0692138F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66698" y="4705352"/>
            <a:ext cx="2057400" cy="205740"/>
          </a:xfrm>
          <a:noFill/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FBEBCDFC-2BA2-F946-8349-912BC6D2C74F}" type="datetime1">
              <a:rPr lang="en-US"/>
              <a:pPr lvl="0"/>
              <a:t>5/19/26</a:t>
            </a:fld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731AFDED-A110-EF61-63B1-031F9E84200F}"/>
              </a:ext>
            </a:extLst>
          </p:cNvPr>
          <p:cNvSpPr/>
          <p:nvPr/>
        </p:nvSpPr>
        <p:spPr>
          <a:xfrm>
            <a:off x="6868159" y="281178"/>
            <a:ext cx="1988820" cy="4581144"/>
          </a:xfrm>
          <a:prstGeom prst="rect">
            <a:avLst/>
          </a:prstGeom>
          <a:noFill/>
          <a:ln w="6345" cap="sq">
            <a:solidFill>
              <a:srgbClr val="FFFFFF"/>
            </a:solidFill>
            <a:prstDash val="solid"/>
            <a:miter/>
          </a:ln>
        </p:spPr>
        <p:txBody>
          <a:bodyPr vert="horz" wrap="square" lIns="45720" tIns="22860" rIns="45720" bIns="22860" anchor="t" anchorCtr="0" compatLnSpc="1">
            <a:noAutofit/>
          </a:bodyPr>
          <a:lstStyle/>
          <a:p>
            <a: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9001C2-3DFA-97B3-3EA1-2CE4DF4147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455" y="1079317"/>
            <a:ext cx="1824228" cy="1234440"/>
          </a:xfrm>
        </p:spPr>
        <p:txBody>
          <a:bodyPr anchor="b">
            <a:noAutofit/>
          </a:bodyPr>
          <a:lstStyle>
            <a:lvl1pPr>
              <a:defRPr sz="27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8204C04-90E9-99BB-5C4F-568F6A1ACB3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950455" y="2416627"/>
            <a:ext cx="1824228" cy="215080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2" descr="Eu Flag PNG, Vector, PSD, and Clipart With Transparent Background for Free  Download | Pngtree">
            <a:extLst>
              <a:ext uri="{FF2B5EF4-FFF2-40B4-BE49-F238E27FC236}">
                <a16:creationId xmlns:a16="http://schemas.microsoft.com/office/drawing/2014/main" id="{F88C7941-F463-FDF2-BFF2-0655B10473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04703" y="4635510"/>
            <a:ext cx="360662" cy="1917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22A4CFF2-2B18-14A9-8DBD-157CD686D0B1}"/>
              </a:ext>
            </a:extLst>
          </p:cNvPr>
          <p:cNvSpPr txBox="1"/>
          <p:nvPr/>
        </p:nvSpPr>
        <p:spPr>
          <a:xfrm>
            <a:off x="7650042" y="4629150"/>
            <a:ext cx="1227259" cy="2308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45720" tIns="22860" rIns="45720" bIns="22860" anchor="t" anchorCtr="0" compatLnSpc="1">
            <a:spAutoFit/>
          </a:bodyPr>
          <a:lstStyle/>
          <a:p>
            <a:pPr marL="0" marR="0" lvl="0" indent="0" algn="r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FFFFFF"/>
                </a:solidFill>
                <a:uFillTx/>
                <a:latin typeface=""/>
              </a:rPr>
              <a:t>Funded by The European Union</a:t>
            </a:r>
          </a:p>
          <a:p>
            <a:pPr marL="0" marR="0" lvl="0" indent="0" algn="r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FFFFFF"/>
                </a:solidFill>
                <a:uFillTx/>
                <a:latin typeface=""/>
              </a:rPr>
              <a:t>Grant agreement No. 101131809</a:t>
            </a:r>
          </a:p>
        </p:txBody>
      </p:sp>
      <p:pic>
        <p:nvPicPr>
          <p:cNvPr id="11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2D87AA61-C84D-575D-6E1B-01BAB40D5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187" y="384925"/>
            <a:ext cx="1830496" cy="52760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154419631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fbeelding met bijschrift">
  <p:cSld name="Afbeelding met bijschrift"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6" name="Google Shape;1246;p1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7" name="Google Shape;1247;p1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1248" name="Google Shape;1248;p123"/>
          <p:cNvCxnSpPr/>
          <p:nvPr/>
        </p:nvCxnSpPr>
        <p:spPr>
          <a:xfrm>
            <a:off x="628650" y="661391"/>
            <a:ext cx="2741100" cy="0"/>
          </a:xfrm>
          <a:prstGeom prst="straightConnector1">
            <a:avLst/>
          </a:prstGeom>
          <a:noFill/>
          <a:ln w="50800" cap="flat" cmpd="sng">
            <a:solidFill>
              <a:srgbClr val="007B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49" name="Google Shape;1249;p123"/>
          <p:cNvSpPr txBox="1">
            <a:spLocks noGrp="1"/>
          </p:cNvSpPr>
          <p:nvPr>
            <p:ph type="title"/>
          </p:nvPr>
        </p:nvSpPr>
        <p:spPr>
          <a:xfrm>
            <a:off x="628650" y="832899"/>
            <a:ext cx="2741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3000"/>
              <a:buFont typeface="Oswald Medium"/>
              <a:buNone/>
              <a:defRPr sz="3000">
                <a:solidFill>
                  <a:srgbClr val="007BFF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Font typeface="Oswald Medium"/>
              <a:buNone/>
              <a:defRPr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250" name="Google Shape;1250;p123"/>
          <p:cNvSpPr txBox="1">
            <a:spLocks noGrp="1"/>
          </p:cNvSpPr>
          <p:nvPr>
            <p:ph type="body" idx="1"/>
          </p:nvPr>
        </p:nvSpPr>
        <p:spPr>
          <a:xfrm>
            <a:off x="628651" y="1998577"/>
            <a:ext cx="27411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7BFF"/>
              </a:buClr>
              <a:buSzPts val="1500"/>
              <a:buNone/>
              <a:defRPr sz="1500">
                <a:solidFill>
                  <a:srgbClr val="007BFF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98981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36870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sdia">
  <p:cSld name="Basisdia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8"/>
          <p:cNvSpPr txBox="1">
            <a:spLocks noGrp="1"/>
          </p:cNvSpPr>
          <p:nvPr>
            <p:ph type="title"/>
          </p:nvPr>
        </p:nvSpPr>
        <p:spPr>
          <a:xfrm>
            <a:off x="628650" y="832899"/>
            <a:ext cx="2741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3000"/>
              <a:buFont typeface="Bebas Neue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body" idx="1"/>
          </p:nvPr>
        </p:nvSpPr>
        <p:spPr>
          <a:xfrm>
            <a:off x="628651" y="1998578"/>
            <a:ext cx="27411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7BFF"/>
              </a:buClr>
              <a:buSzPts val="1500"/>
              <a:buNone/>
              <a:defRPr sz="1500">
                <a:solidFill>
                  <a:srgbClr val="007BFF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body" idx="2"/>
          </p:nvPr>
        </p:nvSpPr>
        <p:spPr>
          <a:xfrm>
            <a:off x="3855721" y="661391"/>
            <a:ext cx="4659600" cy="38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0" name="Google Shape;20;p28"/>
          <p:cNvCxnSpPr/>
          <p:nvPr/>
        </p:nvCxnSpPr>
        <p:spPr>
          <a:xfrm>
            <a:off x="628650" y="661391"/>
            <a:ext cx="2741100" cy="0"/>
          </a:xfrm>
          <a:prstGeom prst="straightConnector1">
            <a:avLst/>
          </a:prstGeom>
          <a:noFill/>
          <a:ln w="50800" cap="flat" cmpd="sng">
            <a:solidFill>
              <a:srgbClr val="007BF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1120871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20489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40561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33738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52688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30312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50809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09705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37069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85853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03902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gindia">
  <p:cSld name="Begindia">
    <p:bg>
      <p:bgPr>
        <a:solidFill>
          <a:srgbClr val="333333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57834" y="1390718"/>
            <a:ext cx="1817090" cy="2448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46152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gindia_wit">
  <p:cSld name="Begindia_wit"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7934" y="1378913"/>
            <a:ext cx="1908130" cy="25829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4920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dia">
  <p:cSld name="Inhouddia">
    <p:bg>
      <p:bgPr>
        <a:solidFill>
          <a:srgbClr val="33333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1"/>
          <p:cNvSpPr txBox="1">
            <a:spLocks noGrp="1"/>
          </p:cNvSpPr>
          <p:nvPr>
            <p:ph type="subTitle" idx="1"/>
          </p:nvPr>
        </p:nvSpPr>
        <p:spPr>
          <a:xfrm>
            <a:off x="3855720" y="1367989"/>
            <a:ext cx="4659600" cy="24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Mono"/>
              <a:buAutoNum type="arabicPeriod"/>
              <a:defRPr sz="15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  <p:sp>
        <p:nvSpPr>
          <p:cNvPr id="67" name="Google Shape;67;p41"/>
          <p:cNvSpPr txBox="1">
            <a:spLocks noGrp="1"/>
          </p:cNvSpPr>
          <p:nvPr>
            <p:ph type="title"/>
          </p:nvPr>
        </p:nvSpPr>
        <p:spPr>
          <a:xfrm>
            <a:off x="628650" y="913274"/>
            <a:ext cx="2304600" cy="8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FBA9"/>
              </a:buClr>
              <a:buSzPts val="6200"/>
              <a:buFont typeface="Bebas Neue"/>
              <a:buNone/>
              <a:defRPr sz="6200">
                <a:solidFill>
                  <a:srgbClr val="54FB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8" name="Google Shape;68;p41"/>
          <p:cNvCxnSpPr/>
          <p:nvPr/>
        </p:nvCxnSpPr>
        <p:spPr>
          <a:xfrm>
            <a:off x="628650" y="661391"/>
            <a:ext cx="2741100" cy="0"/>
          </a:xfrm>
          <a:prstGeom prst="straightConnector1">
            <a:avLst/>
          </a:prstGeom>
          <a:noFill/>
          <a:ln w="50800" cap="flat" cmpd="sng">
            <a:solidFill>
              <a:srgbClr val="54FBA9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8125590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 met afbeelding achtergrond">
  <p:cSld name="Dia met afbeelding achtergrond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2"/>
          <p:cNvSpPr txBox="1">
            <a:spLocks noGrp="1"/>
          </p:cNvSpPr>
          <p:nvPr>
            <p:ph type="body" idx="1"/>
          </p:nvPr>
        </p:nvSpPr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  <p:cxnSp>
        <p:nvCxnSpPr>
          <p:cNvPr id="74" name="Google Shape;74;p42"/>
          <p:cNvCxnSpPr/>
          <p:nvPr/>
        </p:nvCxnSpPr>
        <p:spPr>
          <a:xfrm>
            <a:off x="631410" y="690559"/>
            <a:ext cx="2741100" cy="0"/>
          </a:xfrm>
          <a:prstGeom prst="straightConnector1">
            <a:avLst/>
          </a:prstGeom>
          <a:noFill/>
          <a:ln w="50800" cap="flat" cmpd="sng">
            <a:solidFill>
              <a:srgbClr val="54FBA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5" name="Google Shape;75;p42"/>
          <p:cNvSpPr txBox="1">
            <a:spLocks noGrp="1"/>
          </p:cNvSpPr>
          <p:nvPr>
            <p:ph type="title"/>
          </p:nvPr>
        </p:nvSpPr>
        <p:spPr>
          <a:xfrm>
            <a:off x="628650" y="832899"/>
            <a:ext cx="2741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FBA9"/>
              </a:buClr>
              <a:buSzPts val="3000"/>
              <a:buFont typeface="Bebas Neue"/>
              <a:buNone/>
              <a:defRPr sz="3000">
                <a:solidFill>
                  <a:srgbClr val="54FB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body" idx="2"/>
          </p:nvPr>
        </p:nvSpPr>
        <p:spPr>
          <a:xfrm>
            <a:off x="628651" y="1998578"/>
            <a:ext cx="2741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54FBA9"/>
              </a:buClr>
              <a:buSzPts val="1500"/>
              <a:buNone/>
              <a:defRPr sz="1500">
                <a:solidFill>
                  <a:srgbClr val="54FBA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72139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Data">
  <p:cSld name="Big Data">
    <p:bg>
      <p:bgPr>
        <a:solidFill>
          <a:srgbClr val="333333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43"/>
          <p:cNvCxnSpPr/>
          <p:nvPr/>
        </p:nvCxnSpPr>
        <p:spPr>
          <a:xfrm>
            <a:off x="5886450" y="1280519"/>
            <a:ext cx="2299500" cy="0"/>
          </a:xfrm>
          <a:prstGeom prst="straightConnector1">
            <a:avLst/>
          </a:prstGeom>
          <a:noFill/>
          <a:ln w="50800" cap="flat" cmpd="sng">
            <a:solidFill>
              <a:srgbClr val="54FBA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9" name="Google Shape;79;p43"/>
          <p:cNvSpPr txBox="1">
            <a:spLocks noGrp="1"/>
          </p:cNvSpPr>
          <p:nvPr>
            <p:ph type="title"/>
          </p:nvPr>
        </p:nvSpPr>
        <p:spPr>
          <a:xfrm>
            <a:off x="5886450" y="1418927"/>
            <a:ext cx="2299500" cy="26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FBA9"/>
              </a:buClr>
              <a:buSzPts val="3000"/>
              <a:buFont typeface="Bebas Neue"/>
              <a:buNone/>
              <a:defRPr sz="3000">
                <a:solidFill>
                  <a:srgbClr val="54FB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/>
          <p:nvPr/>
        </p:nvSpPr>
        <p:spPr>
          <a:xfrm>
            <a:off x="2714838" y="1321934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3"/>
          <p:cNvSpPr/>
          <p:nvPr/>
        </p:nvSpPr>
        <p:spPr>
          <a:xfrm>
            <a:off x="3222407" y="1321934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3"/>
          <p:cNvSpPr/>
          <p:nvPr/>
        </p:nvSpPr>
        <p:spPr>
          <a:xfrm>
            <a:off x="3729977" y="1321934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3"/>
          <p:cNvSpPr/>
          <p:nvPr/>
        </p:nvSpPr>
        <p:spPr>
          <a:xfrm>
            <a:off x="2714838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3"/>
          <p:cNvSpPr/>
          <p:nvPr/>
        </p:nvSpPr>
        <p:spPr>
          <a:xfrm>
            <a:off x="3222407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3"/>
          <p:cNvSpPr/>
          <p:nvPr/>
        </p:nvSpPr>
        <p:spPr>
          <a:xfrm>
            <a:off x="3729977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3"/>
          <p:cNvSpPr/>
          <p:nvPr/>
        </p:nvSpPr>
        <p:spPr>
          <a:xfrm>
            <a:off x="2714838" y="236419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3"/>
          <p:cNvSpPr/>
          <p:nvPr/>
        </p:nvSpPr>
        <p:spPr>
          <a:xfrm>
            <a:off x="3222407" y="235741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3"/>
          <p:cNvSpPr/>
          <p:nvPr/>
        </p:nvSpPr>
        <p:spPr>
          <a:xfrm>
            <a:off x="3729977" y="235741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3"/>
          <p:cNvSpPr/>
          <p:nvPr/>
        </p:nvSpPr>
        <p:spPr>
          <a:xfrm>
            <a:off x="2714838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3"/>
          <p:cNvSpPr/>
          <p:nvPr/>
        </p:nvSpPr>
        <p:spPr>
          <a:xfrm>
            <a:off x="3222407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3"/>
          <p:cNvSpPr/>
          <p:nvPr/>
        </p:nvSpPr>
        <p:spPr>
          <a:xfrm>
            <a:off x="3739661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3"/>
          <p:cNvSpPr/>
          <p:nvPr/>
        </p:nvSpPr>
        <p:spPr>
          <a:xfrm>
            <a:off x="2714838" y="340645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3"/>
          <p:cNvSpPr/>
          <p:nvPr/>
        </p:nvSpPr>
        <p:spPr>
          <a:xfrm>
            <a:off x="3222406" y="3429698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3"/>
          <p:cNvSpPr/>
          <p:nvPr/>
        </p:nvSpPr>
        <p:spPr>
          <a:xfrm>
            <a:off x="3739661" y="3399670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3"/>
          <p:cNvSpPr/>
          <p:nvPr/>
        </p:nvSpPr>
        <p:spPr>
          <a:xfrm>
            <a:off x="1192130" y="1321934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3"/>
          <p:cNvSpPr/>
          <p:nvPr/>
        </p:nvSpPr>
        <p:spPr>
          <a:xfrm>
            <a:off x="1699699" y="132193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3"/>
          <p:cNvSpPr/>
          <p:nvPr/>
        </p:nvSpPr>
        <p:spPr>
          <a:xfrm>
            <a:off x="2207268" y="132193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3"/>
          <p:cNvSpPr/>
          <p:nvPr/>
        </p:nvSpPr>
        <p:spPr>
          <a:xfrm>
            <a:off x="1192130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3"/>
          <p:cNvSpPr/>
          <p:nvPr/>
        </p:nvSpPr>
        <p:spPr>
          <a:xfrm>
            <a:off x="1699699" y="184306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3"/>
          <p:cNvSpPr/>
          <p:nvPr/>
        </p:nvSpPr>
        <p:spPr>
          <a:xfrm>
            <a:off x="2207268" y="184306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3"/>
          <p:cNvSpPr/>
          <p:nvPr/>
        </p:nvSpPr>
        <p:spPr>
          <a:xfrm>
            <a:off x="1192130" y="236419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3"/>
          <p:cNvSpPr/>
          <p:nvPr/>
        </p:nvSpPr>
        <p:spPr>
          <a:xfrm>
            <a:off x="1699698" y="235741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3"/>
          <p:cNvSpPr/>
          <p:nvPr/>
        </p:nvSpPr>
        <p:spPr>
          <a:xfrm>
            <a:off x="2207268" y="2357410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3"/>
          <p:cNvSpPr/>
          <p:nvPr/>
        </p:nvSpPr>
        <p:spPr>
          <a:xfrm>
            <a:off x="1192874" y="3399669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17415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dable">
  <p:cSld name="Findable">
    <p:bg>
      <p:bgPr>
        <a:solidFill>
          <a:srgbClr val="333333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p44"/>
          <p:cNvCxnSpPr/>
          <p:nvPr/>
        </p:nvCxnSpPr>
        <p:spPr>
          <a:xfrm>
            <a:off x="5886450" y="1280519"/>
            <a:ext cx="2299500" cy="0"/>
          </a:xfrm>
          <a:prstGeom prst="straightConnector1">
            <a:avLst/>
          </a:prstGeom>
          <a:noFill/>
          <a:ln w="50800" cap="flat" cmpd="sng">
            <a:solidFill>
              <a:srgbClr val="54FBA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" name="Google Shape;107;p44"/>
          <p:cNvSpPr txBox="1">
            <a:spLocks noGrp="1"/>
          </p:cNvSpPr>
          <p:nvPr>
            <p:ph type="title"/>
          </p:nvPr>
        </p:nvSpPr>
        <p:spPr>
          <a:xfrm>
            <a:off x="5886450" y="1418927"/>
            <a:ext cx="2299500" cy="26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FBA9"/>
              </a:buClr>
              <a:buSzPts val="3000"/>
              <a:buFont typeface="Bebas Neue"/>
              <a:buNone/>
              <a:defRPr sz="3000">
                <a:solidFill>
                  <a:srgbClr val="54FB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4"/>
          <p:cNvSpPr/>
          <p:nvPr/>
        </p:nvSpPr>
        <p:spPr>
          <a:xfrm>
            <a:off x="1172761" y="1321934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4"/>
          <p:cNvSpPr/>
          <p:nvPr/>
        </p:nvSpPr>
        <p:spPr>
          <a:xfrm>
            <a:off x="1680330" y="1321934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4"/>
          <p:cNvSpPr/>
          <p:nvPr/>
        </p:nvSpPr>
        <p:spPr>
          <a:xfrm>
            <a:off x="2187899" y="1321934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4"/>
          <p:cNvSpPr/>
          <p:nvPr/>
        </p:nvSpPr>
        <p:spPr>
          <a:xfrm>
            <a:off x="1172761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4"/>
          <p:cNvSpPr/>
          <p:nvPr/>
        </p:nvSpPr>
        <p:spPr>
          <a:xfrm>
            <a:off x="1680330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4"/>
          <p:cNvSpPr/>
          <p:nvPr/>
        </p:nvSpPr>
        <p:spPr>
          <a:xfrm>
            <a:off x="1172761" y="236419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4"/>
          <p:cNvSpPr/>
          <p:nvPr/>
        </p:nvSpPr>
        <p:spPr>
          <a:xfrm>
            <a:off x="1680329" y="235741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4"/>
          <p:cNvSpPr/>
          <p:nvPr/>
        </p:nvSpPr>
        <p:spPr>
          <a:xfrm>
            <a:off x="1172761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4"/>
          <p:cNvSpPr/>
          <p:nvPr/>
        </p:nvSpPr>
        <p:spPr>
          <a:xfrm>
            <a:off x="1680329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4"/>
          <p:cNvSpPr/>
          <p:nvPr/>
        </p:nvSpPr>
        <p:spPr>
          <a:xfrm>
            <a:off x="2197584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4"/>
          <p:cNvSpPr/>
          <p:nvPr/>
        </p:nvSpPr>
        <p:spPr>
          <a:xfrm>
            <a:off x="1172761" y="3406451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4"/>
          <p:cNvSpPr/>
          <p:nvPr/>
        </p:nvSpPr>
        <p:spPr>
          <a:xfrm>
            <a:off x="1680329" y="341990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4"/>
          <p:cNvSpPr/>
          <p:nvPr/>
        </p:nvSpPr>
        <p:spPr>
          <a:xfrm>
            <a:off x="2197584" y="342110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4"/>
          <p:cNvSpPr/>
          <p:nvPr/>
        </p:nvSpPr>
        <p:spPr>
          <a:xfrm>
            <a:off x="2714838" y="1321934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4"/>
          <p:cNvSpPr/>
          <p:nvPr/>
        </p:nvSpPr>
        <p:spPr>
          <a:xfrm>
            <a:off x="3222407" y="1321934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4"/>
          <p:cNvSpPr/>
          <p:nvPr/>
        </p:nvSpPr>
        <p:spPr>
          <a:xfrm>
            <a:off x="3729977" y="1321934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4"/>
          <p:cNvSpPr/>
          <p:nvPr/>
        </p:nvSpPr>
        <p:spPr>
          <a:xfrm>
            <a:off x="2714838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4"/>
          <p:cNvSpPr/>
          <p:nvPr/>
        </p:nvSpPr>
        <p:spPr>
          <a:xfrm>
            <a:off x="3222407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4"/>
          <p:cNvSpPr/>
          <p:nvPr/>
        </p:nvSpPr>
        <p:spPr>
          <a:xfrm>
            <a:off x="3729977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4"/>
          <p:cNvSpPr/>
          <p:nvPr/>
        </p:nvSpPr>
        <p:spPr>
          <a:xfrm>
            <a:off x="2714838" y="236419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4"/>
          <p:cNvSpPr/>
          <p:nvPr/>
        </p:nvSpPr>
        <p:spPr>
          <a:xfrm>
            <a:off x="3222407" y="235741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4"/>
          <p:cNvSpPr/>
          <p:nvPr/>
        </p:nvSpPr>
        <p:spPr>
          <a:xfrm>
            <a:off x="3729977" y="235741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4"/>
          <p:cNvSpPr/>
          <p:nvPr/>
        </p:nvSpPr>
        <p:spPr>
          <a:xfrm>
            <a:off x="2714838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4"/>
          <p:cNvSpPr/>
          <p:nvPr/>
        </p:nvSpPr>
        <p:spPr>
          <a:xfrm>
            <a:off x="3222407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4"/>
          <p:cNvSpPr/>
          <p:nvPr/>
        </p:nvSpPr>
        <p:spPr>
          <a:xfrm>
            <a:off x="3739661" y="2885322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4"/>
          <p:cNvSpPr/>
          <p:nvPr/>
        </p:nvSpPr>
        <p:spPr>
          <a:xfrm>
            <a:off x="2714838" y="342788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4"/>
          <p:cNvSpPr/>
          <p:nvPr/>
        </p:nvSpPr>
        <p:spPr>
          <a:xfrm>
            <a:off x="3222406" y="3422078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4"/>
          <p:cNvSpPr/>
          <p:nvPr/>
        </p:nvSpPr>
        <p:spPr>
          <a:xfrm>
            <a:off x="3739661" y="342110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4"/>
          <p:cNvSpPr/>
          <p:nvPr/>
        </p:nvSpPr>
        <p:spPr>
          <a:xfrm>
            <a:off x="2197584" y="185771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4"/>
          <p:cNvSpPr/>
          <p:nvPr/>
        </p:nvSpPr>
        <p:spPr>
          <a:xfrm>
            <a:off x="2200196" y="2360785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27854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eldia">
  <p:cSld name="Tabeldia">
    <p:bg>
      <p:bgPr>
        <a:solidFill>
          <a:srgbClr val="333333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5"/>
          <p:cNvSpPr txBox="1">
            <a:spLocks noGrp="1"/>
          </p:cNvSpPr>
          <p:nvPr>
            <p:ph type="body" idx="1"/>
          </p:nvPr>
        </p:nvSpPr>
        <p:spPr>
          <a:xfrm>
            <a:off x="3849329" y="661391"/>
            <a:ext cx="4665900" cy="38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4FBA9"/>
              </a:buClr>
              <a:buSzPts val="1200"/>
              <a:buChar char="●"/>
              <a:defRPr sz="1200">
                <a:solidFill>
                  <a:srgbClr val="54FBA9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4FBA9"/>
              </a:buClr>
              <a:buSzPts val="1200"/>
              <a:buChar char="○"/>
              <a:defRPr sz="1200">
                <a:solidFill>
                  <a:srgbClr val="54FBA9"/>
                </a:solidFill>
              </a:defRPr>
            </a:lvl2pPr>
            <a:lvl3pPr marL="1371600" lvl="2" indent="-30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4FBA9"/>
              </a:buClr>
              <a:buSzPts val="1200"/>
              <a:buChar char="■"/>
              <a:defRPr sz="1200">
                <a:solidFill>
                  <a:srgbClr val="54FBA9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4FBA9"/>
              </a:buClr>
              <a:buSzPts val="1200"/>
              <a:buChar char="●"/>
              <a:defRPr sz="1200">
                <a:solidFill>
                  <a:srgbClr val="54FBA9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4FBA9"/>
              </a:buClr>
              <a:buSzPts val="1200"/>
              <a:buChar char="○"/>
              <a:defRPr sz="1200">
                <a:solidFill>
                  <a:srgbClr val="54FBA9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  <p:sp>
        <p:nvSpPr>
          <p:cNvPr id="143" name="Google Shape;143;p45"/>
          <p:cNvSpPr txBox="1">
            <a:spLocks noGrp="1"/>
          </p:cNvSpPr>
          <p:nvPr>
            <p:ph type="title"/>
          </p:nvPr>
        </p:nvSpPr>
        <p:spPr>
          <a:xfrm>
            <a:off x="628650" y="832899"/>
            <a:ext cx="27411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FBA9"/>
              </a:buClr>
              <a:buSzPts val="3000"/>
              <a:buFont typeface="Bebas Neue"/>
              <a:buNone/>
              <a:defRPr sz="3000">
                <a:solidFill>
                  <a:srgbClr val="54FB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5"/>
          <p:cNvSpPr txBox="1">
            <a:spLocks noGrp="1"/>
          </p:cNvSpPr>
          <p:nvPr>
            <p:ph type="body" idx="2"/>
          </p:nvPr>
        </p:nvSpPr>
        <p:spPr>
          <a:xfrm>
            <a:off x="628650" y="1484562"/>
            <a:ext cx="2741100" cy="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54FBA9"/>
              </a:buClr>
              <a:buSzPts val="1500"/>
              <a:buNone/>
              <a:defRPr sz="1500">
                <a:solidFill>
                  <a:srgbClr val="54FBA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cxnSp>
        <p:nvCxnSpPr>
          <p:cNvPr id="145" name="Google Shape;145;p45"/>
          <p:cNvCxnSpPr/>
          <p:nvPr/>
        </p:nvCxnSpPr>
        <p:spPr>
          <a:xfrm>
            <a:off x="628650" y="661391"/>
            <a:ext cx="2741100" cy="0"/>
          </a:xfrm>
          <a:prstGeom prst="straightConnector1">
            <a:avLst/>
          </a:prstGeom>
          <a:noFill/>
          <a:ln w="50800" cap="flat" cmpd="sng">
            <a:solidFill>
              <a:srgbClr val="54FBA9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984568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ccessible">
  <p:cSld name="Accessible">
    <p:bg>
      <p:bgPr>
        <a:solidFill>
          <a:srgbClr val="333333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" name="Google Shape;147;p46"/>
          <p:cNvCxnSpPr/>
          <p:nvPr/>
        </p:nvCxnSpPr>
        <p:spPr>
          <a:xfrm>
            <a:off x="5886450" y="1280519"/>
            <a:ext cx="2299500" cy="0"/>
          </a:xfrm>
          <a:prstGeom prst="straightConnector1">
            <a:avLst/>
          </a:prstGeom>
          <a:noFill/>
          <a:ln w="50800" cap="flat" cmpd="sng">
            <a:solidFill>
              <a:srgbClr val="54FBA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8" name="Google Shape;148;p46"/>
          <p:cNvSpPr txBox="1">
            <a:spLocks noGrp="1"/>
          </p:cNvSpPr>
          <p:nvPr>
            <p:ph type="title"/>
          </p:nvPr>
        </p:nvSpPr>
        <p:spPr>
          <a:xfrm>
            <a:off x="5886450" y="1418927"/>
            <a:ext cx="2299500" cy="26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FBA9"/>
              </a:buClr>
              <a:buSzPts val="3000"/>
              <a:buFont typeface="Bebas Neue"/>
              <a:buNone/>
              <a:defRPr sz="3000">
                <a:solidFill>
                  <a:srgbClr val="54FB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46"/>
          <p:cNvSpPr/>
          <p:nvPr/>
        </p:nvSpPr>
        <p:spPr>
          <a:xfrm>
            <a:off x="2714838" y="1321934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6"/>
          <p:cNvSpPr/>
          <p:nvPr/>
        </p:nvSpPr>
        <p:spPr>
          <a:xfrm>
            <a:off x="3222407" y="1321934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6"/>
          <p:cNvSpPr/>
          <p:nvPr/>
        </p:nvSpPr>
        <p:spPr>
          <a:xfrm>
            <a:off x="3729977" y="1321934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6"/>
          <p:cNvSpPr/>
          <p:nvPr/>
        </p:nvSpPr>
        <p:spPr>
          <a:xfrm>
            <a:off x="2714838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6"/>
          <p:cNvSpPr/>
          <p:nvPr/>
        </p:nvSpPr>
        <p:spPr>
          <a:xfrm>
            <a:off x="3222407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6"/>
          <p:cNvSpPr/>
          <p:nvPr/>
        </p:nvSpPr>
        <p:spPr>
          <a:xfrm>
            <a:off x="3729977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6"/>
          <p:cNvSpPr/>
          <p:nvPr/>
        </p:nvSpPr>
        <p:spPr>
          <a:xfrm>
            <a:off x="2714838" y="236419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6"/>
          <p:cNvSpPr/>
          <p:nvPr/>
        </p:nvSpPr>
        <p:spPr>
          <a:xfrm>
            <a:off x="3222407" y="235741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6"/>
          <p:cNvSpPr/>
          <p:nvPr/>
        </p:nvSpPr>
        <p:spPr>
          <a:xfrm>
            <a:off x="3729977" y="235741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6"/>
          <p:cNvSpPr/>
          <p:nvPr/>
        </p:nvSpPr>
        <p:spPr>
          <a:xfrm>
            <a:off x="2714838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6"/>
          <p:cNvSpPr/>
          <p:nvPr/>
        </p:nvSpPr>
        <p:spPr>
          <a:xfrm>
            <a:off x="3222407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6"/>
          <p:cNvSpPr/>
          <p:nvPr/>
        </p:nvSpPr>
        <p:spPr>
          <a:xfrm>
            <a:off x="3739661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6"/>
          <p:cNvSpPr/>
          <p:nvPr/>
        </p:nvSpPr>
        <p:spPr>
          <a:xfrm>
            <a:off x="2705151" y="3389837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6"/>
          <p:cNvSpPr/>
          <p:nvPr/>
        </p:nvSpPr>
        <p:spPr>
          <a:xfrm>
            <a:off x="3222406" y="3399670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6"/>
          <p:cNvSpPr/>
          <p:nvPr/>
        </p:nvSpPr>
        <p:spPr>
          <a:xfrm>
            <a:off x="3739661" y="3399670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6"/>
          <p:cNvSpPr/>
          <p:nvPr/>
        </p:nvSpPr>
        <p:spPr>
          <a:xfrm>
            <a:off x="1182445" y="131210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6"/>
          <p:cNvSpPr/>
          <p:nvPr/>
        </p:nvSpPr>
        <p:spPr>
          <a:xfrm>
            <a:off x="1690014" y="131210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6"/>
          <p:cNvSpPr/>
          <p:nvPr/>
        </p:nvSpPr>
        <p:spPr>
          <a:xfrm>
            <a:off x="1182445" y="183323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6"/>
          <p:cNvSpPr/>
          <p:nvPr/>
        </p:nvSpPr>
        <p:spPr>
          <a:xfrm>
            <a:off x="1690014" y="1833230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6"/>
          <p:cNvSpPr/>
          <p:nvPr/>
        </p:nvSpPr>
        <p:spPr>
          <a:xfrm>
            <a:off x="1182445" y="2354360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6"/>
          <p:cNvSpPr/>
          <p:nvPr/>
        </p:nvSpPr>
        <p:spPr>
          <a:xfrm>
            <a:off x="1690013" y="2347579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6"/>
          <p:cNvSpPr/>
          <p:nvPr/>
        </p:nvSpPr>
        <p:spPr>
          <a:xfrm>
            <a:off x="1182445" y="2875490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6"/>
          <p:cNvSpPr/>
          <p:nvPr/>
        </p:nvSpPr>
        <p:spPr>
          <a:xfrm>
            <a:off x="1690013" y="2875490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6"/>
          <p:cNvSpPr/>
          <p:nvPr/>
        </p:nvSpPr>
        <p:spPr>
          <a:xfrm>
            <a:off x="2207268" y="2875490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6"/>
          <p:cNvSpPr/>
          <p:nvPr/>
        </p:nvSpPr>
        <p:spPr>
          <a:xfrm>
            <a:off x="1172758" y="3380005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6"/>
          <p:cNvSpPr/>
          <p:nvPr/>
        </p:nvSpPr>
        <p:spPr>
          <a:xfrm>
            <a:off x="1690013" y="3389837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6"/>
          <p:cNvSpPr/>
          <p:nvPr/>
        </p:nvSpPr>
        <p:spPr>
          <a:xfrm>
            <a:off x="2207267" y="3389837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84186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e alinea's">
  <p:cSld name="Twee alinea's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7"/>
          <p:cNvSpPr txBox="1">
            <a:spLocks noGrp="1"/>
          </p:cNvSpPr>
          <p:nvPr>
            <p:ph type="body" idx="1"/>
          </p:nvPr>
        </p:nvSpPr>
        <p:spPr>
          <a:xfrm>
            <a:off x="628650" y="2992582"/>
            <a:ext cx="3497100" cy="16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1pPr>
            <a:lvl2pPr marL="914400" lvl="1" indent="-3238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/>
            </a:lvl2pPr>
            <a:lvl3pPr marL="1371600" lvl="2" indent="-3238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/>
            </a:lvl3pPr>
            <a:lvl4pPr marL="1828800" lvl="3" indent="-3238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8" name="Google Shape;178;p4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  <p:cxnSp>
        <p:nvCxnSpPr>
          <p:cNvPr id="181" name="Google Shape;181;p47"/>
          <p:cNvCxnSpPr/>
          <p:nvPr/>
        </p:nvCxnSpPr>
        <p:spPr>
          <a:xfrm>
            <a:off x="628650" y="661391"/>
            <a:ext cx="2741100" cy="0"/>
          </a:xfrm>
          <a:prstGeom prst="straightConnector1">
            <a:avLst/>
          </a:prstGeom>
          <a:noFill/>
          <a:ln w="50800" cap="flat" cmpd="sng">
            <a:solidFill>
              <a:srgbClr val="007B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2" name="Google Shape;182;p47"/>
          <p:cNvSpPr txBox="1">
            <a:spLocks noGrp="1"/>
          </p:cNvSpPr>
          <p:nvPr>
            <p:ph type="title"/>
          </p:nvPr>
        </p:nvSpPr>
        <p:spPr>
          <a:xfrm>
            <a:off x="628650" y="832899"/>
            <a:ext cx="2741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3000"/>
              <a:buFont typeface="Bebas Neue"/>
              <a:buNone/>
              <a:defRPr sz="3000">
                <a:solidFill>
                  <a:srgbClr val="007B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47"/>
          <p:cNvSpPr txBox="1">
            <a:spLocks noGrp="1"/>
          </p:cNvSpPr>
          <p:nvPr>
            <p:ph type="body" idx="2"/>
          </p:nvPr>
        </p:nvSpPr>
        <p:spPr>
          <a:xfrm>
            <a:off x="628651" y="1998578"/>
            <a:ext cx="27411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7BFF"/>
              </a:buClr>
              <a:buSzPts val="1500"/>
              <a:buNone/>
              <a:defRPr sz="1500">
                <a:solidFill>
                  <a:srgbClr val="007BFF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84" name="Google Shape;184;p47"/>
          <p:cNvSpPr txBox="1">
            <a:spLocks noGrp="1"/>
          </p:cNvSpPr>
          <p:nvPr>
            <p:ph type="body" idx="3"/>
          </p:nvPr>
        </p:nvSpPr>
        <p:spPr>
          <a:xfrm>
            <a:off x="5018314" y="2992582"/>
            <a:ext cx="3497100" cy="16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1pPr>
            <a:lvl2pPr marL="914400" lvl="1" indent="-32385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/>
            </a:lvl2pPr>
            <a:lvl3pPr marL="1371600" lvl="2" indent="-32385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/>
            </a:lvl3pPr>
            <a:lvl4pPr marL="1828800" lvl="3" indent="-32385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marL="2286000" lvl="4" indent="-32385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74192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operable">
  <p:cSld name="Interoperable">
    <p:bg>
      <p:bgPr>
        <a:solidFill>
          <a:srgbClr val="333333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48"/>
          <p:cNvCxnSpPr/>
          <p:nvPr/>
        </p:nvCxnSpPr>
        <p:spPr>
          <a:xfrm>
            <a:off x="5886450" y="1280519"/>
            <a:ext cx="2299500" cy="0"/>
          </a:xfrm>
          <a:prstGeom prst="straightConnector1">
            <a:avLst/>
          </a:prstGeom>
          <a:noFill/>
          <a:ln w="50800" cap="flat" cmpd="sng">
            <a:solidFill>
              <a:srgbClr val="54FBA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7" name="Google Shape;187;p48"/>
          <p:cNvSpPr txBox="1">
            <a:spLocks noGrp="1"/>
          </p:cNvSpPr>
          <p:nvPr>
            <p:ph type="title"/>
          </p:nvPr>
        </p:nvSpPr>
        <p:spPr>
          <a:xfrm>
            <a:off x="5886450" y="1418927"/>
            <a:ext cx="2299500" cy="26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FBA9"/>
              </a:buClr>
              <a:buSzPts val="3000"/>
              <a:buFont typeface="Bebas Neue"/>
              <a:buNone/>
              <a:defRPr sz="3000">
                <a:solidFill>
                  <a:srgbClr val="54FB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48"/>
          <p:cNvSpPr/>
          <p:nvPr/>
        </p:nvSpPr>
        <p:spPr>
          <a:xfrm>
            <a:off x="1172761" y="1321934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8"/>
          <p:cNvSpPr/>
          <p:nvPr/>
        </p:nvSpPr>
        <p:spPr>
          <a:xfrm>
            <a:off x="1680330" y="1321934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8"/>
          <p:cNvSpPr/>
          <p:nvPr/>
        </p:nvSpPr>
        <p:spPr>
          <a:xfrm>
            <a:off x="2187899" y="1321934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8"/>
          <p:cNvSpPr/>
          <p:nvPr/>
        </p:nvSpPr>
        <p:spPr>
          <a:xfrm>
            <a:off x="1172761" y="1843063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8"/>
          <p:cNvSpPr/>
          <p:nvPr/>
        </p:nvSpPr>
        <p:spPr>
          <a:xfrm>
            <a:off x="1680330" y="1843063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8"/>
          <p:cNvSpPr/>
          <p:nvPr/>
        </p:nvSpPr>
        <p:spPr>
          <a:xfrm>
            <a:off x="2187899" y="1843063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8"/>
          <p:cNvSpPr/>
          <p:nvPr/>
        </p:nvSpPr>
        <p:spPr>
          <a:xfrm>
            <a:off x="1172761" y="2364193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8"/>
          <p:cNvSpPr/>
          <p:nvPr/>
        </p:nvSpPr>
        <p:spPr>
          <a:xfrm>
            <a:off x="1680329" y="2357411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8"/>
          <p:cNvSpPr/>
          <p:nvPr/>
        </p:nvSpPr>
        <p:spPr>
          <a:xfrm>
            <a:off x="2187899" y="2357411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8"/>
          <p:cNvSpPr/>
          <p:nvPr/>
        </p:nvSpPr>
        <p:spPr>
          <a:xfrm>
            <a:off x="1172761" y="2885322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8"/>
          <p:cNvSpPr/>
          <p:nvPr/>
        </p:nvSpPr>
        <p:spPr>
          <a:xfrm>
            <a:off x="1680329" y="2885322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8"/>
          <p:cNvSpPr/>
          <p:nvPr/>
        </p:nvSpPr>
        <p:spPr>
          <a:xfrm>
            <a:off x="2197584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8"/>
          <p:cNvSpPr/>
          <p:nvPr/>
        </p:nvSpPr>
        <p:spPr>
          <a:xfrm>
            <a:off x="1172761" y="3406451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8"/>
          <p:cNvSpPr/>
          <p:nvPr/>
        </p:nvSpPr>
        <p:spPr>
          <a:xfrm>
            <a:off x="1680329" y="341990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8"/>
          <p:cNvSpPr/>
          <p:nvPr/>
        </p:nvSpPr>
        <p:spPr>
          <a:xfrm>
            <a:off x="2197584" y="342110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8"/>
          <p:cNvSpPr/>
          <p:nvPr/>
        </p:nvSpPr>
        <p:spPr>
          <a:xfrm>
            <a:off x="2714838" y="1321934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8"/>
          <p:cNvSpPr/>
          <p:nvPr/>
        </p:nvSpPr>
        <p:spPr>
          <a:xfrm>
            <a:off x="3222407" y="1321934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8"/>
          <p:cNvSpPr/>
          <p:nvPr/>
        </p:nvSpPr>
        <p:spPr>
          <a:xfrm>
            <a:off x="3729977" y="1321934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8"/>
          <p:cNvSpPr/>
          <p:nvPr/>
        </p:nvSpPr>
        <p:spPr>
          <a:xfrm>
            <a:off x="2714838" y="1843063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8"/>
          <p:cNvSpPr/>
          <p:nvPr/>
        </p:nvSpPr>
        <p:spPr>
          <a:xfrm>
            <a:off x="3222407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8"/>
          <p:cNvSpPr/>
          <p:nvPr/>
        </p:nvSpPr>
        <p:spPr>
          <a:xfrm>
            <a:off x="3729977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8"/>
          <p:cNvSpPr/>
          <p:nvPr/>
        </p:nvSpPr>
        <p:spPr>
          <a:xfrm>
            <a:off x="2714838" y="236419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8"/>
          <p:cNvSpPr/>
          <p:nvPr/>
        </p:nvSpPr>
        <p:spPr>
          <a:xfrm>
            <a:off x="3222407" y="235741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8"/>
          <p:cNvSpPr/>
          <p:nvPr/>
        </p:nvSpPr>
        <p:spPr>
          <a:xfrm>
            <a:off x="3729977" y="235741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8"/>
          <p:cNvSpPr/>
          <p:nvPr/>
        </p:nvSpPr>
        <p:spPr>
          <a:xfrm>
            <a:off x="2714838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8"/>
          <p:cNvSpPr/>
          <p:nvPr/>
        </p:nvSpPr>
        <p:spPr>
          <a:xfrm>
            <a:off x="3222407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8"/>
          <p:cNvSpPr/>
          <p:nvPr/>
        </p:nvSpPr>
        <p:spPr>
          <a:xfrm>
            <a:off x="3739661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8"/>
          <p:cNvSpPr/>
          <p:nvPr/>
        </p:nvSpPr>
        <p:spPr>
          <a:xfrm>
            <a:off x="2714838" y="342788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8"/>
          <p:cNvSpPr/>
          <p:nvPr/>
        </p:nvSpPr>
        <p:spPr>
          <a:xfrm>
            <a:off x="3222406" y="3422078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8"/>
          <p:cNvSpPr/>
          <p:nvPr/>
        </p:nvSpPr>
        <p:spPr>
          <a:xfrm>
            <a:off x="3739661" y="342110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22633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fbeelding met bijschrift">
  <p:cSld name="Afbeelding met bijschrif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9"/>
          <p:cNvSpPr>
            <a:spLocks noGrp="1"/>
          </p:cNvSpPr>
          <p:nvPr>
            <p:ph type="pic" idx="2"/>
          </p:nvPr>
        </p:nvSpPr>
        <p:spPr>
          <a:xfrm>
            <a:off x="3887391" y="832899"/>
            <a:ext cx="4629300" cy="35628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4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4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" name="Google Shape;222;p4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  <p:cxnSp>
        <p:nvCxnSpPr>
          <p:cNvPr id="223" name="Google Shape;223;p49"/>
          <p:cNvCxnSpPr/>
          <p:nvPr/>
        </p:nvCxnSpPr>
        <p:spPr>
          <a:xfrm>
            <a:off x="628650" y="661391"/>
            <a:ext cx="2741100" cy="0"/>
          </a:xfrm>
          <a:prstGeom prst="straightConnector1">
            <a:avLst/>
          </a:prstGeom>
          <a:noFill/>
          <a:ln w="50800" cap="flat" cmpd="sng">
            <a:solidFill>
              <a:srgbClr val="007B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4" name="Google Shape;224;p49"/>
          <p:cNvSpPr txBox="1">
            <a:spLocks noGrp="1"/>
          </p:cNvSpPr>
          <p:nvPr>
            <p:ph type="title"/>
          </p:nvPr>
        </p:nvSpPr>
        <p:spPr>
          <a:xfrm>
            <a:off x="628650" y="832899"/>
            <a:ext cx="2741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3000"/>
              <a:buFont typeface="Bebas Neue"/>
              <a:buNone/>
              <a:defRPr sz="3000">
                <a:solidFill>
                  <a:srgbClr val="007B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9"/>
          <p:cNvSpPr txBox="1">
            <a:spLocks noGrp="1"/>
          </p:cNvSpPr>
          <p:nvPr>
            <p:ph type="body" idx="1"/>
          </p:nvPr>
        </p:nvSpPr>
        <p:spPr>
          <a:xfrm>
            <a:off x="628651" y="1998578"/>
            <a:ext cx="27411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7BFF"/>
              </a:buClr>
              <a:buSzPts val="1500"/>
              <a:buNone/>
              <a:defRPr sz="1500">
                <a:solidFill>
                  <a:srgbClr val="007BFF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72262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useable">
  <p:cSld name="Reuseable">
    <p:bg>
      <p:bgPr>
        <a:solidFill>
          <a:srgbClr val="333333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Google Shape;227;p50"/>
          <p:cNvCxnSpPr/>
          <p:nvPr/>
        </p:nvCxnSpPr>
        <p:spPr>
          <a:xfrm>
            <a:off x="5886450" y="1280519"/>
            <a:ext cx="2299500" cy="0"/>
          </a:xfrm>
          <a:prstGeom prst="straightConnector1">
            <a:avLst/>
          </a:prstGeom>
          <a:noFill/>
          <a:ln w="50800" cap="flat" cmpd="sng">
            <a:solidFill>
              <a:srgbClr val="54FBA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8" name="Google Shape;228;p50"/>
          <p:cNvSpPr txBox="1">
            <a:spLocks noGrp="1"/>
          </p:cNvSpPr>
          <p:nvPr>
            <p:ph type="title"/>
          </p:nvPr>
        </p:nvSpPr>
        <p:spPr>
          <a:xfrm>
            <a:off x="5886450" y="1418927"/>
            <a:ext cx="2299500" cy="26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FBA9"/>
              </a:buClr>
              <a:buSzPts val="3000"/>
              <a:buFont typeface="Bebas Neue"/>
              <a:buNone/>
              <a:defRPr sz="3000">
                <a:solidFill>
                  <a:srgbClr val="54FB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50"/>
          <p:cNvSpPr/>
          <p:nvPr/>
        </p:nvSpPr>
        <p:spPr>
          <a:xfrm>
            <a:off x="1172761" y="1321934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0"/>
          <p:cNvSpPr/>
          <p:nvPr/>
        </p:nvSpPr>
        <p:spPr>
          <a:xfrm>
            <a:off x="1680330" y="1321934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0"/>
          <p:cNvSpPr/>
          <p:nvPr/>
        </p:nvSpPr>
        <p:spPr>
          <a:xfrm>
            <a:off x="2187899" y="1321934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0"/>
          <p:cNvSpPr/>
          <p:nvPr/>
        </p:nvSpPr>
        <p:spPr>
          <a:xfrm>
            <a:off x="1172761" y="1843063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0"/>
          <p:cNvSpPr/>
          <p:nvPr/>
        </p:nvSpPr>
        <p:spPr>
          <a:xfrm>
            <a:off x="1680330" y="1843063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0"/>
          <p:cNvSpPr/>
          <p:nvPr/>
        </p:nvSpPr>
        <p:spPr>
          <a:xfrm>
            <a:off x="2187899" y="1843063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0"/>
          <p:cNvSpPr/>
          <p:nvPr/>
        </p:nvSpPr>
        <p:spPr>
          <a:xfrm>
            <a:off x="1172761" y="2364193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0"/>
          <p:cNvSpPr/>
          <p:nvPr/>
        </p:nvSpPr>
        <p:spPr>
          <a:xfrm>
            <a:off x="1680329" y="2357411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0"/>
          <p:cNvSpPr/>
          <p:nvPr/>
        </p:nvSpPr>
        <p:spPr>
          <a:xfrm>
            <a:off x="2187899" y="2357411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0"/>
          <p:cNvSpPr/>
          <p:nvPr/>
        </p:nvSpPr>
        <p:spPr>
          <a:xfrm>
            <a:off x="1172761" y="2885322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0"/>
          <p:cNvSpPr/>
          <p:nvPr/>
        </p:nvSpPr>
        <p:spPr>
          <a:xfrm>
            <a:off x="1680329" y="2885322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0"/>
          <p:cNvSpPr/>
          <p:nvPr/>
        </p:nvSpPr>
        <p:spPr>
          <a:xfrm>
            <a:off x="2197584" y="2885322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0"/>
          <p:cNvSpPr/>
          <p:nvPr/>
        </p:nvSpPr>
        <p:spPr>
          <a:xfrm>
            <a:off x="2714838" y="1321934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0"/>
          <p:cNvSpPr/>
          <p:nvPr/>
        </p:nvSpPr>
        <p:spPr>
          <a:xfrm>
            <a:off x="3222407" y="1321934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0"/>
          <p:cNvSpPr/>
          <p:nvPr/>
        </p:nvSpPr>
        <p:spPr>
          <a:xfrm>
            <a:off x="3729977" y="1321934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0"/>
          <p:cNvSpPr/>
          <p:nvPr/>
        </p:nvSpPr>
        <p:spPr>
          <a:xfrm>
            <a:off x="2714838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0"/>
          <p:cNvSpPr/>
          <p:nvPr/>
        </p:nvSpPr>
        <p:spPr>
          <a:xfrm>
            <a:off x="3222407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0"/>
          <p:cNvSpPr/>
          <p:nvPr/>
        </p:nvSpPr>
        <p:spPr>
          <a:xfrm>
            <a:off x="3729977" y="184306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0"/>
          <p:cNvSpPr/>
          <p:nvPr/>
        </p:nvSpPr>
        <p:spPr>
          <a:xfrm>
            <a:off x="2714838" y="2364193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0"/>
          <p:cNvSpPr/>
          <p:nvPr/>
        </p:nvSpPr>
        <p:spPr>
          <a:xfrm>
            <a:off x="3222407" y="235741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0"/>
          <p:cNvSpPr/>
          <p:nvPr/>
        </p:nvSpPr>
        <p:spPr>
          <a:xfrm>
            <a:off x="3729977" y="2357411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0"/>
          <p:cNvSpPr/>
          <p:nvPr/>
        </p:nvSpPr>
        <p:spPr>
          <a:xfrm>
            <a:off x="2714838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0"/>
          <p:cNvSpPr/>
          <p:nvPr/>
        </p:nvSpPr>
        <p:spPr>
          <a:xfrm>
            <a:off x="3222407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0"/>
          <p:cNvSpPr/>
          <p:nvPr/>
        </p:nvSpPr>
        <p:spPr>
          <a:xfrm>
            <a:off x="3739661" y="2885322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0"/>
          <p:cNvSpPr/>
          <p:nvPr/>
        </p:nvSpPr>
        <p:spPr>
          <a:xfrm>
            <a:off x="1182446" y="3392888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0"/>
          <p:cNvSpPr/>
          <p:nvPr/>
        </p:nvSpPr>
        <p:spPr>
          <a:xfrm>
            <a:off x="1690015" y="3392888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0"/>
          <p:cNvSpPr/>
          <p:nvPr/>
        </p:nvSpPr>
        <p:spPr>
          <a:xfrm>
            <a:off x="2197584" y="3392888"/>
            <a:ext cx="348900" cy="348900"/>
          </a:xfrm>
          <a:prstGeom prst="ellipse">
            <a:avLst/>
          </a:prstGeom>
          <a:solidFill>
            <a:srgbClr val="54FBA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0"/>
          <p:cNvSpPr/>
          <p:nvPr/>
        </p:nvSpPr>
        <p:spPr>
          <a:xfrm>
            <a:off x="2724523" y="3392888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0"/>
          <p:cNvSpPr/>
          <p:nvPr/>
        </p:nvSpPr>
        <p:spPr>
          <a:xfrm>
            <a:off x="3232092" y="3392888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0"/>
          <p:cNvSpPr/>
          <p:nvPr/>
        </p:nvSpPr>
        <p:spPr>
          <a:xfrm>
            <a:off x="3739661" y="3392888"/>
            <a:ext cx="348900" cy="3489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5966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ners/sponsoren dia">
  <p:cSld name="Partners/sponsoren dia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51" descr="ttp://bbmri.nl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4849" y="1710651"/>
            <a:ext cx="1612447" cy="125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51" descr="ttp://bbmri-eric.eu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849" y="3109190"/>
            <a:ext cx="1612446" cy="477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51" descr="ttp://geneticsgroningen.n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849" y="3963451"/>
            <a:ext cx="1698171" cy="8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51" descr="ttp://rd-connect.eu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45331" y="1521639"/>
            <a:ext cx="1827983" cy="468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51" descr="ttp://lifelines.net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60777" y="3085824"/>
            <a:ext cx="1385481" cy="514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51" descr="ttp://ctmm-trait.n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42842" y="3963451"/>
            <a:ext cx="1203415" cy="698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51" descr="ttp://bioshare.eu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40686" y="1338296"/>
            <a:ext cx="1205439" cy="765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51" descr="ttp://biomedbridges.eu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896040" y="2332806"/>
            <a:ext cx="1675312" cy="357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51" descr="ttp://www.wageningenur.nl/en/Expertise-Services/Chair-groups/Plant-Sciences/Laboratory-of-Nematology/Pro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074920" y="4063067"/>
            <a:ext cx="1755391" cy="598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51" descr="ttp://www.tifn.nl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45524" y="2318798"/>
            <a:ext cx="978694" cy="292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51" descr="ttp://www.rug.nl/gbic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74920" y="2306149"/>
            <a:ext cx="1786450" cy="415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51" descr="ttp://www.energyacademy.org/research/energysense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450834" y="3307386"/>
            <a:ext cx="1244238" cy="13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1" descr="ttp://www.ercet.eu/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213496" y="1619639"/>
            <a:ext cx="1296862" cy="27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51" descr="ttp://dtls.nl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113048" y="3198357"/>
            <a:ext cx="1373198" cy="340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51" descr="ttp://www.nfu.nl/publicaties/data4lifesciences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647384" y="2232935"/>
            <a:ext cx="557213" cy="557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51" descr="ttp://www.erare.eu/financed-projects/insaid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486650" y="3947120"/>
            <a:ext cx="878681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51"/>
          <p:cNvSpPr txBox="1">
            <a:spLocks noGrp="1"/>
          </p:cNvSpPr>
          <p:nvPr>
            <p:ph type="title"/>
          </p:nvPr>
        </p:nvSpPr>
        <p:spPr>
          <a:xfrm>
            <a:off x="628649" y="832899"/>
            <a:ext cx="33774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3000"/>
              <a:buFont typeface="Bebas Neue"/>
              <a:buNone/>
              <a:defRPr sz="3000">
                <a:solidFill>
                  <a:srgbClr val="007B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277" name="Google Shape;277;p51"/>
          <p:cNvCxnSpPr/>
          <p:nvPr/>
        </p:nvCxnSpPr>
        <p:spPr>
          <a:xfrm>
            <a:off x="628650" y="661391"/>
            <a:ext cx="2741100" cy="0"/>
          </a:xfrm>
          <a:prstGeom prst="straightConnector1">
            <a:avLst/>
          </a:prstGeom>
          <a:noFill/>
          <a:ln w="50800" cap="flat" cmpd="sng">
            <a:solidFill>
              <a:srgbClr val="007BF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9867578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ragen dia">
  <p:cSld name="Vragen dia">
    <p:bg>
      <p:bgPr>
        <a:solidFill>
          <a:srgbClr val="333333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5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  <p:sp>
        <p:nvSpPr>
          <p:cNvPr id="282" name="Google Shape;282;p52"/>
          <p:cNvSpPr txBox="1">
            <a:spLocks noGrp="1"/>
          </p:cNvSpPr>
          <p:nvPr>
            <p:ph type="title"/>
          </p:nvPr>
        </p:nvSpPr>
        <p:spPr>
          <a:xfrm>
            <a:off x="628649" y="913274"/>
            <a:ext cx="4134000" cy="8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FBA9"/>
              </a:buClr>
              <a:buSzPts val="6200"/>
              <a:buFont typeface="Bebas Neue"/>
              <a:buNone/>
              <a:defRPr sz="6200">
                <a:solidFill>
                  <a:srgbClr val="54FB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283" name="Google Shape;283;p52"/>
          <p:cNvCxnSpPr/>
          <p:nvPr/>
        </p:nvCxnSpPr>
        <p:spPr>
          <a:xfrm>
            <a:off x="628650" y="661391"/>
            <a:ext cx="2741100" cy="0"/>
          </a:xfrm>
          <a:prstGeom prst="straightConnector1">
            <a:avLst/>
          </a:prstGeom>
          <a:noFill/>
          <a:ln w="50800" cap="flat" cmpd="sng">
            <a:solidFill>
              <a:srgbClr val="54FBA9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28729247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fsluitende dia">
  <p:cSld name="Afsluitende dia">
    <p:bg>
      <p:bgPr>
        <a:solidFill>
          <a:srgbClr val="333333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3"/>
          <p:cNvSpPr txBox="1">
            <a:spLocks noGrp="1"/>
          </p:cNvSpPr>
          <p:nvPr>
            <p:ph type="title"/>
          </p:nvPr>
        </p:nvSpPr>
        <p:spPr>
          <a:xfrm>
            <a:off x="628649" y="913274"/>
            <a:ext cx="2566800" cy="8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FBA9"/>
              </a:buClr>
              <a:buSzPts val="6200"/>
              <a:buFont typeface="Bebas Neue"/>
              <a:buNone/>
              <a:defRPr sz="6200">
                <a:solidFill>
                  <a:srgbClr val="54FB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53"/>
          <p:cNvSpPr txBox="1">
            <a:spLocks noGrp="1"/>
          </p:cNvSpPr>
          <p:nvPr>
            <p:ph type="subTitle" idx="1"/>
          </p:nvPr>
        </p:nvSpPr>
        <p:spPr>
          <a:xfrm>
            <a:off x="628649" y="2080614"/>
            <a:ext cx="4257600" cy="23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Mono"/>
              <a:buNone/>
              <a:defRPr sz="15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cxnSp>
        <p:nvCxnSpPr>
          <p:cNvPr id="287" name="Google Shape;287;p53"/>
          <p:cNvCxnSpPr/>
          <p:nvPr/>
        </p:nvCxnSpPr>
        <p:spPr>
          <a:xfrm>
            <a:off x="628650" y="661391"/>
            <a:ext cx="2741100" cy="0"/>
          </a:xfrm>
          <a:prstGeom prst="straightConnector1">
            <a:avLst/>
          </a:prstGeom>
          <a:noFill/>
          <a:ln w="50800" cap="flat" cmpd="sng">
            <a:solidFill>
              <a:srgbClr val="54FBA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88" name="Google Shape;288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27726" y="4254671"/>
            <a:ext cx="1225201" cy="443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6691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20.png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19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28" Type="http://schemas.openxmlformats.org/officeDocument/2006/relationships/theme" Target="../theme/theme3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7FFD"/>
              </a:buClr>
              <a:buSzPts val="3300"/>
              <a:buFont typeface="Bebas Neue"/>
              <a:buNone/>
              <a:defRPr sz="3300" b="1" i="0" u="none" strike="noStrike" cap="none">
                <a:solidFill>
                  <a:srgbClr val="017FFD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978811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2" name="Google Shape;67;p15">
            <a:extLst>
              <a:ext uri="{FF2B5EF4-FFF2-40B4-BE49-F238E27FC236}">
                <a16:creationId xmlns:a16="http://schemas.microsoft.com/office/drawing/2014/main" id="{C09E8E87-E3C2-42F6-D6E9-DD024492C9DA}"/>
              </a:ext>
            </a:extLst>
          </p:cNvPr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142972" y="4644441"/>
            <a:ext cx="804610" cy="379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8;p15">
            <a:extLst>
              <a:ext uri="{FF2B5EF4-FFF2-40B4-BE49-F238E27FC236}">
                <a16:creationId xmlns:a16="http://schemas.microsoft.com/office/drawing/2014/main" id="{B5D4226B-5503-4562-906D-45F155A33C4F}"/>
              </a:ext>
            </a:extLst>
          </p:cNvPr>
          <p:cNvPicPr preferRelativeResize="0"/>
          <p:nvPr userDrawn="1"/>
        </p:nvPicPr>
        <p:blipFill rotWithShape="1">
          <a:blip r:embed="rId18">
            <a:alphaModFix/>
          </a:blip>
          <a:srcRect t="77369"/>
          <a:stretch>
            <a:fillRect/>
          </a:stretch>
        </p:blipFill>
        <p:spPr>
          <a:xfrm>
            <a:off x="8465642" y="4774080"/>
            <a:ext cx="623987" cy="191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8;p15">
            <a:extLst>
              <a:ext uri="{FF2B5EF4-FFF2-40B4-BE49-F238E27FC236}">
                <a16:creationId xmlns:a16="http://schemas.microsoft.com/office/drawing/2014/main" id="{94B357FB-A39C-195E-9C29-BD9701DC05CE}"/>
              </a:ext>
            </a:extLst>
          </p:cNvPr>
          <p:cNvPicPr preferRelativeResize="0"/>
          <p:nvPr userDrawn="1"/>
        </p:nvPicPr>
        <p:blipFill rotWithShape="1">
          <a:blip r:embed="rId18">
            <a:alphaModFix/>
          </a:blip>
          <a:srcRect b="26728"/>
          <a:stretch>
            <a:fillRect/>
          </a:stretch>
        </p:blipFill>
        <p:spPr>
          <a:xfrm>
            <a:off x="8167283" y="4761626"/>
            <a:ext cx="264088" cy="26193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70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89" r:id="rId11"/>
    <p:sldLayoutId id="2147483886" r:id="rId12"/>
    <p:sldLayoutId id="2147483887" r:id="rId13"/>
    <p:sldLayoutId id="2147483888" r:id="rId14"/>
    <p:sldLayoutId id="2147483890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A9A79E8A-5741-53BF-3755-2FE9E91F5589}"/>
              </a:ext>
            </a:extLst>
          </p:cNvPr>
          <p:cNvSpPr/>
          <p:nvPr/>
        </p:nvSpPr>
        <p:spPr>
          <a:xfrm>
            <a:off x="39657" y="31711"/>
            <a:ext cx="9064690" cy="5080077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F4FBFE"/>
            </a:solidFill>
            <a:prstDash val="solid"/>
          </a:ln>
        </p:spPr>
        <p:txBody>
          <a:bodyPr vert="horz" wrap="square" lIns="45720" tIns="22860" rIns="45720" bIns="22860" anchor="ctr" anchorCtr="1" compatLnSpc="1">
            <a:noAutofit/>
          </a:bodyPr>
          <a:lstStyle/>
          <a:p>
            <a:pPr marL="0" marR="0" lvl="0" indent="0" algn="ctr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604627C-1A6F-6BA6-3BC1-A37AA5E197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0100" y="481943"/>
            <a:ext cx="6095998" cy="10287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57844EC-71B3-FD0A-CED1-40D3CF89F3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CA6FB13-3149-8725-4BC1-A1D75BAC20A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07506" y="4817599"/>
            <a:ext cx="205740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750" b="0" i="0" u="none" strike="noStrike" kern="1200" cap="none" spc="0" baseline="0">
                <a:solidFill>
                  <a:srgbClr val="404040"/>
                </a:solidFill>
                <a:uFillTx/>
                <a:latin typeface=""/>
              </a:defRPr>
            </a:lvl1pPr>
          </a:lstStyle>
          <a:p>
            <a:pPr lvl="0"/>
            <a:fld id="{7E25AD1B-9531-9840-A0F4-8B67FB12034A}" type="datetime1">
              <a:rPr lang="en-US"/>
              <a:pPr lvl="0"/>
              <a:t>5/19/26</a:t>
            </a:fld>
            <a:endParaRPr lang="en-US"/>
          </a:p>
        </p:txBody>
      </p:sp>
      <p:pic>
        <p:nvPicPr>
          <p:cNvPr id="6" name="Picture 2" descr="Eu Flag PNG, Vector, PSD, and Clipart With Transparent Background for Free  Download | Pngtree">
            <a:extLst>
              <a:ext uri="{FF2B5EF4-FFF2-40B4-BE49-F238E27FC236}">
                <a16:creationId xmlns:a16="http://schemas.microsoft.com/office/drawing/2014/main" id="{FA00DD7D-61E1-24AF-C8FE-F4593FE2490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7463900" y="4831552"/>
            <a:ext cx="360662" cy="1917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7C8D5CD3-5B58-32A6-337C-F48A29C05414}"/>
              </a:ext>
            </a:extLst>
          </p:cNvPr>
          <p:cNvSpPr txBox="1"/>
          <p:nvPr/>
        </p:nvSpPr>
        <p:spPr>
          <a:xfrm>
            <a:off x="7809239" y="4825193"/>
            <a:ext cx="1227259" cy="230832"/>
          </a:xfrm>
          <a:prstGeom prst="rect">
            <a:avLst/>
          </a:prstGeom>
          <a:solidFill>
            <a:srgbClr val="FFFFFF"/>
          </a:solidFill>
          <a:ln cap="flat">
            <a:noFill/>
          </a:ln>
        </p:spPr>
        <p:txBody>
          <a:bodyPr vert="horz" wrap="none" lIns="45720" tIns="22860" rIns="45720" bIns="22860" anchor="t" anchorCtr="0" compatLnSpc="1">
            <a:spAutoFit/>
          </a:bodyPr>
          <a:lstStyle/>
          <a:p>
            <a:pPr marL="0" marR="0" lvl="0" indent="0" algn="r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04685"/>
                </a:solidFill>
                <a:uFillTx/>
                <a:latin typeface=""/>
              </a:rPr>
              <a:t>Funded by The European Union</a:t>
            </a:r>
          </a:p>
          <a:p>
            <a:pPr marL="0" marR="0" lvl="0" indent="0" algn="r" defTabSz="2286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00000"/>
                </a:solidFill>
                <a:uFillTx/>
                <a:latin typeface=""/>
              </a:rPr>
              <a:t>Grant agreement No. 101131809</a:t>
            </a:r>
          </a:p>
        </p:txBody>
      </p:sp>
      <p:pic>
        <p:nvPicPr>
          <p:cNvPr id="8" name="Picture 5" descr="A close-up of a logo&#10;&#10;Description automatically generated">
            <a:extLst>
              <a:ext uri="{FF2B5EF4-FFF2-40B4-BE49-F238E27FC236}">
                <a16:creationId xmlns:a16="http://schemas.microsoft.com/office/drawing/2014/main" id="{2ABBF341-FF91-7183-4363-6BF812882FC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12260" y="15467"/>
            <a:ext cx="2192082" cy="631828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29113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txStyles>
    <p:titleStyle>
      <a:lvl1pPr marL="0" marR="0" lvl="0" indent="0" algn="l" defTabSz="6858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600" b="0" i="0" u="none" strike="noStrike" kern="1200" cap="none" spc="0" baseline="0">
          <a:solidFill>
            <a:srgbClr val="0089AD"/>
          </a:solidFill>
          <a:uFillTx/>
          <a:latin typeface="Myriad Pro" pitchFamily="34"/>
        </a:defRPr>
      </a:lvl1pPr>
    </p:titleStyle>
    <p:bodyStyle>
      <a:lvl1pPr marL="137160" marR="0" lvl="0" indent="-137160" algn="l" defTabSz="685800" rtl="0" fontAlgn="auto" hangingPunct="1">
        <a:lnSpc>
          <a:spcPct val="100000"/>
        </a:lnSpc>
        <a:spcBef>
          <a:spcPts val="675"/>
        </a:spcBef>
        <a:spcAft>
          <a:spcPts val="0"/>
        </a:spcAft>
        <a:buClr>
          <a:srgbClr val="0089AD"/>
        </a:buClr>
        <a:buSzPct val="100000"/>
        <a:buFont typeface="Garamond" pitchFamily="18"/>
        <a:buChar char="◦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"/>
        </a:defRPr>
      </a:lvl1pPr>
      <a:lvl2pPr marL="342900" marR="0" lvl="1" indent="-137160" algn="l" defTabSz="685800" rtl="0" fontAlgn="auto" hangingPunct="1">
        <a:lnSpc>
          <a:spcPct val="100000"/>
        </a:lnSpc>
        <a:spcBef>
          <a:spcPts val="375"/>
        </a:spcBef>
        <a:spcAft>
          <a:spcPts val="0"/>
        </a:spcAft>
        <a:buClr>
          <a:srgbClr val="0089AD"/>
        </a:buClr>
        <a:buSzPct val="100000"/>
        <a:buFont typeface="Garamond" pitchFamily="18"/>
        <a:buChar char="◦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"/>
        </a:defRPr>
      </a:lvl2pPr>
      <a:lvl3pPr marL="548640" marR="0" lvl="2" indent="-137160" algn="l" defTabSz="685800" rtl="0" fontAlgn="auto" hangingPunct="1">
        <a:lnSpc>
          <a:spcPct val="100000"/>
        </a:lnSpc>
        <a:spcBef>
          <a:spcPts val="375"/>
        </a:spcBef>
        <a:spcAft>
          <a:spcPts val="0"/>
        </a:spcAft>
        <a:buClr>
          <a:srgbClr val="0089AD"/>
        </a:buClr>
        <a:buSzPct val="100000"/>
        <a:buFont typeface="Garamond" pitchFamily="18"/>
        <a:buChar char="◦"/>
        <a:tabLst/>
        <a:defRPr lang="en-US" sz="1600" b="0" i="0" u="none" strike="noStrike" kern="1200" cap="none" spc="0" baseline="0">
          <a:solidFill>
            <a:srgbClr val="000000"/>
          </a:solidFill>
          <a:uFillTx/>
          <a:latin typeface=""/>
        </a:defRPr>
      </a:lvl3pPr>
      <a:lvl4pPr marL="754380" marR="0" lvl="3" indent="-137160" algn="l" defTabSz="685800" rtl="0" fontAlgn="auto" hangingPunct="1">
        <a:lnSpc>
          <a:spcPct val="100000"/>
        </a:lnSpc>
        <a:spcBef>
          <a:spcPts val="375"/>
        </a:spcBef>
        <a:spcAft>
          <a:spcPts val="0"/>
        </a:spcAft>
        <a:buClr>
          <a:srgbClr val="0089AD"/>
        </a:buClr>
        <a:buSzPct val="100000"/>
        <a:buFont typeface="Garamond" pitchFamily="18"/>
        <a:buChar char="◦"/>
        <a:tabLst/>
        <a:defRPr lang="en-US" sz="1600" b="0" i="0" u="none" strike="noStrike" kern="1200" cap="none" spc="0" baseline="0">
          <a:solidFill>
            <a:srgbClr val="000000"/>
          </a:solidFill>
          <a:uFillTx/>
          <a:latin typeface=""/>
        </a:defRPr>
      </a:lvl4pPr>
      <a:lvl5pPr marL="960120" marR="0" lvl="4" indent="-137160" algn="l" defTabSz="685800" rtl="0" fontAlgn="auto" hangingPunct="1">
        <a:lnSpc>
          <a:spcPct val="100000"/>
        </a:lnSpc>
        <a:spcBef>
          <a:spcPts val="375"/>
        </a:spcBef>
        <a:spcAft>
          <a:spcPts val="0"/>
        </a:spcAft>
        <a:buClr>
          <a:srgbClr val="0089AD"/>
        </a:buClr>
        <a:buSzPct val="100000"/>
        <a:buFont typeface="Garamond" pitchFamily="18"/>
        <a:buChar char="◦"/>
        <a:tabLst/>
        <a:defRPr lang="en-US" sz="1600" b="0" i="0" u="none" strike="noStrike" kern="1200" cap="none" spc="0" baseline="0">
          <a:solidFill>
            <a:srgbClr val="000000"/>
          </a:solidFill>
          <a:uFillTx/>
          <a:latin typeface="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63279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  <p:sldLayoutId id="2147483916" r:id="rId12"/>
    <p:sldLayoutId id="2147483917" r:id="rId13"/>
    <p:sldLayoutId id="2147483918" r:id="rId14"/>
    <p:sldLayoutId id="2147483919" r:id="rId15"/>
    <p:sldLayoutId id="2147483920" r:id="rId16"/>
    <p:sldLayoutId id="2147483921" r:id="rId17"/>
    <p:sldLayoutId id="2147483922" r:id="rId18"/>
    <p:sldLayoutId id="2147483923" r:id="rId19"/>
    <p:sldLayoutId id="2147483924" r:id="rId20"/>
    <p:sldLayoutId id="2147483925" r:id="rId21"/>
    <p:sldLayoutId id="2147483926" r:id="rId22"/>
    <p:sldLayoutId id="2147483927" r:id="rId23"/>
    <p:sldLayoutId id="2147483928" r:id="rId24"/>
    <p:sldLayoutId id="2147483929" r:id="rId25"/>
    <p:sldLayoutId id="2147483930" r:id="rId26"/>
    <p:sldLayoutId id="2147483931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hyperlink" Target="mailto:m.a.swertz@umcg.n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umcgresearchdatacatalogue.nl/" TargetMode="External"/><Relationship Id="rId4" Type="http://schemas.openxmlformats.org/officeDocument/2006/relationships/hyperlink" Target="https://directory.bbmri-eric.eu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molgeniscatalogue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olgeniscatalogue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0.sv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png"/><Relationship Id="rId5" Type="http://schemas.openxmlformats.org/officeDocument/2006/relationships/image" Target="../media/image52.png"/><Relationship Id="rId10" Type="http://schemas.openxmlformats.org/officeDocument/2006/relationships/image" Target="../media/image38.png"/><Relationship Id="rId4" Type="http://schemas.openxmlformats.org/officeDocument/2006/relationships/image" Target="../media/image51.svg"/><Relationship Id="rId9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6.png"/><Relationship Id="rId5" Type="http://schemas.openxmlformats.org/officeDocument/2006/relationships/image" Target="../media/image54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hyperlink" Target="https://wiki.datashield.org/en/opmanag/disclosure-control" TargetMode="External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59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sv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2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1" name="Google Shape;2851;p2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2" name="Google Shape;2852;p251"/>
          <p:cNvSpPr txBox="1">
            <a:spLocks noGrp="1"/>
          </p:cNvSpPr>
          <p:nvPr>
            <p:ph type="ctrTitle"/>
          </p:nvPr>
        </p:nvSpPr>
        <p:spPr>
          <a:xfrm>
            <a:off x="351875" y="1632525"/>
            <a:ext cx="8455200" cy="1293000"/>
          </a:xfrm>
          <a:prstGeom prst="rect">
            <a:avLst/>
          </a:prstGeom>
          <a:solidFill>
            <a:srgbClr val="027FF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 dirty="0">
                <a:solidFill>
                  <a:schemeClr val="lt1"/>
                </a:solidFill>
              </a:rPr>
              <a:t>From Data Discovery to Federated Analysis</a:t>
            </a:r>
            <a:endParaRPr sz="3400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 dirty="0">
                <a:solidFill>
                  <a:schemeClr val="lt1"/>
                </a:solidFill>
              </a:rPr>
              <a:t>Supporting the Research Journey</a:t>
            </a:r>
            <a:endParaRPr sz="3400" dirty="0">
              <a:solidFill>
                <a:schemeClr val="lt1"/>
              </a:solidFill>
            </a:endParaRPr>
          </a:p>
        </p:txBody>
      </p:sp>
      <p:sp>
        <p:nvSpPr>
          <p:cNvPr id="2854" name="Google Shape;2854;p251"/>
          <p:cNvSpPr txBox="1">
            <a:spLocks noGrp="1"/>
          </p:cNvSpPr>
          <p:nvPr>
            <p:ph type="subTitle" idx="1"/>
          </p:nvPr>
        </p:nvSpPr>
        <p:spPr>
          <a:xfrm>
            <a:off x="351876" y="3103913"/>
            <a:ext cx="8455200" cy="19304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>
              <a:lnSpc>
                <a:spcPct val="124000"/>
              </a:lnSpc>
              <a:spcBef>
                <a:spcPts val="0"/>
              </a:spcBef>
            </a:pPr>
            <a:r>
              <a:rPr lang="en-GB" sz="1700" dirty="0">
                <a:solidFill>
                  <a:srgbClr val="12454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Bella Anna Binoy, Tim Cadman, Andreas Türk, Kurt </a:t>
            </a:r>
            <a:r>
              <a:rPr lang="en-GB" sz="1700" dirty="0" err="1">
                <a:solidFill>
                  <a:srgbClr val="12454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Macjen</a:t>
            </a:r>
            <a:r>
              <a:rPr lang="en-GB" sz="1700" dirty="0">
                <a:solidFill>
                  <a:srgbClr val="12454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, Brenda </a:t>
            </a:r>
            <a:r>
              <a:rPr lang="en-GB" sz="1700" dirty="0" err="1">
                <a:solidFill>
                  <a:srgbClr val="12454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Hijmans</a:t>
            </a:r>
            <a:r>
              <a:rPr lang="en-GB" sz="1700" dirty="0">
                <a:solidFill>
                  <a:srgbClr val="12454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, Hessel Haagsma, MOLGENIS catalogue &amp; armadillo teams, BBMRI-ERIC collaborators, </a:t>
            </a:r>
            <a:r>
              <a:rPr lang="en-GB" sz="1700" dirty="0" err="1">
                <a:solidFill>
                  <a:srgbClr val="12454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Gerieke</a:t>
            </a:r>
            <a:r>
              <a:rPr lang="en-GB" sz="1700" dirty="0">
                <a:solidFill>
                  <a:srgbClr val="12454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Been, Eleanor Hyde, </a:t>
            </a:r>
            <a:r>
              <a:rPr lang="en-GB" sz="1700" u="sng" dirty="0">
                <a:solidFill>
                  <a:srgbClr val="12454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Morris Swertz</a:t>
            </a:r>
            <a:endParaRPr lang="en" sz="1700" u="sng" dirty="0">
              <a:solidFill>
                <a:srgbClr val="12454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>
              <a:lnSpc>
                <a:spcPct val="124000"/>
              </a:lnSpc>
              <a:spcBef>
                <a:spcPts val="0"/>
              </a:spcBef>
            </a:pPr>
            <a:r>
              <a:rPr lang="en" sz="1700" dirty="0">
                <a:solidFill>
                  <a:srgbClr val="12454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(MOLGENIS · UMC Groningen · BBMRI-ERIC)</a:t>
            </a:r>
            <a:endParaRPr sz="1700" i="1" dirty="0">
              <a:solidFill>
                <a:srgbClr val="12454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24000"/>
              </a:lnSpc>
              <a:spcBef>
                <a:spcPts val="0"/>
              </a:spcBef>
              <a:spcAft>
                <a:spcPts val="1300"/>
              </a:spcAft>
              <a:buSzPts val="1500"/>
              <a:buNone/>
            </a:pPr>
            <a:r>
              <a:rPr lang="en" sz="1700" i="1" u="sng" dirty="0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m.a.swertz</a:t>
            </a:r>
            <a:r>
              <a:rPr lang="en" sz="1700" i="1" dirty="0">
                <a:solidFill>
                  <a:srgbClr val="12454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@umcg.nl</a:t>
            </a:r>
            <a:r>
              <a:rPr lang="en" sz="1700" i="1" dirty="0">
                <a:solidFill>
                  <a:srgbClr val="12454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 ·   European Biobank Week 2026</a:t>
            </a:r>
            <a:endParaRPr sz="1700" i="1" dirty="0">
              <a:solidFill>
                <a:srgbClr val="12454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53" name="Google Shape;2853;p25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9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5" name="Google Shape;2855;p2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74300" y="235050"/>
            <a:ext cx="758775" cy="102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6" name="Google Shape;2856;p251"/>
          <p:cNvSpPr/>
          <p:nvPr/>
        </p:nvSpPr>
        <p:spPr>
          <a:xfrm>
            <a:off x="134075" y="235050"/>
            <a:ext cx="1702800" cy="969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857" name="Google Shape;2857;p2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6300" y="269150"/>
            <a:ext cx="1559244" cy="83160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78DECB79-F64D-240F-4117-8FF51A189018}"/>
              </a:ext>
            </a:extLst>
          </p:cNvPr>
          <p:cNvSpPr/>
          <p:nvPr/>
        </p:nvSpPr>
        <p:spPr>
          <a:xfrm>
            <a:off x="2557571" y="1379395"/>
            <a:ext cx="4278657" cy="301433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27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333C21-745B-AC48-66FC-489C5D914417}"/>
              </a:ext>
            </a:extLst>
          </p:cNvPr>
          <p:cNvSpPr txBox="1"/>
          <p:nvPr/>
        </p:nvSpPr>
        <p:spPr>
          <a:xfrm>
            <a:off x="3561376" y="2371170"/>
            <a:ext cx="2120630" cy="910506"/>
          </a:xfrm>
          <a:prstGeom prst="rect">
            <a:avLst/>
          </a:prstGeom>
          <a:noFill/>
        </p:spPr>
        <p:txBody>
          <a:bodyPr wrap="square" lIns="95250" tIns="38100" rIns="95250" bIns="38100" anchor="ctr">
            <a:spAutoFit/>
          </a:bodyPr>
          <a:lstStyle/>
          <a:p>
            <a:pPr algn="ctr"/>
            <a:r>
              <a:rPr sz="1600" b="1" i="1" dirty="0">
                <a:solidFill>
                  <a:srgbClr val="027FFE"/>
                </a:solidFill>
              </a:rPr>
              <a:t>Data infrastructure</a:t>
            </a:r>
            <a:r>
              <a:rPr lang="en-US" sz="1600" b="1" i="1" dirty="0">
                <a:solidFill>
                  <a:srgbClr val="027FFE"/>
                </a:solidFill>
              </a:rPr>
              <a:t>s</a:t>
            </a:r>
            <a:endParaRPr sz="1600" b="1" i="1" dirty="0">
              <a:solidFill>
                <a:srgbClr val="027FFE"/>
              </a:solidFill>
            </a:endParaRPr>
          </a:p>
          <a:p>
            <a:pPr algn="ctr">
              <a:spcBef>
                <a:spcPts val="450"/>
              </a:spcBef>
            </a:pPr>
            <a:r>
              <a:rPr sz="900" i="1" dirty="0">
                <a:solidFill>
                  <a:srgbClr val="027FFE"/>
                </a:solidFill>
              </a:rPr>
              <a:t>implement and operate </a:t>
            </a:r>
            <a:r>
              <a:rPr lang="en-US" sz="900" i="1" dirty="0">
                <a:solidFill>
                  <a:srgbClr val="027FFE"/>
                </a:solidFill>
              </a:rPr>
              <a:t>supporting</a:t>
            </a:r>
            <a:r>
              <a:rPr sz="900" i="1" dirty="0">
                <a:solidFill>
                  <a:srgbClr val="027FFE"/>
                </a:solidFill>
              </a:rPr>
              <a:t> data fabric</a:t>
            </a:r>
          </a:p>
        </p:txBody>
      </p:sp>
      <p:sp>
        <p:nvSpPr>
          <p:cNvPr id="3130" name="Google Shape;3130;p260"/>
          <p:cNvSpPr txBox="1">
            <a:spLocks noGrp="1"/>
          </p:cNvSpPr>
          <p:nvPr>
            <p:ph type="title"/>
          </p:nvPr>
        </p:nvSpPr>
        <p:spPr>
          <a:xfrm>
            <a:off x="628650" y="832900"/>
            <a:ext cx="790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dirty="0"/>
              <a:t>the researchers </a:t>
            </a:r>
            <a:br>
              <a:rPr lang="en-US" dirty="0"/>
            </a:br>
            <a:r>
              <a:rPr lang="en-US" dirty="0"/>
              <a:t>JOURNEY</a:t>
            </a:r>
            <a:endParaRPr lang="e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9DC26F5-8013-2FFB-3241-25313FA13D2E}"/>
              </a:ext>
            </a:extLst>
          </p:cNvPr>
          <p:cNvGrpSpPr/>
          <p:nvPr/>
        </p:nvGrpSpPr>
        <p:grpSpPr>
          <a:xfrm>
            <a:off x="291194" y="2278380"/>
            <a:ext cx="3165992" cy="960120"/>
            <a:chOff x="411480" y="1920240"/>
            <a:chExt cx="3246120" cy="128016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61C18302-5C43-916B-FCA0-90079867CB89}"/>
                </a:ext>
              </a:extLst>
            </p:cNvPr>
            <p:cNvSpPr/>
            <p:nvPr/>
          </p:nvSpPr>
          <p:spPr>
            <a:xfrm>
              <a:off x="411480" y="1920240"/>
              <a:ext cx="3246120" cy="1280160"/>
            </a:xfrm>
            <a:prstGeom prst="roundRect">
              <a:avLst>
                <a:gd name="adj" fmla="val 14000"/>
              </a:avLst>
            </a:prstGeom>
            <a:solidFill>
              <a:srgbClr val="EAF2FF"/>
            </a:solidFill>
            <a:ln w="12700">
              <a:solidFill>
                <a:srgbClr val="CFE0F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1EFD45A-3547-2161-6AD5-918562986F45}"/>
                </a:ext>
              </a:extLst>
            </p:cNvPr>
            <p:cNvSpPr txBox="1"/>
            <p:nvPr/>
          </p:nvSpPr>
          <p:spPr>
            <a:xfrm>
              <a:off x="612649" y="2029968"/>
              <a:ext cx="2935225" cy="673689"/>
            </a:xfrm>
            <a:prstGeom prst="rect">
              <a:avLst/>
            </a:prstGeom>
            <a:noFill/>
          </p:spPr>
          <p:txBody>
            <a:bodyPr wrap="square" lIns="19050" tIns="19050" rIns="19050" bIns="19050">
              <a:spAutoFit/>
            </a:bodyPr>
            <a:lstStyle/>
            <a:p>
              <a:pPr>
                <a:spcAft>
                  <a:spcPts val="150"/>
                </a:spcAft>
              </a:pPr>
              <a:r>
                <a:rPr lang="en-US" sz="1600" b="1" dirty="0">
                  <a:solidFill>
                    <a:srgbClr val="017FFD"/>
                  </a:solidFill>
                </a:rPr>
                <a:t>A c</a:t>
              </a:r>
              <a:r>
                <a:rPr sz="1600" b="1" dirty="0">
                  <a:solidFill>
                    <a:srgbClr val="017FFD"/>
                  </a:solidFill>
                </a:rPr>
                <a:t>ollection custodian</a:t>
              </a:r>
            </a:p>
            <a:p>
              <a:pPr>
                <a:spcBef>
                  <a:spcPts val="150"/>
                </a:spcBef>
              </a:pPr>
              <a:r>
                <a:rPr sz="1100" dirty="0">
                  <a:solidFill>
                    <a:srgbClr val="333333"/>
                  </a:solidFill>
                </a:rPr>
                <a:t>one group hosting its own collection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178598A-BD5F-530E-A35E-BC14FFAE8C25}"/>
              </a:ext>
            </a:extLst>
          </p:cNvPr>
          <p:cNvGrpSpPr/>
          <p:nvPr/>
        </p:nvGrpSpPr>
        <p:grpSpPr>
          <a:xfrm>
            <a:off x="3082376" y="916534"/>
            <a:ext cx="3165992" cy="960120"/>
            <a:chOff x="4069080" y="1920240"/>
            <a:chExt cx="3246120" cy="128016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61A2A6DC-7EFA-B021-C7CF-25834D88D563}"/>
                </a:ext>
              </a:extLst>
            </p:cNvPr>
            <p:cNvSpPr/>
            <p:nvPr/>
          </p:nvSpPr>
          <p:spPr>
            <a:xfrm>
              <a:off x="4069080" y="1920240"/>
              <a:ext cx="3246120" cy="1280160"/>
            </a:xfrm>
            <a:prstGeom prst="roundRect">
              <a:avLst>
                <a:gd name="adj" fmla="val 14000"/>
              </a:avLst>
            </a:prstGeom>
            <a:solidFill>
              <a:srgbClr val="EAF2FF"/>
            </a:solidFill>
            <a:ln w="12700">
              <a:solidFill>
                <a:srgbClr val="CFE0F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2A52FE-95C8-C693-C3CD-6EF3DE7051CC}"/>
                </a:ext>
              </a:extLst>
            </p:cNvPr>
            <p:cNvSpPr txBox="1"/>
            <p:nvPr/>
          </p:nvSpPr>
          <p:spPr>
            <a:xfrm>
              <a:off x="4270249" y="2029968"/>
              <a:ext cx="2935225" cy="1001984"/>
            </a:xfrm>
            <a:prstGeom prst="rect">
              <a:avLst/>
            </a:prstGeom>
            <a:noFill/>
          </p:spPr>
          <p:txBody>
            <a:bodyPr wrap="square" lIns="19050" tIns="19050" rIns="19050" bIns="19050">
              <a:spAutoFit/>
            </a:bodyPr>
            <a:lstStyle/>
            <a:p>
              <a:pPr>
                <a:spcAft>
                  <a:spcPts val="150"/>
                </a:spcAft>
              </a:pPr>
              <a:r>
                <a:rPr sz="1600" b="1" dirty="0">
                  <a:solidFill>
                    <a:srgbClr val="017FFD"/>
                  </a:solidFill>
                </a:rPr>
                <a:t>Data-seeking researcher</a:t>
              </a:r>
            </a:p>
            <a:p>
              <a:pPr>
                <a:spcBef>
                  <a:spcPts val="150"/>
                </a:spcBef>
              </a:pPr>
              <a:r>
                <a:rPr sz="1100" dirty="0">
                  <a:solidFill>
                    <a:srgbClr val="333333"/>
                  </a:solidFill>
                </a:rPr>
                <a:t>needs data on a particular topic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C02906-B92E-DFDA-6F98-B49F1C28B597}"/>
              </a:ext>
            </a:extLst>
          </p:cNvPr>
          <p:cNvGrpSpPr/>
          <p:nvPr/>
        </p:nvGrpSpPr>
        <p:grpSpPr>
          <a:xfrm>
            <a:off x="1142684" y="3757036"/>
            <a:ext cx="3165992" cy="1028709"/>
            <a:chOff x="411480" y="5440680"/>
            <a:chExt cx="3246120" cy="1371612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371AB06-905A-DA94-A4D6-8868B34369DA}"/>
                </a:ext>
              </a:extLst>
            </p:cNvPr>
            <p:cNvSpPr/>
            <p:nvPr/>
          </p:nvSpPr>
          <p:spPr>
            <a:xfrm>
              <a:off x="411480" y="5440680"/>
              <a:ext cx="3246120" cy="1280160"/>
            </a:xfrm>
            <a:prstGeom prst="roundRect">
              <a:avLst>
                <a:gd name="adj" fmla="val 14000"/>
              </a:avLst>
            </a:prstGeom>
            <a:solidFill>
              <a:srgbClr val="EAF2FF"/>
            </a:solidFill>
            <a:ln w="12700">
              <a:solidFill>
                <a:srgbClr val="CFE0F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BA9DF7F-0D4B-CE31-0EB5-24F3543649BF}"/>
                </a:ext>
              </a:extLst>
            </p:cNvPr>
            <p:cNvSpPr txBox="1"/>
            <p:nvPr/>
          </p:nvSpPr>
          <p:spPr>
            <a:xfrm>
              <a:off x="612649" y="5550408"/>
              <a:ext cx="2935225" cy="1261884"/>
            </a:xfrm>
            <a:prstGeom prst="rect">
              <a:avLst/>
            </a:prstGeom>
            <a:noFill/>
          </p:spPr>
          <p:txBody>
            <a:bodyPr wrap="square" lIns="19050" tIns="19050" rIns="19050" bIns="19050">
              <a:spAutoFit/>
            </a:bodyPr>
            <a:lstStyle/>
            <a:p>
              <a:pPr>
                <a:spcAft>
                  <a:spcPts val="150"/>
                </a:spcAft>
              </a:pPr>
              <a:r>
                <a:rPr lang="en-US" sz="1600" b="1" dirty="0">
                  <a:solidFill>
                    <a:srgbClr val="017FFD"/>
                  </a:solidFill>
                </a:rPr>
                <a:t>Large (</a:t>
              </a:r>
              <a:r>
                <a:rPr sz="1600" b="1" dirty="0">
                  <a:solidFill>
                    <a:srgbClr val="017FFD"/>
                  </a:solidFill>
                </a:rPr>
                <a:t>Institutional</a:t>
              </a:r>
              <a:r>
                <a:rPr lang="en-US" sz="1600" b="1" dirty="0">
                  <a:solidFill>
                    <a:srgbClr val="017FFD"/>
                  </a:solidFill>
                </a:rPr>
                <a:t>)</a:t>
              </a:r>
              <a:r>
                <a:rPr sz="1600" b="1" dirty="0">
                  <a:solidFill>
                    <a:srgbClr val="017FFD"/>
                  </a:solidFill>
                </a:rPr>
                <a:t> biobank</a:t>
              </a:r>
            </a:p>
            <a:p>
              <a:pPr>
                <a:spcBef>
                  <a:spcPts val="150"/>
                </a:spcBef>
              </a:pPr>
              <a:r>
                <a:rPr sz="1100" dirty="0">
                  <a:solidFill>
                    <a:srgbClr val="333333"/>
                  </a:solidFill>
                </a:rPr>
                <a:t>hosts many small biobanks </a:t>
              </a:r>
              <a:endParaRPr lang="en-US" sz="1100" dirty="0">
                <a:solidFill>
                  <a:srgbClr val="333333"/>
                </a:solidFill>
              </a:endParaRPr>
            </a:p>
            <a:p>
              <a:pPr>
                <a:spcBef>
                  <a:spcPts val="150"/>
                </a:spcBef>
              </a:pPr>
              <a:r>
                <a:rPr sz="1100" dirty="0">
                  <a:solidFill>
                    <a:srgbClr val="333333"/>
                  </a:solidFill>
                </a:rPr>
                <a:t>(e.g. CBCH @ UMCG)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BE29C6-1FC3-ED0E-EF20-F16C6E5B4175}"/>
              </a:ext>
            </a:extLst>
          </p:cNvPr>
          <p:cNvGrpSpPr/>
          <p:nvPr/>
        </p:nvGrpSpPr>
        <p:grpSpPr>
          <a:xfrm>
            <a:off x="5790866" y="2330852"/>
            <a:ext cx="3165992" cy="960120"/>
            <a:chOff x="4069080" y="5440680"/>
            <a:chExt cx="3246120" cy="1280160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4CACC58A-74D3-1079-F964-E8556E0B0A57}"/>
                </a:ext>
              </a:extLst>
            </p:cNvPr>
            <p:cNvSpPr/>
            <p:nvPr/>
          </p:nvSpPr>
          <p:spPr>
            <a:xfrm>
              <a:off x="4069080" y="5440680"/>
              <a:ext cx="3246120" cy="1280160"/>
            </a:xfrm>
            <a:prstGeom prst="roundRect">
              <a:avLst>
                <a:gd name="adj" fmla="val 14000"/>
              </a:avLst>
            </a:prstGeom>
            <a:solidFill>
              <a:srgbClr val="EAF2FF"/>
            </a:solidFill>
            <a:ln w="12700">
              <a:solidFill>
                <a:srgbClr val="CFE0F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CEB3FF-A1AB-4D87-84AC-E1B610139C9C}"/>
                </a:ext>
              </a:extLst>
            </p:cNvPr>
            <p:cNvSpPr txBox="1"/>
            <p:nvPr/>
          </p:nvSpPr>
          <p:spPr>
            <a:xfrm>
              <a:off x="4270249" y="5550408"/>
              <a:ext cx="2935225" cy="899392"/>
            </a:xfrm>
            <a:prstGeom prst="rect">
              <a:avLst/>
            </a:prstGeom>
            <a:noFill/>
          </p:spPr>
          <p:txBody>
            <a:bodyPr wrap="square" lIns="19050" tIns="19050" rIns="19050" bIns="19050">
              <a:spAutoFit/>
            </a:bodyPr>
            <a:lstStyle/>
            <a:p>
              <a:pPr>
                <a:spcAft>
                  <a:spcPts val="150"/>
                </a:spcAft>
              </a:pPr>
              <a:r>
                <a:rPr sz="1600" b="1" dirty="0">
                  <a:solidFill>
                    <a:srgbClr val="017FFD"/>
                  </a:solidFill>
                </a:rPr>
                <a:t>Consortium architect</a:t>
              </a:r>
            </a:p>
            <a:p>
              <a:pPr>
                <a:spcBef>
                  <a:spcPts val="150"/>
                </a:spcBef>
              </a:pPr>
              <a:r>
                <a:rPr sz="1100" dirty="0">
                  <a:solidFill>
                    <a:srgbClr val="333333"/>
                  </a:solidFill>
                </a:rPr>
                <a:t>builds multi-</a:t>
              </a:r>
              <a:r>
                <a:rPr sz="1100" dirty="0" err="1">
                  <a:solidFill>
                    <a:srgbClr val="333333"/>
                  </a:solidFill>
                </a:rPr>
                <a:t>centre</a:t>
              </a:r>
              <a:r>
                <a:rPr sz="1100" dirty="0">
                  <a:solidFill>
                    <a:srgbClr val="333333"/>
                  </a:solidFill>
                </a:rPr>
                <a:t> studies &amp; collaboration network</a:t>
              </a:r>
              <a:r>
                <a:rPr lang="en-US" sz="1100" dirty="0">
                  <a:solidFill>
                    <a:srgbClr val="333333"/>
                  </a:solidFill>
                </a:rPr>
                <a:t>s, i.e. data federations</a:t>
              </a:r>
              <a:endParaRPr sz="1100" dirty="0">
                <a:solidFill>
                  <a:srgbClr val="333333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4A271C4-5EC2-25E4-1693-29D03454736F}"/>
              </a:ext>
            </a:extLst>
          </p:cNvPr>
          <p:cNvGrpSpPr/>
          <p:nvPr/>
        </p:nvGrpSpPr>
        <p:grpSpPr>
          <a:xfrm>
            <a:off x="4827195" y="3757037"/>
            <a:ext cx="3165992" cy="960120"/>
            <a:chOff x="7700595" y="5360315"/>
            <a:chExt cx="3246120" cy="1280159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07A53FED-ACB4-AFB9-54D7-F9407F85509B}"/>
                </a:ext>
              </a:extLst>
            </p:cNvPr>
            <p:cNvSpPr/>
            <p:nvPr/>
          </p:nvSpPr>
          <p:spPr>
            <a:xfrm>
              <a:off x="7700595" y="5360315"/>
              <a:ext cx="3246120" cy="1280159"/>
            </a:xfrm>
            <a:prstGeom prst="roundRect">
              <a:avLst>
                <a:gd name="adj" fmla="val 14000"/>
              </a:avLst>
            </a:prstGeom>
            <a:solidFill>
              <a:srgbClr val="EAF2FF"/>
            </a:solidFill>
            <a:ln w="12700">
              <a:solidFill>
                <a:srgbClr val="CFE0F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D3E5984-3714-BC57-BA4C-D0F284925633}"/>
                </a:ext>
              </a:extLst>
            </p:cNvPr>
            <p:cNvSpPr txBox="1"/>
            <p:nvPr/>
          </p:nvSpPr>
          <p:spPr>
            <a:xfrm>
              <a:off x="7927848" y="5550408"/>
              <a:ext cx="2935225" cy="933589"/>
            </a:xfrm>
            <a:prstGeom prst="rect">
              <a:avLst/>
            </a:prstGeom>
            <a:noFill/>
          </p:spPr>
          <p:txBody>
            <a:bodyPr wrap="square" lIns="19050" tIns="19050" rIns="19050" bIns="19050">
              <a:spAutoFit/>
            </a:bodyPr>
            <a:lstStyle/>
            <a:p>
              <a:pPr>
                <a:spcAft>
                  <a:spcPts val="150"/>
                </a:spcAft>
              </a:pPr>
              <a:r>
                <a:rPr sz="1600" b="1" dirty="0">
                  <a:solidFill>
                    <a:srgbClr val="017FFD"/>
                  </a:solidFill>
                </a:rPr>
                <a:t>Research infrastructures</a:t>
              </a:r>
            </a:p>
            <a:p>
              <a:pPr>
                <a:spcBef>
                  <a:spcPts val="150"/>
                </a:spcBef>
              </a:pPr>
              <a:r>
                <a:rPr sz="1100" dirty="0">
                  <a:solidFill>
                    <a:srgbClr val="333333"/>
                  </a:solidFill>
                </a:rPr>
                <a:t>set standards &amp; facilitate</a:t>
              </a:r>
              <a:r>
                <a:rPr lang="en-US" sz="1100" dirty="0">
                  <a:solidFill>
                    <a:srgbClr val="333333"/>
                  </a:solidFill>
                </a:rPr>
                <a:t>s collaboration</a:t>
              </a:r>
              <a:r>
                <a:rPr sz="1100" dirty="0">
                  <a:solidFill>
                    <a:srgbClr val="333333"/>
                  </a:solidFill>
                </a:rPr>
                <a:t> </a:t>
              </a:r>
              <a:endParaRPr lang="en-US" sz="1100" dirty="0">
                <a:solidFill>
                  <a:srgbClr val="333333"/>
                </a:solidFill>
              </a:endParaRPr>
            </a:p>
            <a:p>
              <a:pPr>
                <a:spcBef>
                  <a:spcPts val="150"/>
                </a:spcBef>
              </a:pPr>
              <a:r>
                <a:rPr sz="1100" dirty="0">
                  <a:solidFill>
                    <a:srgbClr val="333333"/>
                  </a:solidFill>
                </a:rPr>
                <a:t>(</a:t>
              </a:r>
              <a:r>
                <a:rPr lang="en-US" sz="1100" dirty="0">
                  <a:solidFill>
                    <a:srgbClr val="333333"/>
                  </a:solidFill>
                </a:rPr>
                <a:t>e.g. </a:t>
              </a:r>
              <a:r>
                <a:rPr sz="1100" dirty="0">
                  <a:solidFill>
                    <a:srgbClr val="333333"/>
                  </a:solidFill>
                </a:rPr>
                <a:t>BBMRI-ERIC, Health-RI)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60"/>
          <p:cNvSpPr txBox="1">
            <a:spLocks noGrp="1"/>
          </p:cNvSpPr>
          <p:nvPr>
            <p:ph type="title"/>
          </p:nvPr>
        </p:nvSpPr>
        <p:spPr>
          <a:xfrm>
            <a:off x="628650" y="832900"/>
            <a:ext cx="790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dirty="0"/>
              <a:t>OUR Journey</a:t>
            </a:r>
            <a:br>
              <a:rPr lang="en" dirty="0"/>
            </a:br>
            <a:r>
              <a:rPr lang="en" sz="1600" dirty="0"/>
              <a:t>FROM FAIR AT SOURCE TO FAIR RESEARCH FEDERATIONS</a:t>
            </a:r>
            <a:endParaRPr lang="en" dirty="0"/>
          </a:p>
        </p:txBody>
      </p:sp>
      <p:sp>
        <p:nvSpPr>
          <p:cNvPr id="960" name="card"/>
          <p:cNvSpPr/>
          <p:nvPr/>
        </p:nvSpPr>
        <p:spPr>
          <a:xfrm>
            <a:off x="628650" y="1645830"/>
            <a:ext cx="3900000" cy="24906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CFE0FB"/>
            </a:solidFill>
          </a:ln>
        </p:spPr>
        <p:txBody>
          <a:bodyPr spcFirstLastPara="1" wrap="square" lIns="180000" tIns="150000" rIns="150000" bIns="140000" anchor="t" anchorCtr="0">
            <a:normAutofit fontScale="85000" lnSpcReduction="20000"/>
          </a:bodyPr>
          <a:lstStyle/>
          <a:p>
            <a:pPr marL="0" lvl="0" indent="0" algn="l" rtl="0">
              <a:spcAft>
                <a:spcPts val="700"/>
              </a:spcAft>
              <a:buNone/>
            </a:pPr>
            <a:r>
              <a:rPr lang="en" sz="1700" b="1" dirty="0">
                <a:solidFill>
                  <a:srgbClr val="017FFD"/>
                </a:solidFill>
              </a:rPr>
              <a:t>Departure ‘building blocks’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800"/>
              </a:spcBef>
              <a:buSzPts val="1350"/>
              <a:buChar char="•"/>
            </a:pPr>
            <a:r>
              <a:rPr lang="en" sz="1500" dirty="0">
                <a:solidFill>
                  <a:srgbClr val="333333"/>
                </a:solidFill>
              </a:rPr>
              <a:t>Multi-</a:t>
            </a:r>
            <a:r>
              <a:rPr lang="en" sz="1500" dirty="0" err="1">
                <a:solidFill>
                  <a:srgbClr val="333333"/>
                </a:solidFill>
              </a:rPr>
              <a:t>centre</a:t>
            </a:r>
            <a:r>
              <a:rPr lang="en" sz="1500" dirty="0">
                <a:solidFill>
                  <a:srgbClr val="333333"/>
                </a:solidFill>
              </a:rPr>
              <a:t> data can transform healthcare and prevention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800"/>
              </a:spcBef>
              <a:buSzPts val="1350"/>
              <a:buChar char="•"/>
            </a:pPr>
            <a:r>
              <a:rPr lang="en" sz="1500" dirty="0">
                <a:solidFill>
                  <a:srgbClr val="333333"/>
                </a:solidFill>
              </a:rPr>
              <a:t>But many research consortia still rebuild the ‘data plumbing’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800"/>
              </a:spcBef>
              <a:buSzPts val="1350"/>
              <a:buChar char="•"/>
            </a:pPr>
            <a:r>
              <a:rPr lang="en" sz="1500" dirty="0">
                <a:solidFill>
                  <a:srgbClr val="333333"/>
                </a:solidFill>
              </a:rPr>
              <a:t>And months lost negotiating collection-by-collection</a:t>
            </a:r>
          </a:p>
          <a:p>
            <a:pPr lvl="0" algn="l" rtl="0">
              <a:lnSpc>
                <a:spcPct val="112000"/>
              </a:lnSpc>
              <a:spcBef>
                <a:spcPts val="800"/>
              </a:spcBef>
              <a:buSzPts val="1350"/>
            </a:pPr>
            <a:r>
              <a:rPr lang="en" sz="1500" i="1" dirty="0">
                <a:solidFill>
                  <a:srgbClr val="333333"/>
                </a:solidFill>
              </a:rPr>
              <a:t>We are often involved in these ‘building blocks’ without spending enough time on the whole.</a:t>
            </a:r>
          </a:p>
        </p:txBody>
      </p:sp>
      <p:sp>
        <p:nvSpPr>
          <p:cNvPr id="961" name="card"/>
          <p:cNvSpPr/>
          <p:nvPr/>
        </p:nvSpPr>
        <p:spPr>
          <a:xfrm>
            <a:off x="4630000" y="1645830"/>
            <a:ext cx="3900000" cy="24906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CFE0FB"/>
            </a:solidFill>
          </a:ln>
        </p:spPr>
        <p:txBody>
          <a:bodyPr spcFirstLastPara="1" wrap="square" lIns="180000" tIns="150000" rIns="150000" bIns="140000" anchor="t" anchorCtr="0">
            <a:normAutofit fontScale="85000" lnSpcReduction="20000"/>
          </a:bodyPr>
          <a:lstStyle/>
          <a:p>
            <a:pPr marL="0" lvl="0" indent="0" algn="l" rtl="0">
              <a:spcAft>
                <a:spcPts val="700"/>
              </a:spcAft>
              <a:buNone/>
            </a:pPr>
            <a:r>
              <a:rPr lang="en" sz="1700" b="1" dirty="0">
                <a:solidFill>
                  <a:srgbClr val="017FFD"/>
                </a:solidFill>
              </a:rPr>
              <a:t>Destination ‘</a:t>
            </a:r>
            <a:r>
              <a:rPr lang="en" sz="1700" b="1" dirty="0" err="1">
                <a:solidFill>
                  <a:srgbClr val="017FFD"/>
                </a:solidFill>
              </a:rPr>
              <a:t>resear</a:t>
            </a:r>
            <a:r>
              <a:rPr lang="en-GB" sz="1700" b="1" dirty="0">
                <a:solidFill>
                  <a:srgbClr val="017FFD"/>
                </a:solidFill>
              </a:rPr>
              <a:t>c</a:t>
            </a:r>
            <a:r>
              <a:rPr lang="en" sz="1700" b="1" dirty="0">
                <a:solidFill>
                  <a:srgbClr val="017FFD"/>
                </a:solidFill>
              </a:rPr>
              <a:t>h journeys’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800"/>
              </a:spcBef>
              <a:buSzPts val="1350"/>
              <a:buChar char="•"/>
            </a:pPr>
            <a:r>
              <a:rPr lang="en" sz="1500" dirty="0">
                <a:solidFill>
                  <a:srgbClr val="333333"/>
                </a:solidFill>
              </a:rPr>
              <a:t>FAIR at the source → FAIR research federations</a:t>
            </a:r>
          </a:p>
          <a:p>
            <a:pPr marL="320040" indent="-320040">
              <a:lnSpc>
                <a:spcPct val="112000"/>
              </a:lnSpc>
              <a:spcBef>
                <a:spcPts val="800"/>
              </a:spcBef>
              <a:buSzPts val="1350"/>
              <a:buFont typeface="Arial"/>
              <a:buChar char="•"/>
            </a:pPr>
            <a:r>
              <a:rPr lang="en" sz="1500" dirty="0">
                <a:solidFill>
                  <a:srgbClr val="333333"/>
                </a:solidFill>
              </a:rPr>
              <a:t>Using free and open data infra</a:t>
            </a:r>
            <a:r>
              <a:rPr lang="en-GB" sz="1500" dirty="0">
                <a:solidFill>
                  <a:srgbClr val="333333"/>
                </a:solidFill>
              </a:rPr>
              <a:t>s</a:t>
            </a:r>
            <a:r>
              <a:rPr lang="en" sz="1500" dirty="0" err="1">
                <a:solidFill>
                  <a:srgbClr val="333333"/>
                </a:solidFill>
              </a:rPr>
              <a:t>tructure</a:t>
            </a:r>
            <a:r>
              <a:rPr lang="en" sz="1500" dirty="0">
                <a:solidFill>
                  <a:srgbClr val="333333"/>
                </a:solidFill>
              </a:rPr>
              <a:t> tools &amp; standards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800"/>
              </a:spcBef>
              <a:buSzPts val="1350"/>
              <a:buChar char="•"/>
            </a:pPr>
            <a:r>
              <a:rPr lang="en" sz="1500" dirty="0">
                <a:solidFill>
                  <a:srgbClr val="333333"/>
                </a:solidFill>
              </a:rPr>
              <a:t>And sustained collaborations with all researchers / infrastructures involved</a:t>
            </a:r>
          </a:p>
          <a:p>
            <a:pPr lvl="0" algn="l" rtl="0">
              <a:lnSpc>
                <a:spcPct val="112000"/>
              </a:lnSpc>
              <a:spcBef>
                <a:spcPts val="800"/>
              </a:spcBef>
              <a:buSzPts val="1350"/>
            </a:pPr>
            <a:r>
              <a:rPr lang="en" sz="1500" i="1" dirty="0">
                <a:solidFill>
                  <a:srgbClr val="333333"/>
                </a:solidFill>
              </a:rPr>
              <a:t>We dream of creating multi-center facilities where research can flow without obstacles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5A0530-8DBA-B557-2D0F-75AACBC2B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-apple-system"/>
              </a:rPr>
              <a:t>Kim Monkhorst</a:t>
            </a:r>
            <a:endParaRPr kumimoji="0" lang="en-NL" altLang="en-NL" sz="1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NL" altLang="en-NL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88E2E5-2156-4E88-E326-6D4671479308}"/>
              </a:ext>
            </a:extLst>
          </p:cNvPr>
          <p:cNvSpPr txBox="1"/>
          <p:nvPr/>
        </p:nvSpPr>
        <p:spPr>
          <a:xfrm>
            <a:off x="544286" y="4179972"/>
            <a:ext cx="8084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MOLGENIS is a data infrastructure enabling national and EU consortia to accelerate health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1" name="Google Shape;2901;p25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622300" algn="l" rtl="0">
              <a:spcBef>
                <a:spcPts val="0"/>
              </a:spcBef>
              <a:spcAft>
                <a:spcPts val="0"/>
              </a:spcAft>
              <a:buSzPts val="6200"/>
              <a:buNone/>
            </a:pPr>
            <a:r>
              <a:rPr lang="en" dirty="0"/>
              <a:t>ACT 1 — FAIR AT SOURCE</a:t>
            </a:r>
            <a:endParaRPr sz="2200" b="0" dirty="0"/>
          </a:p>
        </p:txBody>
      </p:sp>
      <p:sp>
        <p:nvSpPr>
          <p:cNvPr id="2902" name="Google Shape;2902;p25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Building blocks to make individual colle</a:t>
            </a:r>
            <a:r>
              <a:rPr lang="en-US" dirty="0"/>
              <a:t>ctions FAIR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60"/>
          <p:cNvSpPr txBox="1">
            <a:spLocks noGrp="1"/>
          </p:cNvSpPr>
          <p:nvPr>
            <p:ph type="title"/>
          </p:nvPr>
        </p:nvSpPr>
        <p:spPr>
          <a:xfrm>
            <a:off x="628650" y="832900"/>
            <a:ext cx="790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" sz="1500" dirty="0"/>
              <a:t>FAIR AT THE SOURCE · step 1  · MAKE REUSABLE</a:t>
            </a:r>
          </a:p>
          <a:p>
            <a:pPr marL="0" lvl="0" indent="0" algn="l" rtl="0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dirty="0"/>
              <a:t>Data deposition for local (re)use</a:t>
            </a:r>
          </a:p>
        </p:txBody>
      </p:sp>
      <p:sp>
        <p:nvSpPr>
          <p:cNvPr id="940" name="bullets"/>
          <p:cNvSpPr txBox="1"/>
          <p:nvPr/>
        </p:nvSpPr>
        <p:spPr>
          <a:xfrm>
            <a:off x="628650" y="1621971"/>
            <a:ext cx="4520000" cy="3098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dirty="0">
                <a:solidFill>
                  <a:srgbClr val="333333"/>
                </a:solidFill>
              </a:rPr>
              <a:t>Often data is collected for own use</a:t>
            </a:r>
          </a:p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dirty="0">
                <a:solidFill>
                  <a:srgbClr val="333333"/>
                </a:solidFill>
              </a:rPr>
              <a:t>The first </a:t>
            </a:r>
            <a:r>
              <a:rPr lang="en" b="1" dirty="0">
                <a:solidFill>
                  <a:srgbClr val="333333"/>
                </a:solidFill>
              </a:rPr>
              <a:t>‘</a:t>
            </a:r>
            <a:r>
              <a:rPr lang="en" b="1" i="1" dirty="0" err="1">
                <a:solidFill>
                  <a:srgbClr val="333333"/>
                </a:solidFill>
              </a:rPr>
              <a:t>reuser</a:t>
            </a:r>
            <a:r>
              <a:rPr lang="en" b="1" i="1" dirty="0">
                <a:solidFill>
                  <a:srgbClr val="333333"/>
                </a:solidFill>
              </a:rPr>
              <a:t>’</a:t>
            </a:r>
            <a:r>
              <a:rPr lang="en" dirty="0">
                <a:solidFill>
                  <a:srgbClr val="333333"/>
                </a:solidFill>
              </a:rPr>
              <a:t> is usually the next PhD student</a:t>
            </a:r>
          </a:p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dirty="0">
                <a:solidFill>
                  <a:srgbClr val="333333"/>
                </a:solidFill>
              </a:rPr>
              <a:t>Then emerges the need for a repository: Structured · manageable · </a:t>
            </a:r>
            <a:r>
              <a:rPr lang="en" dirty="0" err="1">
                <a:solidFill>
                  <a:srgbClr val="333333"/>
                </a:solidFill>
              </a:rPr>
              <a:t>queryable</a:t>
            </a:r>
            <a:r>
              <a:rPr lang="en" dirty="0">
                <a:solidFill>
                  <a:srgbClr val="333333"/>
                </a:solidFill>
              </a:rPr>
              <a:t> · QC · backed up</a:t>
            </a:r>
          </a:p>
          <a:p>
            <a:pPr lv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dirty="0">
                <a:solidFill>
                  <a:srgbClr val="333333"/>
                </a:solidFill>
              </a:rPr>
              <a:t>This initiated MOLGENIS data platform — for biobanks/cohorts/trials/registries · flexible · free &amp; open source — no vendor lock-in · best practice data models</a:t>
            </a:r>
          </a:p>
        </p:txBody>
      </p:sp>
      <p:sp>
        <p:nvSpPr>
          <p:cNvPr id="941" name="placeholder"/>
          <p:cNvSpPr/>
          <p:nvPr/>
        </p:nvSpPr>
        <p:spPr>
          <a:xfrm>
            <a:off x="5340000" y="1500000"/>
            <a:ext cx="3400000" cy="2980000"/>
          </a:xfrm>
          <a:prstGeom prst="roundRect">
            <a:avLst>
              <a:gd name="adj" fmla="val 3500"/>
            </a:avLst>
          </a:prstGeom>
          <a:solidFill>
            <a:srgbClr val="EAF2FF"/>
          </a:solidFill>
          <a:ln w="12700" cap="flat">
            <a:solidFill>
              <a:srgbClr val="017FFD"/>
            </a:solidFill>
            <a:prstDash val="dash"/>
          </a:ln>
        </p:spPr>
        <p:txBody>
          <a:bodyPr spcFirstLastPara="1" wrap="square" lIns="137160" tIns="91440" rIns="137160" bIns="91440" anchor="ctr" anchorCtr="0">
            <a:noAutofit/>
          </a:bodyPr>
          <a:lstStyle/>
          <a:p>
            <a:pPr algn="ctr" rtl="0">
              <a:buNone/>
            </a:pPr>
            <a:r>
              <a:rPr lang="en" sz="1150" i="1">
                <a:solidFill>
                  <a:srgbClr val="017FFD"/>
                </a:solidFill>
              </a:rPr>
              <a:t>Screenshot: a real collection / registry in the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60"/>
          <p:cNvSpPr txBox="1">
            <a:spLocks noGrp="1"/>
          </p:cNvSpPr>
          <p:nvPr>
            <p:ph type="title"/>
          </p:nvPr>
        </p:nvSpPr>
        <p:spPr>
          <a:xfrm>
            <a:off x="628650" y="832900"/>
            <a:ext cx="790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FAIR AT THE SOURCE · MAKE REUSABLE</a:t>
            </a:r>
          </a:p>
          <a:p>
            <a:pPr marL="0" lvl="0" indent="0" algn="l" rtl="0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dirty="0"/>
              <a:t>catalogue for </a:t>
            </a:r>
            <a:br>
              <a:rPr lang="en" dirty="0"/>
            </a:br>
            <a:r>
              <a:rPr lang="en" dirty="0"/>
              <a:t>collaboration</a:t>
            </a:r>
          </a:p>
        </p:txBody>
      </p:sp>
      <p:sp>
        <p:nvSpPr>
          <p:cNvPr id="940" name="bullets"/>
          <p:cNvSpPr txBox="1"/>
          <p:nvPr/>
        </p:nvSpPr>
        <p:spPr>
          <a:xfrm>
            <a:off x="628650" y="1793630"/>
            <a:ext cx="3241492" cy="2926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sz="1200" dirty="0">
                <a:solidFill>
                  <a:srgbClr val="333333"/>
                </a:solidFill>
              </a:rPr>
              <a:t>At some point a collection concludes that reuse can be a great multiplier — co-authorships, citations, grants, collaborations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sz="1200" dirty="0">
                <a:solidFill>
                  <a:srgbClr val="333333"/>
                </a:solidFill>
              </a:rPr>
              <a:t>A catalogue is the tool to help make the collection discoverable</a:t>
            </a:r>
          </a:p>
          <a:p>
            <a:pPr marL="320040" lvl="0" indent="-32004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sz="1200" dirty="0">
                <a:solidFill>
                  <a:srgbClr val="333333"/>
                </a:solidFill>
              </a:rPr>
              <a:t>Advanced version: catalogue → select → request → decision → delivery</a:t>
            </a:r>
          </a:p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sz="1200" dirty="0">
                <a:solidFill>
                  <a:srgbClr val="333333"/>
                </a:solidFill>
              </a:rPr>
              <a:t>For example: Lifelines — data catalogue + request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D402F9-4C38-2990-69B9-979B1BA38BCA}"/>
              </a:ext>
            </a:extLst>
          </p:cNvPr>
          <p:cNvSpPr txBox="1"/>
          <p:nvPr/>
        </p:nvSpPr>
        <p:spPr>
          <a:xfrm>
            <a:off x="982813" y="4709736"/>
            <a:ext cx="2887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i="1" dirty="0" err="1"/>
              <a:t>Sijtsma</a:t>
            </a:r>
            <a:r>
              <a:rPr lang="en-GB" sz="1000" i="1" dirty="0"/>
              <a:t> (2022) Cohort Profile Update: Lifelines</a:t>
            </a:r>
            <a:endParaRPr lang="en-NL" sz="10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EF7535-6FB7-0679-01D1-38100620F5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12944" b="53240"/>
          <a:stretch>
            <a:fillRect/>
          </a:stretch>
        </p:blipFill>
        <p:spPr>
          <a:xfrm>
            <a:off x="3920922" y="586477"/>
            <a:ext cx="4702246" cy="39626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60"/>
          <p:cNvSpPr txBox="1">
            <a:spLocks noGrp="1"/>
          </p:cNvSpPr>
          <p:nvPr>
            <p:ph type="title"/>
          </p:nvPr>
        </p:nvSpPr>
        <p:spPr>
          <a:xfrm>
            <a:off x="628650" y="832900"/>
            <a:ext cx="790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FAIR AT THE SOURCE · MAKE ACCESSIBLE</a:t>
            </a:r>
          </a:p>
          <a:p>
            <a:pPr marL="0" lvl="0" indent="0" algn="l" rtl="0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dirty="0"/>
              <a:t>Enable trusted ANALYSIS ACCESS</a:t>
            </a:r>
          </a:p>
        </p:txBody>
      </p:sp>
      <p:sp>
        <p:nvSpPr>
          <p:cNvPr id="940" name="bullets"/>
          <p:cNvSpPr txBox="1"/>
          <p:nvPr/>
        </p:nvSpPr>
        <p:spPr>
          <a:xfrm>
            <a:off x="628650" y="1500000"/>
            <a:ext cx="2941027" cy="3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dirty="0">
                <a:solidFill>
                  <a:srgbClr val="333333"/>
                </a:solidFill>
              </a:rPr>
              <a:t>Close collaborators stay informal — but external users need policy &amp; contracts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dirty="0">
                <a:solidFill>
                  <a:srgbClr val="333333"/>
                </a:solidFill>
              </a:rPr>
              <a:t>Carve out a clean subset — derived/</a:t>
            </a:r>
            <a:r>
              <a:rPr lang="en" dirty="0" err="1">
                <a:solidFill>
                  <a:srgbClr val="333333"/>
                </a:solidFill>
              </a:rPr>
              <a:t>anonymised</a:t>
            </a:r>
            <a:r>
              <a:rPr lang="en" dirty="0">
                <a:solidFill>
                  <a:srgbClr val="333333"/>
                </a:solidFill>
              </a:rPr>
              <a:t> for a specific use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dirty="0">
                <a:solidFill>
                  <a:srgbClr val="333333"/>
                </a:solidFill>
              </a:rPr>
              <a:t>Holder decides what leaves, and in what form</a:t>
            </a:r>
          </a:p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dirty="0">
                <a:solidFill>
                  <a:srgbClr val="333333"/>
                </a:solidFill>
              </a:rPr>
              <a:t>Modes: </a:t>
            </a:r>
          </a:p>
          <a:p>
            <a:pPr marL="285750" lvl="0" indent="-285750" algn="l" rtl="0">
              <a:lnSpc>
                <a:spcPct val="112000"/>
              </a:lnSpc>
              <a:spcBef>
                <a:spcPts val="1100"/>
              </a:spcBef>
              <a:buSzPts val="1575"/>
              <a:buFontTx/>
              <a:buChar char="-"/>
            </a:pPr>
            <a:r>
              <a:rPr lang="en" i="1" dirty="0">
                <a:solidFill>
                  <a:srgbClr val="333333"/>
                </a:solidFill>
              </a:rPr>
              <a:t>Secure download </a:t>
            </a:r>
          </a:p>
          <a:p>
            <a:pPr marL="285750" lvl="0" indent="-285750" algn="l" rtl="0">
              <a:lnSpc>
                <a:spcPct val="112000"/>
              </a:lnSpc>
              <a:spcBef>
                <a:spcPts val="1100"/>
              </a:spcBef>
              <a:buSzPts val="1575"/>
              <a:buFontTx/>
              <a:buChar char="-"/>
            </a:pPr>
            <a:r>
              <a:rPr lang="en" i="1" dirty="0" err="1">
                <a:solidFill>
                  <a:srgbClr val="333333"/>
                </a:solidFill>
              </a:rPr>
              <a:t>Queryable</a:t>
            </a:r>
            <a:r>
              <a:rPr lang="en" i="1" dirty="0">
                <a:solidFill>
                  <a:srgbClr val="333333"/>
                </a:solidFill>
              </a:rPr>
              <a:t> database </a:t>
            </a:r>
          </a:p>
          <a:p>
            <a:pPr marL="285750" lvl="0" indent="-285750" algn="l" rtl="0">
              <a:lnSpc>
                <a:spcPct val="112000"/>
              </a:lnSpc>
              <a:spcBef>
                <a:spcPts val="1100"/>
              </a:spcBef>
              <a:buSzPts val="1575"/>
              <a:buFontTx/>
              <a:buChar char="-"/>
            </a:pPr>
            <a:r>
              <a:rPr lang="en" i="1" dirty="0">
                <a:solidFill>
                  <a:srgbClr val="333333"/>
                </a:solidFill>
              </a:rPr>
              <a:t>DRE / secure remote desktop</a:t>
            </a:r>
          </a:p>
          <a:p>
            <a:pPr marL="285750" lvl="0" indent="-285750" algn="l" rtl="0">
              <a:lnSpc>
                <a:spcPct val="112000"/>
              </a:lnSpc>
              <a:spcBef>
                <a:spcPts val="1100"/>
              </a:spcBef>
              <a:buSzPts val="1575"/>
              <a:buFontTx/>
              <a:buChar char="-"/>
            </a:pPr>
            <a:r>
              <a:rPr lang="en" i="1" dirty="0">
                <a:solidFill>
                  <a:srgbClr val="333333"/>
                </a:solidFill>
              </a:rPr>
              <a:t>HPC for large data</a:t>
            </a:r>
          </a:p>
        </p:txBody>
      </p:sp>
      <p:sp>
        <p:nvSpPr>
          <p:cNvPr id="941" name="placeholder"/>
          <p:cNvSpPr/>
          <p:nvPr/>
        </p:nvSpPr>
        <p:spPr>
          <a:xfrm>
            <a:off x="5340000" y="1500000"/>
            <a:ext cx="3400000" cy="2980000"/>
          </a:xfrm>
          <a:prstGeom prst="roundRect">
            <a:avLst>
              <a:gd name="adj" fmla="val 3500"/>
            </a:avLst>
          </a:prstGeom>
          <a:solidFill>
            <a:srgbClr val="EAF2FF"/>
          </a:solidFill>
          <a:ln w="12700" cap="flat">
            <a:solidFill>
              <a:srgbClr val="017FFD"/>
            </a:solidFill>
            <a:prstDash val="dash"/>
          </a:ln>
        </p:spPr>
        <p:txBody>
          <a:bodyPr spcFirstLastPara="1" wrap="square" lIns="137160" tIns="91440" rIns="137160" bIns="91440" anchor="ctr" anchorCtr="0">
            <a:noAutofit/>
          </a:bodyPr>
          <a:lstStyle/>
          <a:p>
            <a:pPr algn="ctr" rtl="0">
              <a:buNone/>
            </a:pPr>
            <a:r>
              <a:rPr lang="en" sz="1150" i="1">
                <a:solidFill>
                  <a:srgbClr val="017FFD"/>
                </a:solidFill>
              </a:rPr>
              <a:t>Schematic: subset extracted into a secure remote desktop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DAAF9-E571-52B7-D993-60D431DC5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700" dirty="0"/>
              <a:t>FAIR AT THE SOURCE · MAKE FINDABLE (many)</a:t>
            </a:r>
            <a:br>
              <a:rPr lang="en-NL" dirty="0"/>
            </a:br>
            <a:r>
              <a:rPr lang="en-NL" dirty="0"/>
              <a:t>CATALOGUES FOR RI and INSTITUTIONS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E9B1CA-AE17-EDD7-8024-CD743E47BC18}"/>
              </a:ext>
            </a:extLst>
          </p:cNvPr>
          <p:cNvSpPr txBox="1"/>
          <p:nvPr/>
        </p:nvSpPr>
        <p:spPr>
          <a:xfrm>
            <a:off x="760599" y="4550828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L" sz="800" i="1" dirty="0"/>
              <a:t>Holub et al. (2016) </a:t>
            </a:r>
            <a:r>
              <a:rPr lang="en-GB" sz="800" i="1" dirty="0"/>
              <a:t>BBMRI-ERIC Directory</a:t>
            </a:r>
            <a:endParaRPr lang="en-NL" sz="8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F4E0B5-2304-FDC4-19D3-399C132C57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95" t="8066" r="13407" b="14212"/>
          <a:stretch>
            <a:fillRect/>
          </a:stretch>
        </p:blipFill>
        <p:spPr>
          <a:xfrm>
            <a:off x="259582" y="1673097"/>
            <a:ext cx="3864677" cy="28061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E86624-0AD3-9B52-6B17-F4CB6B8B57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4739"/>
          <a:stretch>
            <a:fillRect/>
          </a:stretch>
        </p:blipFill>
        <p:spPr>
          <a:xfrm>
            <a:off x="4717444" y="1652924"/>
            <a:ext cx="3642632" cy="28263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642509-E3CC-41F1-CDA4-59FF4CA77631}"/>
              </a:ext>
            </a:extLst>
          </p:cNvPr>
          <p:cNvSpPr txBox="1"/>
          <p:nvPr/>
        </p:nvSpPr>
        <p:spPr>
          <a:xfrm>
            <a:off x="294831" y="1229802"/>
            <a:ext cx="4572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400" b="1" dirty="0"/>
              <a:t>BBMRI-ERIC DIRECTORY</a:t>
            </a:r>
          </a:p>
          <a:p>
            <a:r>
              <a:rPr lang="en-GB" sz="1200" i="1" dirty="0">
                <a:hlinkClick r:id="rId4"/>
              </a:rPr>
              <a:t>https://directory.bbmri-eric.eu</a:t>
            </a:r>
            <a:r>
              <a:rPr lang="en-GB" sz="1200" i="1" dirty="0"/>
              <a:t> </a:t>
            </a:r>
            <a:endParaRPr lang="en-NL" sz="12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D52D1B-EA60-5075-2031-D42E8EA0F2C6}"/>
              </a:ext>
            </a:extLst>
          </p:cNvPr>
          <p:cNvSpPr txBox="1"/>
          <p:nvPr/>
        </p:nvSpPr>
        <p:spPr>
          <a:xfrm>
            <a:off x="4717444" y="1229802"/>
            <a:ext cx="364263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400" b="1" dirty="0"/>
              <a:t>UMCG CBCH DATA CATALOGUE</a:t>
            </a:r>
          </a:p>
          <a:p>
            <a:r>
              <a:rPr lang="en-GB" sz="1200" i="1" dirty="0">
                <a:hlinkClick r:id="rId5"/>
              </a:rPr>
              <a:t>https://umcgresearchdatacatalogue.nl</a:t>
            </a:r>
            <a:r>
              <a:rPr lang="en-GB" sz="1200" i="1" dirty="0"/>
              <a:t> </a:t>
            </a:r>
            <a:endParaRPr lang="en-NL" b="1" dirty="0"/>
          </a:p>
        </p:txBody>
      </p:sp>
    </p:spTree>
    <p:extLst>
      <p:ext uri="{BB962C8B-B14F-4D97-AF65-F5344CB8AC3E}">
        <p14:creationId xmlns:p14="http://schemas.microsoft.com/office/powerpoint/2010/main" val="1644514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1" name="Google Shape;2901;p254"/>
          <p:cNvSpPr txBox="1">
            <a:spLocks noGrp="1"/>
          </p:cNvSpPr>
          <p:nvPr>
            <p:ph type="ctrTitle"/>
          </p:nvPr>
        </p:nvSpPr>
        <p:spPr>
          <a:xfrm>
            <a:off x="1142999" y="1708714"/>
            <a:ext cx="7217229" cy="831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622300" algn="l" rtl="0">
              <a:spcBef>
                <a:spcPts val="0"/>
              </a:spcBef>
              <a:spcAft>
                <a:spcPts val="0"/>
              </a:spcAft>
              <a:buSzPts val="6200"/>
              <a:buNone/>
            </a:pPr>
            <a:r>
              <a:rPr lang="en" dirty="0"/>
              <a:t>ACT 2 — FAIR FEDERATIONS</a:t>
            </a:r>
            <a:endParaRPr sz="2200" b="0" dirty="0"/>
          </a:p>
        </p:txBody>
      </p:sp>
      <p:sp>
        <p:nvSpPr>
          <p:cNvPr id="2902" name="Google Shape;2902;p25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Building blocks for collaborations of collections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60"/>
          <p:cNvSpPr txBox="1">
            <a:spLocks noGrp="1"/>
          </p:cNvSpPr>
          <p:nvPr>
            <p:ph type="title"/>
          </p:nvPr>
        </p:nvSpPr>
        <p:spPr>
          <a:xfrm>
            <a:off x="628650" y="832900"/>
            <a:ext cx="790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FAIR RESEARCH FEDERATIONS · CENTRAL ROUTE</a:t>
            </a:r>
          </a:p>
          <a:p>
            <a:pPr marL="0" lvl="0" indent="0" algn="l" rtl="0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dirty="0"/>
              <a:t>Central data deposition, central analysis ACCESS</a:t>
            </a:r>
          </a:p>
        </p:txBody>
      </p:sp>
      <p:sp>
        <p:nvSpPr>
          <p:cNvPr id="940" name="bullets"/>
          <p:cNvSpPr txBox="1"/>
          <p:nvPr/>
        </p:nvSpPr>
        <p:spPr>
          <a:xfrm>
            <a:off x="519793" y="1657504"/>
            <a:ext cx="3685473" cy="300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dirty="0">
                <a:solidFill>
                  <a:srgbClr val="333333"/>
                </a:solidFill>
              </a:rPr>
              <a:t>Often chosen in rare disease — small sample sizes per site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dirty="0">
                <a:solidFill>
                  <a:srgbClr val="333333"/>
                </a:solidFill>
              </a:rPr>
              <a:t>Also when trust between partners is high enough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dirty="0">
                <a:solidFill>
                  <a:srgbClr val="333333"/>
                </a:solidFill>
              </a:rPr>
              <a:t>Central analysis is easier — the analyst can see the data</a:t>
            </a:r>
          </a:p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dirty="0">
                <a:solidFill>
                  <a:srgbClr val="333333"/>
                </a:solidFill>
              </a:rPr>
              <a:t>Examples: ERN patient registries, Solve-RD/ERDERA joint analysis of 20k+ patient genomes.</a:t>
            </a:r>
          </a:p>
        </p:txBody>
      </p:sp>
      <p:pic>
        <p:nvPicPr>
          <p:cNvPr id="2" name="Google Shape;3482;p280">
            <a:extLst>
              <a:ext uri="{FF2B5EF4-FFF2-40B4-BE49-F238E27FC236}">
                <a16:creationId xmlns:a16="http://schemas.microsoft.com/office/drawing/2014/main" id="{CFCCC263-9E53-F349-5295-1BE9A9D8B94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9009" t="5491" r="19312" b="30059"/>
          <a:stretch/>
        </p:blipFill>
        <p:spPr>
          <a:xfrm>
            <a:off x="4572000" y="1657504"/>
            <a:ext cx="4263970" cy="2756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10219-7630-F316-C8A5-6F8BFFB74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" sz="1600" b="1" i="0" u="none" strike="noStrike" kern="0" cap="none" spc="0" normalizeH="0" baseline="0" noProof="0" dirty="0">
                <a:ln>
                  <a:noFill/>
                </a:ln>
                <a:solidFill>
                  <a:srgbClr val="017FFD"/>
                </a:solidFill>
                <a:effectLst/>
                <a:uLnTx/>
                <a:uFillTx/>
                <a:latin typeface="Bebas Neue"/>
                <a:sym typeface="Bebas Neue"/>
              </a:rPr>
              <a:t>FAIR AT THE FEDERATION · MAKE FINDABLE</a:t>
            </a:r>
            <a:br>
              <a:rPr lang="en-NL" dirty="0"/>
            </a:br>
            <a:r>
              <a:rPr lang="en-NL" dirty="0"/>
              <a:t>CATALOGUE CONSORTIA / ‘data federations’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491AD8-D4DE-F081-23F0-33A10DECA9FC}"/>
              </a:ext>
            </a:extLst>
          </p:cNvPr>
          <p:cNvSpPr txBox="1"/>
          <p:nvPr/>
        </p:nvSpPr>
        <p:spPr>
          <a:xfrm>
            <a:off x="628650" y="114391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>
                <a:hlinkClick r:id="rId2"/>
              </a:rPr>
              <a:t>https://molgeniscatalogue.org/</a:t>
            </a:r>
            <a:r>
              <a:rPr lang="en-NL" dirty="0"/>
              <a:t> ‘catalogue of catalogues’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98EFD4-442F-D1F4-3289-D94B432857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43732"/>
          <a:stretch>
            <a:fillRect/>
          </a:stretch>
        </p:blipFill>
        <p:spPr>
          <a:xfrm>
            <a:off x="628650" y="1684505"/>
            <a:ext cx="2978542" cy="289418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EEDFB45-79C2-DEE8-70C4-FD6D50B024FC}"/>
              </a:ext>
            </a:extLst>
          </p:cNvPr>
          <p:cNvSpPr/>
          <p:nvPr/>
        </p:nvSpPr>
        <p:spPr>
          <a:xfrm>
            <a:off x="852852" y="2468537"/>
            <a:ext cx="2338754" cy="2637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1CB492-C6A5-6B48-25CF-20BF7478BA59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3191606" y="2596025"/>
            <a:ext cx="606669" cy="439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bullets">
            <a:extLst>
              <a:ext uri="{FF2B5EF4-FFF2-40B4-BE49-F238E27FC236}">
                <a16:creationId xmlns:a16="http://schemas.microsoft.com/office/drawing/2014/main" id="{62C8EC3B-8A3B-7719-ADAC-FC5A9A14EEEA}"/>
              </a:ext>
            </a:extLst>
          </p:cNvPr>
          <p:cNvSpPr txBox="1"/>
          <p:nvPr/>
        </p:nvSpPr>
        <p:spPr>
          <a:xfrm>
            <a:off x="7649308" y="1792862"/>
            <a:ext cx="1283679" cy="300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sz="1200" i="1" dirty="0">
                <a:solidFill>
                  <a:srgbClr val="333333"/>
                </a:solidFill>
              </a:rPr>
              <a:t>Collections &amp; Variables</a:t>
            </a:r>
          </a:p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sz="1200" i="1" dirty="0">
                <a:solidFill>
                  <a:srgbClr val="333333"/>
                </a:solidFill>
              </a:rPr>
              <a:t>Health-DCAT compatible</a:t>
            </a:r>
          </a:p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sz="1200" i="1" dirty="0">
                <a:solidFill>
                  <a:srgbClr val="333333"/>
                </a:solidFill>
              </a:rPr>
              <a:t>Directory mappable</a:t>
            </a:r>
          </a:p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sz="1200" i="1" dirty="0">
                <a:solidFill>
                  <a:srgbClr val="333333"/>
                </a:solidFill>
              </a:rPr>
              <a:t>Focus on data less on samples</a:t>
            </a:r>
          </a:p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endParaRPr lang="en" sz="1200" dirty="0">
              <a:solidFill>
                <a:srgbClr val="333333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5ABD35-239D-E4BB-8EED-D8C6FB07E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394" y="1680778"/>
            <a:ext cx="3671162" cy="289791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3A5273A-479A-3868-888F-7FE8D959AE09}"/>
              </a:ext>
            </a:extLst>
          </p:cNvPr>
          <p:cNvSpPr txBox="1"/>
          <p:nvPr/>
        </p:nvSpPr>
        <p:spPr>
          <a:xfrm>
            <a:off x="3607192" y="470270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L" sz="800" i="1" dirty="0"/>
              <a:t>Swertz et al. (2022) </a:t>
            </a:r>
            <a:r>
              <a:rPr lang="en-GB" sz="800" i="1" dirty="0"/>
              <a:t>Towards an Interoperable Ecosystem of Research Cohort and Real-world Data Catalogues Enabling Multi-</a:t>
            </a:r>
            <a:r>
              <a:rPr lang="en-GB" sz="800" i="1" dirty="0" err="1"/>
              <a:t>center</a:t>
            </a:r>
            <a:r>
              <a:rPr lang="en-GB" sz="800" i="1" dirty="0"/>
              <a:t> Studies</a:t>
            </a:r>
          </a:p>
          <a:p>
            <a:pPr algn="ctr"/>
            <a:endParaRPr lang="en-NL" sz="800" i="1" dirty="0"/>
          </a:p>
        </p:txBody>
      </p:sp>
      <p:pic>
        <p:nvPicPr>
          <p:cNvPr id="13" name="Google Shape;3794;p301">
            <a:extLst>
              <a:ext uri="{FF2B5EF4-FFF2-40B4-BE49-F238E27FC236}">
                <a16:creationId xmlns:a16="http://schemas.microsoft.com/office/drawing/2014/main" id="{4A825357-3B1A-6CAE-969C-5723BF3780C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0695" y="1987135"/>
            <a:ext cx="931861" cy="60889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0166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60"/>
          <p:cNvSpPr txBox="1">
            <a:spLocks noGrp="1"/>
          </p:cNvSpPr>
          <p:nvPr>
            <p:ph type="title"/>
          </p:nvPr>
        </p:nvSpPr>
        <p:spPr>
          <a:xfrm>
            <a:off x="628650" y="832900"/>
            <a:ext cx="790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FAIR RESEARCH FEDERATIONS · FEDERATED ROUTE</a:t>
            </a:r>
          </a:p>
          <a:p>
            <a:pPr marL="0" lvl="0" indent="0" algn="l" rtl="0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dirty="0"/>
              <a:t>Distributed deposition, federated analysis </a:t>
            </a:r>
            <a:r>
              <a:rPr lang="en" dirty="0" err="1"/>
              <a:t>aCCESS</a:t>
            </a:r>
            <a:endParaRPr lang="en" dirty="0"/>
          </a:p>
        </p:txBody>
      </p:sp>
      <p:sp>
        <p:nvSpPr>
          <p:cNvPr id="940" name="bullets"/>
          <p:cNvSpPr txBox="1"/>
          <p:nvPr/>
        </p:nvSpPr>
        <p:spPr>
          <a:xfrm>
            <a:off x="628650" y="1500000"/>
            <a:ext cx="4520000" cy="3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dirty="0">
                <a:solidFill>
                  <a:srgbClr val="333333"/>
                </a:solidFill>
              </a:rPr>
              <a:t>Analysis travels to the data · only safe summary statistics are shared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dirty="0">
                <a:solidFill>
                  <a:srgbClr val="333333"/>
                </a:solidFill>
              </a:rPr>
              <a:t>Reduces angst around DTA/MTA/GDPR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dirty="0">
                <a:solidFill>
                  <a:srgbClr val="333333"/>
                </a:solidFill>
              </a:rPr>
              <a:t>Unlocks analyses that would not be granted otherwise</a:t>
            </a:r>
          </a:p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dirty="0">
                <a:solidFill>
                  <a:srgbClr val="333333"/>
                </a:solidFill>
              </a:rPr>
              <a:t>We started to use </a:t>
            </a:r>
            <a:r>
              <a:rPr lang="en" dirty="0" err="1">
                <a:solidFill>
                  <a:srgbClr val="333333"/>
                </a:solidFill>
              </a:rPr>
              <a:t>DataSHIELD</a:t>
            </a:r>
            <a:r>
              <a:rPr lang="en" dirty="0">
                <a:solidFill>
                  <a:srgbClr val="333333"/>
                </a:solidFill>
              </a:rPr>
              <a:t> + MOLGENIS Armadillo — lightweight server per cohort</a:t>
            </a:r>
          </a:p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dirty="0">
                <a:solidFill>
                  <a:srgbClr val="333333"/>
                </a:solidFill>
              </a:rPr>
              <a:t>In </a:t>
            </a:r>
            <a:r>
              <a:rPr lang="en" dirty="0" err="1">
                <a:solidFill>
                  <a:srgbClr val="333333"/>
                </a:solidFill>
              </a:rPr>
              <a:t>LifeCycle</a:t>
            </a:r>
            <a:r>
              <a:rPr lang="en" dirty="0">
                <a:solidFill>
                  <a:srgbClr val="333333"/>
                </a:solidFill>
              </a:rPr>
              <a:t>, ATHLETE, </a:t>
            </a:r>
            <a:r>
              <a:rPr lang="en" dirty="0" err="1">
                <a:solidFill>
                  <a:srgbClr val="333333"/>
                </a:solidFill>
              </a:rPr>
              <a:t>LongITools</a:t>
            </a:r>
            <a:r>
              <a:rPr lang="en" dirty="0">
                <a:solidFill>
                  <a:srgbClr val="333333"/>
                </a:solidFill>
              </a:rPr>
              <a:t>, EUCAN-Connect — 20+ nodes in production</a:t>
            </a:r>
          </a:p>
        </p:txBody>
      </p:sp>
      <p:sp>
        <p:nvSpPr>
          <p:cNvPr id="3" name="Google Shape;798;g3663b9be120_0_418">
            <a:extLst>
              <a:ext uri="{FF2B5EF4-FFF2-40B4-BE49-F238E27FC236}">
                <a16:creationId xmlns:a16="http://schemas.microsoft.com/office/drawing/2014/main" id="{C01110D6-B5F8-225A-B064-4CF0CC816FD9}"/>
              </a:ext>
            </a:extLst>
          </p:cNvPr>
          <p:cNvSpPr/>
          <p:nvPr/>
        </p:nvSpPr>
        <p:spPr>
          <a:xfrm>
            <a:off x="5496702" y="2316930"/>
            <a:ext cx="2951696" cy="717328"/>
          </a:xfrm>
          <a:prstGeom prst="rect">
            <a:avLst/>
          </a:prstGeom>
          <a:solidFill>
            <a:schemeClr val="lt2"/>
          </a:solidFill>
          <a:ln w="9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250" tIns="92250" rIns="92250" bIns="92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2"/>
              <a:buFont typeface="Arial"/>
              <a:buNone/>
            </a:pPr>
            <a:endParaRPr sz="141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99;g3663b9be120_0_418">
            <a:extLst>
              <a:ext uri="{FF2B5EF4-FFF2-40B4-BE49-F238E27FC236}">
                <a16:creationId xmlns:a16="http://schemas.microsoft.com/office/drawing/2014/main" id="{0E48E0DA-DF19-FD0D-89FD-4AFF0D951B90}"/>
              </a:ext>
            </a:extLst>
          </p:cNvPr>
          <p:cNvSpPr/>
          <p:nvPr/>
        </p:nvSpPr>
        <p:spPr>
          <a:xfrm>
            <a:off x="5541647" y="3635192"/>
            <a:ext cx="832040" cy="739423"/>
          </a:xfrm>
          <a:prstGeom prst="ellipse">
            <a:avLst/>
          </a:prstGeom>
          <a:solidFill>
            <a:schemeClr val="lt2"/>
          </a:solidFill>
          <a:ln w="9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250" tIns="92250" rIns="92250" bIns="92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2"/>
              <a:buFont typeface="Arial"/>
              <a:buNone/>
            </a:pPr>
            <a:endParaRPr sz="141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800;g3663b9be120_0_418">
            <a:extLst>
              <a:ext uri="{FF2B5EF4-FFF2-40B4-BE49-F238E27FC236}">
                <a16:creationId xmlns:a16="http://schemas.microsoft.com/office/drawing/2014/main" id="{F18091A0-F501-D6CE-FDAD-8E9E012C06F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62596" y="3809832"/>
            <a:ext cx="390142" cy="390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01;g3663b9be120_0_418">
            <a:extLst>
              <a:ext uri="{FF2B5EF4-FFF2-40B4-BE49-F238E27FC236}">
                <a16:creationId xmlns:a16="http://schemas.microsoft.com/office/drawing/2014/main" id="{CBDCA715-EF6B-C15D-0100-6A0C652961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16199" y="1595276"/>
            <a:ext cx="390142" cy="50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02;g3663b9be120_0_418">
            <a:extLst>
              <a:ext uri="{FF2B5EF4-FFF2-40B4-BE49-F238E27FC236}">
                <a16:creationId xmlns:a16="http://schemas.microsoft.com/office/drawing/2014/main" id="{1B331366-BF23-8F23-0251-6FC66AF59C9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10" y="4090558"/>
            <a:ext cx="283980" cy="2839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03;g3663b9be120_0_418">
            <a:extLst>
              <a:ext uri="{FF2B5EF4-FFF2-40B4-BE49-F238E27FC236}">
                <a16:creationId xmlns:a16="http://schemas.microsoft.com/office/drawing/2014/main" id="{74C819AB-D9EC-DE86-1394-22B0263787F3}"/>
              </a:ext>
            </a:extLst>
          </p:cNvPr>
          <p:cNvSpPr/>
          <p:nvPr/>
        </p:nvSpPr>
        <p:spPr>
          <a:xfrm>
            <a:off x="6582908" y="3635192"/>
            <a:ext cx="832040" cy="739423"/>
          </a:xfrm>
          <a:prstGeom prst="ellipse">
            <a:avLst/>
          </a:prstGeom>
          <a:solidFill>
            <a:schemeClr val="lt2"/>
          </a:solidFill>
          <a:ln w="9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250" tIns="92250" rIns="92250" bIns="92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2"/>
              <a:buFont typeface="Arial"/>
              <a:buNone/>
            </a:pPr>
            <a:endParaRPr sz="141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804;g3663b9be120_0_418">
            <a:extLst>
              <a:ext uri="{FF2B5EF4-FFF2-40B4-BE49-F238E27FC236}">
                <a16:creationId xmlns:a16="http://schemas.microsoft.com/office/drawing/2014/main" id="{240DD5E5-A5FF-6096-A630-565E0445FF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9877" y="4090634"/>
            <a:ext cx="283980" cy="28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05;g3663b9be120_0_418">
            <a:extLst>
              <a:ext uri="{FF2B5EF4-FFF2-40B4-BE49-F238E27FC236}">
                <a16:creationId xmlns:a16="http://schemas.microsoft.com/office/drawing/2014/main" id="{8A9B5E46-3831-CE39-4E3C-B711DAEAA0E3}"/>
              </a:ext>
            </a:extLst>
          </p:cNvPr>
          <p:cNvSpPr/>
          <p:nvPr/>
        </p:nvSpPr>
        <p:spPr>
          <a:xfrm>
            <a:off x="7616361" y="3635116"/>
            <a:ext cx="832040" cy="739423"/>
          </a:xfrm>
          <a:prstGeom prst="ellipse">
            <a:avLst/>
          </a:prstGeom>
          <a:solidFill>
            <a:schemeClr val="lt2"/>
          </a:solidFill>
          <a:ln w="9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250" tIns="92250" rIns="92250" bIns="92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2"/>
              <a:buFont typeface="Arial"/>
              <a:buNone/>
            </a:pPr>
            <a:endParaRPr sz="141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806;g3663b9be120_0_418">
            <a:extLst>
              <a:ext uri="{FF2B5EF4-FFF2-40B4-BE49-F238E27FC236}">
                <a16:creationId xmlns:a16="http://schemas.microsoft.com/office/drawing/2014/main" id="{D24FEDC9-0566-D378-FE5D-F4D0E03E7DE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3330" y="4090558"/>
            <a:ext cx="283980" cy="2839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Google Shape;807;g3663b9be120_0_418">
            <a:extLst>
              <a:ext uri="{FF2B5EF4-FFF2-40B4-BE49-F238E27FC236}">
                <a16:creationId xmlns:a16="http://schemas.microsoft.com/office/drawing/2014/main" id="{21067683-9068-BB34-9A85-98F25CFA7CAA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5957667" y="3227689"/>
            <a:ext cx="0" cy="582143"/>
          </a:xfrm>
          <a:prstGeom prst="straightConnector1">
            <a:avLst/>
          </a:prstGeom>
          <a:noFill/>
          <a:ln w="9600" cap="flat" cmpd="sng">
            <a:solidFill>
              <a:schemeClr val="dk2"/>
            </a:solidFill>
            <a:prstDash val="dot"/>
            <a:round/>
            <a:headEnd type="none" w="sm" len="sm"/>
            <a:tailEnd type="triangle" w="med" len="med"/>
          </a:ln>
        </p:spPr>
      </p:cxnSp>
      <p:cxnSp>
        <p:nvCxnSpPr>
          <p:cNvPr id="13" name="Google Shape;808;g3663b9be120_0_418">
            <a:extLst>
              <a:ext uri="{FF2B5EF4-FFF2-40B4-BE49-F238E27FC236}">
                <a16:creationId xmlns:a16="http://schemas.microsoft.com/office/drawing/2014/main" id="{E66F6718-4869-8934-7E4A-861A2341DA1F}"/>
              </a:ext>
            </a:extLst>
          </p:cNvPr>
          <p:cNvCxnSpPr>
            <a:cxnSpLocks/>
          </p:cNvCxnSpPr>
          <p:nvPr/>
        </p:nvCxnSpPr>
        <p:spPr>
          <a:xfrm flipH="1" flipV="1">
            <a:off x="7874879" y="3264475"/>
            <a:ext cx="16560" cy="582145"/>
          </a:xfrm>
          <a:prstGeom prst="straightConnector1">
            <a:avLst/>
          </a:prstGeom>
          <a:noFill/>
          <a:ln w="9600" cap="flat" cmpd="sng">
            <a:solidFill>
              <a:schemeClr val="dk2"/>
            </a:solidFill>
            <a:prstDash val="dot"/>
            <a:round/>
            <a:headEnd type="none" w="sm" len="sm"/>
            <a:tailEnd type="triangle" w="med" len="med"/>
          </a:ln>
        </p:spPr>
      </p:cxnSp>
      <p:pic>
        <p:nvPicPr>
          <p:cNvPr id="15" name="Google Shape;812;g3663b9be120_0_418">
            <a:extLst>
              <a:ext uri="{FF2B5EF4-FFF2-40B4-BE49-F238E27FC236}">
                <a16:creationId xmlns:a16="http://schemas.microsoft.com/office/drawing/2014/main" id="{22C42D22-4221-454E-F74C-AF39BD6769E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9806" y="2577566"/>
            <a:ext cx="283980" cy="2839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813;g3663b9be120_0_418">
            <a:extLst>
              <a:ext uri="{FF2B5EF4-FFF2-40B4-BE49-F238E27FC236}">
                <a16:creationId xmlns:a16="http://schemas.microsoft.com/office/drawing/2014/main" id="{2D087CAC-6DB8-F1F5-D2F6-92DE584898BC}"/>
              </a:ext>
            </a:extLst>
          </p:cNvPr>
          <p:cNvCxnSpPr>
            <a:cxnSpLocks/>
          </p:cNvCxnSpPr>
          <p:nvPr/>
        </p:nvCxnSpPr>
        <p:spPr>
          <a:xfrm flipH="1" flipV="1">
            <a:off x="6922284" y="3250616"/>
            <a:ext cx="13197" cy="582144"/>
          </a:xfrm>
          <a:prstGeom prst="straightConnector1">
            <a:avLst/>
          </a:prstGeom>
          <a:noFill/>
          <a:ln w="9600" cap="flat" cmpd="sng">
            <a:solidFill>
              <a:schemeClr val="dk2"/>
            </a:solidFill>
            <a:prstDash val="dot"/>
            <a:round/>
            <a:headEnd type="none" w="sm" len="sm"/>
            <a:tailEnd type="triangle" w="med" len="med"/>
          </a:ln>
        </p:spPr>
      </p:cxnSp>
      <p:pic>
        <p:nvPicPr>
          <p:cNvPr id="17" name="Google Shape;814;g3663b9be120_0_418">
            <a:extLst>
              <a:ext uri="{FF2B5EF4-FFF2-40B4-BE49-F238E27FC236}">
                <a16:creationId xmlns:a16="http://schemas.microsoft.com/office/drawing/2014/main" id="{BBE1C3BA-1FAF-103C-272F-E6C57B2BD67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03857" y="3809832"/>
            <a:ext cx="390142" cy="39014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817;g3663b9be120_0_418">
            <a:extLst>
              <a:ext uri="{FF2B5EF4-FFF2-40B4-BE49-F238E27FC236}">
                <a16:creationId xmlns:a16="http://schemas.microsoft.com/office/drawing/2014/main" id="{E9D2E4B5-AF29-5A80-77E5-AE3DA06F93D1}"/>
              </a:ext>
            </a:extLst>
          </p:cNvPr>
          <p:cNvCxnSpPr>
            <a:stCxn id="6" idx="2"/>
          </p:cNvCxnSpPr>
          <p:nvPr/>
        </p:nvCxnSpPr>
        <p:spPr>
          <a:xfrm>
            <a:off x="7311270" y="2097585"/>
            <a:ext cx="0" cy="385299"/>
          </a:xfrm>
          <a:prstGeom prst="straightConnector1">
            <a:avLst/>
          </a:prstGeom>
          <a:noFill/>
          <a:ln w="96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1" name="Google Shape;810;g3663b9be120_0_418">
            <a:extLst>
              <a:ext uri="{FF2B5EF4-FFF2-40B4-BE49-F238E27FC236}">
                <a16:creationId xmlns:a16="http://schemas.microsoft.com/office/drawing/2014/main" id="{93B6F5C5-53A3-D4C6-61EB-3F10476CD67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16236" y="2460625"/>
            <a:ext cx="390116" cy="390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818;g3663b9be120_0_418">
            <a:extLst>
              <a:ext uri="{FF2B5EF4-FFF2-40B4-BE49-F238E27FC236}">
                <a16:creationId xmlns:a16="http://schemas.microsoft.com/office/drawing/2014/main" id="{EBEB9809-FCCC-9C45-17F9-1434BF80D10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23982" y="2192906"/>
            <a:ext cx="230937" cy="2309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819;g3663b9be120_0_418">
            <a:extLst>
              <a:ext uri="{FF2B5EF4-FFF2-40B4-BE49-F238E27FC236}">
                <a16:creationId xmlns:a16="http://schemas.microsoft.com/office/drawing/2014/main" id="{390D52E8-DE56-D36F-D370-4E9F38B4259D}"/>
              </a:ext>
            </a:extLst>
          </p:cNvPr>
          <p:cNvCxnSpPr>
            <a:stCxn id="15" idx="0"/>
            <a:endCxn id="6" idx="1"/>
          </p:cNvCxnSpPr>
          <p:nvPr/>
        </p:nvCxnSpPr>
        <p:spPr>
          <a:xfrm rot="5400000" flipH="1" flipV="1">
            <a:off x="6648430" y="2109798"/>
            <a:ext cx="731135" cy="204403"/>
          </a:xfrm>
          <a:prstGeom prst="bentConnector2">
            <a:avLst/>
          </a:prstGeom>
          <a:noFill/>
          <a:ln w="9600" cap="flat" cmpd="sng">
            <a:solidFill>
              <a:schemeClr val="dk2"/>
            </a:solidFill>
            <a:prstDash val="dot"/>
            <a:round/>
            <a:headEnd type="none" w="sm" len="sm"/>
            <a:tailEnd type="triangle" w="med" len="med"/>
          </a:ln>
        </p:spPr>
      </p:cxnSp>
      <p:pic>
        <p:nvPicPr>
          <p:cNvPr id="24" name="Google Shape;811;g3663b9be120_0_418">
            <a:extLst>
              <a:ext uri="{FF2B5EF4-FFF2-40B4-BE49-F238E27FC236}">
                <a16:creationId xmlns:a16="http://schemas.microsoft.com/office/drawing/2014/main" id="{AD3B10EE-4AE4-8AF2-E8B9-90E79FE90E3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37310" y="3809756"/>
            <a:ext cx="390142" cy="390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820;g3663b9be120_0_418">
            <a:extLst>
              <a:ext uri="{FF2B5EF4-FFF2-40B4-BE49-F238E27FC236}">
                <a16:creationId xmlns:a16="http://schemas.microsoft.com/office/drawing/2014/main" id="{1C998D7A-06A5-C763-EFF9-3E65A96DF7F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66793" y="2411966"/>
            <a:ext cx="640576" cy="185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821;g3663b9be120_0_418">
            <a:extLst>
              <a:ext uri="{FF2B5EF4-FFF2-40B4-BE49-F238E27FC236}">
                <a16:creationId xmlns:a16="http://schemas.microsoft.com/office/drawing/2014/main" id="{350B6F70-A425-A9B2-C755-2AB8629EAA6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97722" y="4090624"/>
            <a:ext cx="230938" cy="266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822;g3663b9be120_0_418">
            <a:extLst>
              <a:ext uri="{FF2B5EF4-FFF2-40B4-BE49-F238E27FC236}">
                <a16:creationId xmlns:a16="http://schemas.microsoft.com/office/drawing/2014/main" id="{ACC2AB6B-B7F1-D809-D7BF-1451A4CA68B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71655" y="4090624"/>
            <a:ext cx="230938" cy="266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823;g3663b9be120_0_418">
            <a:extLst>
              <a:ext uri="{FF2B5EF4-FFF2-40B4-BE49-F238E27FC236}">
                <a16:creationId xmlns:a16="http://schemas.microsoft.com/office/drawing/2014/main" id="{A63AFE00-A0C1-DBA5-A3B2-48F881AD3DC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01547" y="2818693"/>
            <a:ext cx="166215" cy="128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824;g3663b9be120_0_418">
            <a:extLst>
              <a:ext uri="{FF2B5EF4-FFF2-40B4-BE49-F238E27FC236}">
                <a16:creationId xmlns:a16="http://schemas.microsoft.com/office/drawing/2014/main" id="{41004848-F561-59A7-11AB-AC30D16B0304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 t="19944" r="70409" b="21910"/>
          <a:stretch/>
        </p:blipFill>
        <p:spPr>
          <a:xfrm>
            <a:off x="7172425" y="4120575"/>
            <a:ext cx="249561" cy="25417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5373154-E16A-29F1-4E2B-AC4BDB8C8F55}"/>
              </a:ext>
            </a:extLst>
          </p:cNvPr>
          <p:cNvSpPr txBox="1"/>
          <p:nvPr/>
        </p:nvSpPr>
        <p:spPr>
          <a:xfrm>
            <a:off x="5547851" y="2981163"/>
            <a:ext cx="291618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NL" sz="1200" i="1" dirty="0"/>
              <a:t>only summary statistics, no data sharing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60"/>
          <p:cNvSpPr txBox="1">
            <a:spLocks noGrp="1"/>
          </p:cNvSpPr>
          <p:nvPr>
            <p:ph type="title"/>
          </p:nvPr>
        </p:nvSpPr>
        <p:spPr>
          <a:xfrm>
            <a:off x="628650" y="832900"/>
            <a:ext cx="790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FAIR RESEARCH FEDERATIONS · MAKE INTEROPERABLE</a:t>
            </a:r>
          </a:p>
          <a:p>
            <a:pPr marL="0" lvl="0" indent="0" algn="l" rtl="0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dirty="0"/>
              <a:t>Data </a:t>
            </a:r>
            <a:r>
              <a:rPr lang="en" dirty="0" err="1"/>
              <a:t>harmoni</a:t>
            </a:r>
            <a:r>
              <a:rPr lang="en-GB" dirty="0"/>
              <a:t>s</a:t>
            </a:r>
            <a:r>
              <a:rPr lang="en" dirty="0" err="1"/>
              <a:t>ation</a:t>
            </a:r>
            <a:endParaRPr lang="en" dirty="0"/>
          </a:p>
        </p:txBody>
      </p:sp>
      <p:sp>
        <p:nvSpPr>
          <p:cNvPr id="940" name="bullets"/>
          <p:cNvSpPr txBox="1"/>
          <p:nvPr/>
        </p:nvSpPr>
        <p:spPr>
          <a:xfrm>
            <a:off x="608650" y="1547446"/>
            <a:ext cx="4323835" cy="293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-US" sz="1200" dirty="0">
                <a:solidFill>
                  <a:srgbClr val="333333"/>
                </a:solidFill>
              </a:rPr>
              <a:t>Metadata integration aiming to enable pooled analysis</a:t>
            </a:r>
            <a:r>
              <a:rPr lang="en" sz="1200" dirty="0">
                <a:solidFill>
                  <a:srgbClr val="333333"/>
                </a:solidFill>
              </a:rPr>
              <a:t> to </a:t>
            </a:r>
            <a:r>
              <a:rPr lang="en" sz="1200" dirty="0" err="1">
                <a:solidFill>
                  <a:srgbClr val="333333"/>
                </a:solidFill>
              </a:rPr>
              <a:t>i</a:t>
            </a:r>
            <a:r>
              <a:rPr lang="en-GB" sz="1200" dirty="0" err="1">
                <a:solidFill>
                  <a:srgbClr val="333333"/>
                </a:solidFill>
              </a:rPr>
              <a:t>ncrease</a:t>
            </a:r>
            <a:r>
              <a:rPr lang="en-GB" sz="1200" dirty="0">
                <a:solidFill>
                  <a:srgbClr val="333333"/>
                </a:solidFill>
              </a:rPr>
              <a:t> statistical power </a:t>
            </a:r>
            <a:r>
              <a:rPr lang="en" sz="1200" dirty="0">
                <a:solidFill>
                  <a:srgbClr val="333333"/>
                </a:solidFill>
              </a:rPr>
              <a:t> · </a:t>
            </a:r>
            <a:r>
              <a:rPr lang="en-GB" sz="1200" dirty="0">
                <a:solidFill>
                  <a:srgbClr val="333333"/>
                </a:solidFill>
              </a:rPr>
              <a:t>replication across settings </a:t>
            </a:r>
            <a:r>
              <a:rPr lang="en" sz="1200" dirty="0">
                <a:solidFill>
                  <a:srgbClr val="333333"/>
                </a:solidFill>
              </a:rPr>
              <a:t> · </a:t>
            </a:r>
            <a:r>
              <a:rPr lang="en-GB" sz="1200" dirty="0">
                <a:solidFill>
                  <a:srgbClr val="333333"/>
                </a:solidFill>
              </a:rPr>
              <a:t> extended coverage of the life-course:</a:t>
            </a:r>
            <a:endParaRPr lang="en" sz="1200" dirty="0">
              <a:solidFill>
                <a:srgbClr val="333333"/>
              </a:solidFill>
            </a:endParaRP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sz="1200" dirty="0">
                <a:solidFill>
                  <a:srgbClr val="333333"/>
                </a:solidFill>
              </a:rPr>
              <a:t>Map </a:t>
            </a:r>
            <a:r>
              <a:rPr lang="en" sz="1200" dirty="0" err="1">
                <a:solidFill>
                  <a:srgbClr val="333333"/>
                </a:solidFill>
              </a:rPr>
              <a:t>collec</a:t>
            </a:r>
            <a:r>
              <a:rPr lang="en-GB" sz="1200" dirty="0">
                <a:solidFill>
                  <a:srgbClr val="333333"/>
                </a:solidFill>
              </a:rPr>
              <a:t>t</a:t>
            </a:r>
            <a:r>
              <a:rPr lang="en" sz="1200" dirty="0">
                <a:solidFill>
                  <a:srgbClr val="333333"/>
                </a:solidFill>
              </a:rPr>
              <a:t>ed onto harmonized* / standard variables (aka transform to common data elements)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sz="1200" dirty="0">
                <a:solidFill>
                  <a:srgbClr val="333333"/>
                </a:solidFill>
              </a:rPr>
              <a:t>Done alone: slow, costly, never complete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sz="1200" dirty="0">
                <a:solidFill>
                  <a:srgbClr val="333333"/>
                </a:solidFill>
              </a:rPr>
              <a:t>Done together by a consortium: driven by research, results roll over to the next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sz="1200" dirty="0">
                <a:solidFill>
                  <a:srgbClr val="333333"/>
                </a:solidFill>
              </a:rPr>
              <a:t>Example: </a:t>
            </a:r>
            <a:r>
              <a:rPr lang="en" sz="1200" dirty="0" err="1">
                <a:solidFill>
                  <a:srgbClr val="333333"/>
                </a:solidFill>
              </a:rPr>
              <a:t>LifeCycle</a:t>
            </a:r>
            <a:r>
              <a:rPr lang="en" sz="1200" dirty="0">
                <a:solidFill>
                  <a:srgbClr val="333333"/>
                </a:solidFill>
              </a:rPr>
              <a:t> → ATHLETE → STAGE</a:t>
            </a:r>
          </a:p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sz="1200" dirty="0">
                <a:solidFill>
                  <a:srgbClr val="333333"/>
                </a:solidFill>
              </a:rPr>
              <a:t>Example: used MOLGENIS data catalogue to document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90153-A44C-3C81-4F66-D531C2476321}"/>
              </a:ext>
            </a:extLst>
          </p:cNvPr>
          <p:cNvSpPr txBox="1"/>
          <p:nvPr/>
        </p:nvSpPr>
        <p:spPr>
          <a:xfrm>
            <a:off x="-594987" y="4664666"/>
            <a:ext cx="67349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L" sz="1000" i="1" dirty="0"/>
              <a:t>*Fortier et al. Life course of retrospective harmonization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7FDD03-CA3F-CBB8-95AF-55EE7E030C2F}"/>
              </a:ext>
            </a:extLst>
          </p:cNvPr>
          <p:cNvSpPr txBox="1"/>
          <p:nvPr/>
        </p:nvSpPr>
        <p:spPr>
          <a:xfrm>
            <a:off x="4833648" y="1279494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000">
                <a:hlinkClick r:id="rId3"/>
              </a:rPr>
              <a:t>https://molgeniscatalogue.org/</a:t>
            </a:r>
            <a:endParaRPr lang="en-NL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6B10ED-5D24-C67C-0745-F106BBFB4E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18" r="12135" b="54515"/>
          <a:stretch>
            <a:fillRect/>
          </a:stretch>
        </p:blipFill>
        <p:spPr>
          <a:xfrm>
            <a:off x="4932485" y="1503984"/>
            <a:ext cx="3662875" cy="31606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60"/>
          <p:cNvSpPr txBox="1">
            <a:spLocks noGrp="1"/>
          </p:cNvSpPr>
          <p:nvPr>
            <p:ph type="title"/>
          </p:nvPr>
        </p:nvSpPr>
        <p:spPr>
          <a:xfrm>
            <a:off x="628650" y="832900"/>
            <a:ext cx="790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FAIR RESEARCH FEDERATIONS</a:t>
            </a:r>
          </a:p>
          <a:p>
            <a:pPr marL="0" lvl="0" indent="0" algn="l" rtl="0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Multi-centre access requesting</a:t>
            </a:r>
          </a:p>
        </p:txBody>
      </p:sp>
      <p:sp>
        <p:nvSpPr>
          <p:cNvPr id="940" name="bullets"/>
          <p:cNvSpPr txBox="1"/>
          <p:nvPr/>
        </p:nvSpPr>
        <p:spPr>
          <a:xfrm>
            <a:off x="628650" y="1632857"/>
            <a:ext cx="4520000" cy="308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 algn="l" rtl="0"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dirty="0">
                <a:solidFill>
                  <a:srgbClr val="333333"/>
                </a:solidFill>
              </a:rPr>
              <a:t>One request — not twenty emails</a:t>
            </a:r>
          </a:p>
          <a:p>
            <a:pPr>
              <a:lnSpc>
                <a:spcPct val="112000"/>
              </a:lnSpc>
              <a:spcBef>
                <a:spcPts val="1100"/>
              </a:spcBef>
              <a:buSzPts val="1575"/>
            </a:pPr>
            <a:r>
              <a:rPr lang="en" dirty="0">
                <a:solidFill>
                  <a:srgbClr val="333333"/>
                </a:solidFill>
              </a:rPr>
              <a:t>BBMRI-ERIC Negotiator —</a:t>
            </a:r>
          </a:p>
          <a:p>
            <a:pPr marL="320040" lvl="0" indent="-32004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dirty="0">
                <a:solidFill>
                  <a:srgbClr val="333333"/>
                </a:solidFill>
              </a:rPr>
              <a:t>Modular, open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dirty="0">
                <a:solidFill>
                  <a:srgbClr val="333333"/>
                </a:solidFill>
              </a:rPr>
              <a:t>Each holder keeps its own yes/no · governance &amp; audit trail 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dirty="0">
                <a:solidFill>
                  <a:srgbClr val="333333"/>
                </a:solidFill>
              </a:rPr>
              <a:t>Prepare to interoperate with the EHDS DAAMS</a:t>
            </a:r>
          </a:p>
        </p:txBody>
      </p:sp>
      <p:sp>
        <p:nvSpPr>
          <p:cNvPr id="941" name="placeholder"/>
          <p:cNvSpPr/>
          <p:nvPr/>
        </p:nvSpPr>
        <p:spPr>
          <a:xfrm>
            <a:off x="5340000" y="1500000"/>
            <a:ext cx="3400000" cy="2980000"/>
          </a:xfrm>
          <a:prstGeom prst="roundRect">
            <a:avLst>
              <a:gd name="adj" fmla="val 3500"/>
            </a:avLst>
          </a:prstGeom>
          <a:solidFill>
            <a:srgbClr val="EAF2FF"/>
          </a:solidFill>
          <a:ln w="12700" cap="flat">
            <a:solidFill>
              <a:srgbClr val="017FFD"/>
            </a:solidFill>
            <a:prstDash val="dash"/>
          </a:ln>
        </p:spPr>
        <p:txBody>
          <a:bodyPr spcFirstLastPara="1" wrap="square" lIns="137160" tIns="91440" rIns="137160" bIns="91440" anchor="ctr" anchorCtr="0">
            <a:noAutofit/>
          </a:bodyPr>
          <a:lstStyle/>
          <a:p>
            <a:pPr algn="ctr" rtl="0">
              <a:buNone/>
            </a:pPr>
            <a:r>
              <a:rPr lang="en" sz="1150" i="1" dirty="0">
                <a:solidFill>
                  <a:srgbClr val="017FFD"/>
                </a:solidFill>
              </a:rPr>
              <a:t>Figure: one request fanning out to many holders, linked to EHDS DAAMS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9A6C94-089C-10A8-401A-4A00AF1FFDF5}"/>
              </a:ext>
            </a:extLst>
          </p:cNvPr>
          <p:cNvSpPr txBox="1"/>
          <p:nvPr/>
        </p:nvSpPr>
        <p:spPr>
          <a:xfrm>
            <a:off x="3664250" y="4720000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b="0" i="1" dirty="0">
                <a:solidFill>
                  <a:srgbClr val="333333"/>
                </a:solidFill>
              </a:rPr>
              <a:t>Reihs et al. 2021 — Negotiator</a:t>
            </a:r>
            <a:endParaRPr lang="en-NL" sz="1000" i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1" name="Google Shape;2901;p254"/>
          <p:cNvSpPr txBox="1">
            <a:spLocks noGrp="1"/>
          </p:cNvSpPr>
          <p:nvPr>
            <p:ph type="ctrTitle"/>
          </p:nvPr>
        </p:nvSpPr>
        <p:spPr>
          <a:xfrm>
            <a:off x="1142998" y="1708714"/>
            <a:ext cx="8001001" cy="831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622300" algn="l" rtl="0">
              <a:spcBef>
                <a:spcPts val="0"/>
              </a:spcBef>
              <a:spcAft>
                <a:spcPts val="0"/>
              </a:spcAft>
              <a:buSzPts val="6200"/>
              <a:buNone/>
            </a:pPr>
            <a:r>
              <a:rPr lang="en" sz="4800" dirty="0"/>
              <a:t>ACT3 — FROM TOOLS TO JOURNEYS</a:t>
            </a:r>
            <a:endParaRPr sz="1600" b="0" dirty="0"/>
          </a:p>
        </p:txBody>
      </p:sp>
      <p:sp>
        <p:nvSpPr>
          <p:cNvPr id="2902" name="Google Shape;2902;p254"/>
          <p:cNvSpPr txBox="1">
            <a:spLocks noGrp="1"/>
          </p:cNvSpPr>
          <p:nvPr>
            <p:ph type="subTitle" idx="1"/>
          </p:nvPr>
        </p:nvSpPr>
        <p:spPr>
          <a:xfrm>
            <a:off x="1142998" y="2456490"/>
            <a:ext cx="6858000" cy="590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indent="0" algn="l" rtl="0">
              <a:lnSpc>
                <a:spcPct val="90000"/>
              </a:lnSpc>
              <a:buNone/>
            </a:pPr>
            <a:r>
              <a:rPr lang="en-US" sz="1600" b="0" i="0" dirty="0">
                <a:solidFill>
                  <a:srgbClr val="FFFFFF"/>
                </a:solidFill>
                <a:effectLst/>
                <a:latin typeface="Oswald Medium" panose="00000600000000000000" pitchFamily="2" charset="77"/>
                <a:ea typeface="Oswald Medium" panose="00000600000000000000" pitchFamily="2" charset="77"/>
                <a:cs typeface="Oswald Medium" panose="00000600000000000000" pitchFamily="2" charset="77"/>
              </a:rPr>
              <a:t>From Data Discovery to Federated Analysis - Supporting the Research Journey</a:t>
            </a:r>
            <a:r>
              <a:rPr lang="en-NL" dirty="0"/>
              <a:t> 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A7881-6D06-B626-6BEA-8C99E4D514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0100" y="147575"/>
            <a:ext cx="6095998" cy="1028700"/>
          </a:xfrm>
          <a:prstGeom prst="rect">
            <a:avLst/>
          </a:prstGeom>
          <a:noFill/>
          <a:ln>
            <a:noFill/>
          </a:ln>
        </p:spPr>
        <p:txBody>
          <a:bodyPr vert="horz" wrap="square" lIns="45720" tIns="22860" rIns="45720" bIns="22860" anchor="ctr" anchorCtr="0" compatLnSpc="1">
            <a:normAutofit/>
          </a:bodyPr>
          <a:lstStyle/>
          <a:p>
            <a:pPr lvl="0"/>
            <a:r>
              <a:rPr lang="en-US"/>
              <a:t>Use case and pilot design</a:t>
            </a:r>
            <a:endParaRPr lang="-"/>
          </a:p>
        </p:txBody>
      </p:sp>
      <p:grpSp>
        <p:nvGrpSpPr>
          <p:cNvPr id="3" name="Group 32">
            <a:extLst>
              <a:ext uri="{FF2B5EF4-FFF2-40B4-BE49-F238E27FC236}">
                <a16:creationId xmlns:a16="http://schemas.microsoft.com/office/drawing/2014/main" id="{DD063D54-C4DD-FB95-EA0D-1084352B290B}"/>
              </a:ext>
            </a:extLst>
          </p:cNvPr>
          <p:cNvGrpSpPr/>
          <p:nvPr/>
        </p:nvGrpSpPr>
        <p:grpSpPr>
          <a:xfrm>
            <a:off x="101878" y="921089"/>
            <a:ext cx="8893588" cy="3878016"/>
            <a:chOff x="203755" y="1842177"/>
            <a:chExt cx="17787176" cy="7756032"/>
          </a:xfrm>
        </p:grpSpPr>
        <p:pic>
          <p:nvPicPr>
            <p:cNvPr id="4" name="Content Placeholder 4" descr="Shopping cart with solid fill">
              <a:extLst>
                <a:ext uri="{FF2B5EF4-FFF2-40B4-BE49-F238E27FC236}">
                  <a16:creationId xmlns:a16="http://schemas.microsoft.com/office/drawing/2014/main" id="{2E9EEE4D-3AD3-E779-11F4-2C1980E075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00014" y="5008872"/>
              <a:ext cx="1501719" cy="1501719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5" name="Graphic 34" descr="Programmer female with solid fill">
              <a:extLst>
                <a:ext uri="{FF2B5EF4-FFF2-40B4-BE49-F238E27FC236}">
                  <a16:creationId xmlns:a16="http://schemas.microsoft.com/office/drawing/2014/main" id="{1D7431F5-A5B9-2AC4-BE8D-F5B891622E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3755" y="4776880"/>
              <a:ext cx="1501719" cy="1501719"/>
            </a:xfrm>
            <a:prstGeom prst="rect">
              <a:avLst/>
            </a:prstGeom>
            <a:noFill/>
            <a:ln cap="flat">
              <a:noFill/>
            </a:ln>
          </p:spPr>
        </p:pic>
        <p:cxnSp>
          <p:nvCxnSpPr>
            <p:cNvPr id="6" name="Straight Arrow Connector 35">
              <a:extLst>
                <a:ext uri="{FF2B5EF4-FFF2-40B4-BE49-F238E27FC236}">
                  <a16:creationId xmlns:a16="http://schemas.microsoft.com/office/drawing/2014/main" id="{1473D1C2-7159-FFAC-C739-47B3489D2871}"/>
                </a:ext>
              </a:extLst>
            </p:cNvPr>
            <p:cNvCxnSpPr/>
            <p:nvPr/>
          </p:nvCxnSpPr>
          <p:spPr>
            <a:xfrm>
              <a:off x="1836965" y="6061420"/>
              <a:ext cx="1132567" cy="506047"/>
            </a:xfrm>
            <a:prstGeom prst="straightConnector1">
              <a:avLst/>
            </a:prstGeom>
            <a:noFill/>
            <a:ln w="76196" cap="flat">
              <a:solidFill>
                <a:srgbClr val="1CADE4"/>
              </a:solidFill>
              <a:prstDash val="solid"/>
              <a:tailEnd type="arrow"/>
            </a:ln>
          </p:spPr>
        </p:cxnSp>
        <p:grpSp>
          <p:nvGrpSpPr>
            <p:cNvPr id="7" name="Group 36">
              <a:extLst>
                <a:ext uri="{FF2B5EF4-FFF2-40B4-BE49-F238E27FC236}">
                  <a16:creationId xmlns:a16="http://schemas.microsoft.com/office/drawing/2014/main" id="{03E198AD-3453-0C77-EC44-3EFCCE8EFD1A}"/>
                </a:ext>
              </a:extLst>
            </p:cNvPr>
            <p:cNvGrpSpPr/>
            <p:nvPr/>
          </p:nvGrpSpPr>
          <p:grpSpPr>
            <a:xfrm>
              <a:off x="3434248" y="1842177"/>
              <a:ext cx="2790108" cy="3334387"/>
              <a:chOff x="3434248" y="1842177"/>
              <a:chExt cx="2790108" cy="3334387"/>
            </a:xfrm>
          </p:grpSpPr>
          <p:grpSp>
            <p:nvGrpSpPr>
              <p:cNvPr id="8" name="Group 53">
                <a:extLst>
                  <a:ext uri="{FF2B5EF4-FFF2-40B4-BE49-F238E27FC236}">
                    <a16:creationId xmlns:a16="http://schemas.microsoft.com/office/drawing/2014/main" id="{77EA4064-2A69-B29A-170D-6F96F5F97CF6}"/>
                  </a:ext>
                </a:extLst>
              </p:cNvPr>
              <p:cNvGrpSpPr/>
              <p:nvPr/>
            </p:nvGrpSpPr>
            <p:grpSpPr>
              <a:xfrm>
                <a:off x="3706218" y="2888745"/>
                <a:ext cx="2518138" cy="2287819"/>
                <a:chOff x="3706218" y="2888745"/>
                <a:chExt cx="2518138" cy="2287819"/>
              </a:xfrm>
            </p:grpSpPr>
            <p:pic>
              <p:nvPicPr>
                <p:cNvPr id="9" name="Picture 55">
                  <a:extLst>
                    <a:ext uri="{FF2B5EF4-FFF2-40B4-BE49-F238E27FC236}">
                      <a16:creationId xmlns:a16="http://schemas.microsoft.com/office/drawing/2014/main" id="{23CDC6AE-1965-44F2-AF60-24BFE4F603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06218" y="2888745"/>
                  <a:ext cx="2518138" cy="2287819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</p:pic>
            <p:sp>
              <p:nvSpPr>
                <p:cNvPr id="10" name="Rectangle 56">
                  <a:extLst>
                    <a:ext uri="{FF2B5EF4-FFF2-40B4-BE49-F238E27FC236}">
                      <a16:creationId xmlns:a16="http://schemas.microsoft.com/office/drawing/2014/main" id="{66CCE3BB-1E32-5923-E877-66350F779930}"/>
                    </a:ext>
                  </a:extLst>
                </p:cNvPr>
                <p:cNvSpPr/>
                <p:nvPr/>
              </p:nvSpPr>
              <p:spPr>
                <a:xfrm>
                  <a:off x="3706218" y="3588937"/>
                  <a:ext cx="2518138" cy="1139836"/>
                </a:xfrm>
                <a:prstGeom prst="rect">
                  <a:avLst/>
                </a:prstGeom>
                <a:noFill/>
                <a:ln w="28575" cap="flat">
                  <a:solidFill>
                    <a:srgbClr val="FF0000"/>
                  </a:solidFill>
                  <a:prstDash val="solid"/>
                </a:ln>
              </p:spPr>
              <p:txBody>
                <a:bodyPr vert="horz" wrap="square" lIns="45720" tIns="22860" rIns="45720" bIns="22860" anchor="ctr" anchorCtr="1" compatLnSpc="1">
                  <a:noAutofit/>
                </a:bodyPr>
                <a:lstStyle/>
                <a:p>
                  <a:pPr algn="ctr" defTabSz="228600">
                    <a:buClrTx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-" sz="900" kern="1200">
                    <a:solidFill>
                      <a:srgbClr val="FFFFFF"/>
                    </a:solidFill>
                    <a:latin typeface="Century Gothic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1" name="Picture 54">
                <a:extLst>
                  <a:ext uri="{FF2B5EF4-FFF2-40B4-BE49-F238E27FC236}">
                    <a16:creationId xmlns:a16="http://schemas.microsoft.com/office/drawing/2014/main" id="{99C4F0EE-7558-5DEE-0368-3AE6E9244C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>
              <a:xfrm>
                <a:off x="3434248" y="1842177"/>
                <a:ext cx="2688180" cy="774816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grpSp>
          <p:nvGrpSpPr>
            <p:cNvPr id="12" name="Group 37">
              <a:extLst>
                <a:ext uri="{FF2B5EF4-FFF2-40B4-BE49-F238E27FC236}">
                  <a16:creationId xmlns:a16="http://schemas.microsoft.com/office/drawing/2014/main" id="{D863F1CF-8916-DBA6-9504-5CC0A31B7640}"/>
                </a:ext>
              </a:extLst>
            </p:cNvPr>
            <p:cNvGrpSpPr/>
            <p:nvPr/>
          </p:nvGrpSpPr>
          <p:grpSpPr>
            <a:xfrm>
              <a:off x="2969532" y="6220297"/>
              <a:ext cx="3930914" cy="3215112"/>
              <a:chOff x="2969532" y="6220297"/>
              <a:chExt cx="3930914" cy="3215112"/>
            </a:xfrm>
          </p:grpSpPr>
          <p:pic>
            <p:nvPicPr>
              <p:cNvPr id="13" name="Picture 51">
                <a:extLst>
                  <a:ext uri="{FF2B5EF4-FFF2-40B4-BE49-F238E27FC236}">
                    <a16:creationId xmlns:a16="http://schemas.microsoft.com/office/drawing/2014/main" id="{EA0FF1E8-9F43-1E8C-4C93-A503A35448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69532" y="7147590"/>
                <a:ext cx="3930914" cy="2287819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4" name="Picture 52" descr="A black and white logo&#10;&#10;AI-generated content may be incorrect.">
                <a:extLst>
                  <a:ext uri="{FF2B5EF4-FFF2-40B4-BE49-F238E27FC236}">
                    <a16:creationId xmlns:a16="http://schemas.microsoft.com/office/drawing/2014/main" id="{746FE3C3-1673-5F30-87DF-6454BB796C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67871" y="6220297"/>
                <a:ext cx="2850943" cy="580579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pic>
          <p:nvPicPr>
            <p:cNvPr id="15" name="Picture 38">
              <a:extLst>
                <a:ext uri="{FF2B5EF4-FFF2-40B4-BE49-F238E27FC236}">
                  <a16:creationId xmlns:a16="http://schemas.microsoft.com/office/drawing/2014/main" id="{485DFB5E-E00D-ABBA-E7BF-514825E60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91425" y="7147590"/>
              <a:ext cx="3026252" cy="1767023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16" name="Group 39">
              <a:extLst>
                <a:ext uri="{FF2B5EF4-FFF2-40B4-BE49-F238E27FC236}">
                  <a16:creationId xmlns:a16="http://schemas.microsoft.com/office/drawing/2014/main" id="{14560157-CAA6-2881-3683-CD2413E8F75D}"/>
                </a:ext>
              </a:extLst>
            </p:cNvPr>
            <p:cNvGrpSpPr/>
            <p:nvPr/>
          </p:nvGrpSpPr>
          <p:grpSpPr>
            <a:xfrm>
              <a:off x="12709288" y="3649158"/>
              <a:ext cx="5281643" cy="3891851"/>
              <a:chOff x="12709288" y="3649158"/>
              <a:chExt cx="5281643" cy="3891851"/>
            </a:xfrm>
          </p:grpSpPr>
          <p:pic>
            <p:nvPicPr>
              <p:cNvPr id="17" name="Google Shape;649;p53">
                <a:extLst>
                  <a:ext uri="{FF2B5EF4-FFF2-40B4-BE49-F238E27FC236}">
                    <a16:creationId xmlns:a16="http://schemas.microsoft.com/office/drawing/2014/main" id="{5F6DC5D8-8FF0-ADB2-8693-713D4AE086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alphaModFix/>
              </a:blip>
              <a:srcRect/>
              <a:stretch>
                <a:fillRect/>
              </a:stretch>
            </p:blipFill>
            <p:spPr>
              <a:xfrm>
                <a:off x="12715114" y="4211460"/>
                <a:ext cx="5275817" cy="3329549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8" name="Picture 49" descr="A close-up of a logo&#10;&#10;AI-generated content may be incorrect.">
                <a:extLst>
                  <a:ext uri="{FF2B5EF4-FFF2-40B4-BE49-F238E27FC236}">
                    <a16:creationId xmlns:a16="http://schemas.microsoft.com/office/drawing/2014/main" id="{60B7253D-3855-DDB7-06EE-316DF93B45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15114" y="3649158"/>
                <a:ext cx="1619046" cy="466654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9" name="Picture 50" descr="A black and white logo&#10;&#10;AI-generated content may be incorrect.">
                <a:extLst>
                  <a:ext uri="{FF2B5EF4-FFF2-40B4-BE49-F238E27FC236}">
                    <a16:creationId xmlns:a16="http://schemas.microsoft.com/office/drawing/2014/main" id="{2FF524FD-CAA5-9A1A-E345-9A350CE48C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709288" y="4211458"/>
                <a:ext cx="2232776" cy="454694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cxnSp>
          <p:nvCxnSpPr>
            <p:cNvPr id="20" name="Straight Arrow Connector 40">
              <a:extLst>
                <a:ext uri="{FF2B5EF4-FFF2-40B4-BE49-F238E27FC236}">
                  <a16:creationId xmlns:a16="http://schemas.microsoft.com/office/drawing/2014/main" id="{E2271332-8C2B-380A-3A13-A26A30F71CA0}"/>
                </a:ext>
              </a:extLst>
            </p:cNvPr>
            <p:cNvCxnSpPr/>
            <p:nvPr/>
          </p:nvCxnSpPr>
          <p:spPr>
            <a:xfrm flipV="1">
              <a:off x="1836965" y="5038974"/>
              <a:ext cx="1132567" cy="479356"/>
            </a:xfrm>
            <a:prstGeom prst="straightConnector1">
              <a:avLst/>
            </a:prstGeom>
            <a:noFill/>
            <a:ln w="76196" cap="flat">
              <a:solidFill>
                <a:srgbClr val="1CADE4"/>
              </a:solidFill>
              <a:prstDash val="solid"/>
              <a:tailEnd type="arrow"/>
            </a:ln>
          </p:spPr>
        </p:cxnSp>
        <p:sp>
          <p:nvSpPr>
            <p:cNvPr id="21" name="TextBox 41">
              <a:extLst>
                <a:ext uri="{FF2B5EF4-FFF2-40B4-BE49-F238E27FC236}">
                  <a16:creationId xmlns:a16="http://schemas.microsoft.com/office/drawing/2014/main" id="{8E059FD0-7549-4BB5-5E74-94835D45D38C}"/>
                </a:ext>
              </a:extLst>
            </p:cNvPr>
            <p:cNvSpPr txBox="1"/>
            <p:nvPr/>
          </p:nvSpPr>
          <p:spPr>
            <a:xfrm>
              <a:off x="1105105" y="3615043"/>
              <a:ext cx="2438490" cy="1077218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45720" tIns="22860" rIns="45720" bIns="22860" anchor="t" anchorCtr="1" compatLnSpc="1">
              <a:spAutoFit/>
            </a:bodyPr>
            <a:lstStyle/>
            <a:p>
              <a:pPr algn="ctr" defTabSz="228600">
                <a:buClrTx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1" kern="1200" dirty="0">
                  <a:latin typeface="Century Gothic"/>
                  <a:ea typeface="+mn-ea"/>
                  <a:cs typeface="+mn-cs"/>
                </a:rPr>
                <a:t>Search</a:t>
              </a:r>
            </a:p>
            <a:p>
              <a:pPr algn="ctr" defTabSz="228600">
                <a:buClrTx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1" kern="1200" dirty="0">
                  <a:latin typeface="Century Gothic"/>
                  <a:ea typeface="+mn-ea"/>
                  <a:cs typeface="+mn-cs"/>
                </a:rPr>
                <a:t>catalogues</a:t>
              </a:r>
              <a:endParaRPr lang="-" sz="1600" b="1" kern="1200">
                <a:latin typeface="Century Gothic"/>
                <a:ea typeface="+mn-ea"/>
                <a:cs typeface="+mn-cs"/>
              </a:endParaRPr>
            </a:p>
          </p:txBody>
        </p:sp>
        <p:cxnSp>
          <p:nvCxnSpPr>
            <p:cNvPr id="22" name="Straight Arrow Connector 42">
              <a:extLst>
                <a:ext uri="{FF2B5EF4-FFF2-40B4-BE49-F238E27FC236}">
                  <a16:creationId xmlns:a16="http://schemas.microsoft.com/office/drawing/2014/main" id="{3B2D08AC-76EF-CF93-4F0D-F5179CBAE78F}"/>
                </a:ext>
              </a:extLst>
            </p:cNvPr>
            <p:cNvCxnSpPr/>
            <p:nvPr/>
          </p:nvCxnSpPr>
          <p:spPr>
            <a:xfrm>
              <a:off x="7005364" y="4995833"/>
              <a:ext cx="1262092" cy="410337"/>
            </a:xfrm>
            <a:prstGeom prst="straightConnector1">
              <a:avLst/>
            </a:prstGeom>
            <a:noFill/>
            <a:ln w="76196" cap="flat">
              <a:solidFill>
                <a:srgbClr val="1CADE4"/>
              </a:solidFill>
              <a:prstDash val="solid"/>
              <a:tailEnd type="arrow"/>
            </a:ln>
          </p:spPr>
        </p:cxnSp>
        <p:cxnSp>
          <p:nvCxnSpPr>
            <p:cNvPr id="23" name="Straight Arrow Connector 43">
              <a:extLst>
                <a:ext uri="{FF2B5EF4-FFF2-40B4-BE49-F238E27FC236}">
                  <a16:creationId xmlns:a16="http://schemas.microsoft.com/office/drawing/2014/main" id="{38A1A92B-CCE9-B3C5-36CD-2BDCF4423133}"/>
                </a:ext>
              </a:extLst>
            </p:cNvPr>
            <p:cNvCxnSpPr/>
            <p:nvPr/>
          </p:nvCxnSpPr>
          <p:spPr>
            <a:xfrm flipV="1">
              <a:off x="7005364" y="5986293"/>
              <a:ext cx="1193850" cy="581174"/>
            </a:xfrm>
            <a:prstGeom prst="straightConnector1">
              <a:avLst/>
            </a:prstGeom>
            <a:noFill/>
            <a:ln w="76196" cap="flat">
              <a:solidFill>
                <a:srgbClr val="1CADE4"/>
              </a:solidFill>
              <a:prstDash val="solid"/>
              <a:tailEnd type="arrow"/>
            </a:ln>
          </p:spPr>
        </p:cxnSp>
        <p:sp>
          <p:nvSpPr>
            <p:cNvPr id="24" name="TextBox 44">
              <a:extLst>
                <a:ext uri="{FF2B5EF4-FFF2-40B4-BE49-F238E27FC236}">
                  <a16:creationId xmlns:a16="http://schemas.microsoft.com/office/drawing/2014/main" id="{8E8FFD68-72AF-AB08-98D2-F2004A0D5CDF}"/>
                </a:ext>
              </a:extLst>
            </p:cNvPr>
            <p:cNvSpPr txBox="1"/>
            <p:nvPr/>
          </p:nvSpPr>
          <p:spPr>
            <a:xfrm>
              <a:off x="6546199" y="3588937"/>
              <a:ext cx="1653016" cy="1077218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45720" tIns="22860" rIns="45720" bIns="22860" anchor="t" anchorCtr="1" compatLnSpc="1">
              <a:spAutoFit/>
            </a:bodyPr>
            <a:lstStyle/>
            <a:p>
              <a:pPr algn="ctr" defTabSz="228600">
                <a:buClrTx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1" kern="1200" dirty="0">
                  <a:latin typeface="Century Gothic"/>
                  <a:ea typeface="+mn-ea"/>
                  <a:cs typeface="+mn-cs"/>
                </a:rPr>
                <a:t>Select</a:t>
              </a:r>
            </a:p>
            <a:p>
              <a:pPr algn="ctr" defTabSz="228600">
                <a:buClrTx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1" kern="1200" dirty="0">
                  <a:latin typeface="Century Gothic"/>
                  <a:ea typeface="+mn-ea"/>
                  <a:cs typeface="+mn-cs"/>
                </a:rPr>
                <a:t>cohorts</a:t>
              </a:r>
              <a:endParaRPr lang="-" sz="1600" b="1" kern="1200">
                <a:latin typeface="Century Gothic"/>
                <a:ea typeface="+mn-ea"/>
                <a:cs typeface="+mn-cs"/>
              </a:endParaRPr>
            </a:p>
          </p:txBody>
        </p:sp>
        <p:cxnSp>
          <p:nvCxnSpPr>
            <p:cNvPr id="25" name="Straight Arrow Connector 45">
              <a:extLst>
                <a:ext uri="{FF2B5EF4-FFF2-40B4-BE49-F238E27FC236}">
                  <a16:creationId xmlns:a16="http://schemas.microsoft.com/office/drawing/2014/main" id="{5548442C-4AFD-21EC-CBD1-EB2D42F0791D}"/>
                </a:ext>
              </a:extLst>
            </p:cNvPr>
            <p:cNvCxnSpPr/>
            <p:nvPr/>
          </p:nvCxnSpPr>
          <p:spPr>
            <a:xfrm>
              <a:off x="10454033" y="5759732"/>
              <a:ext cx="1488469" cy="0"/>
            </a:xfrm>
            <a:prstGeom prst="straightConnector1">
              <a:avLst/>
            </a:prstGeom>
            <a:noFill/>
            <a:ln w="76196" cap="flat">
              <a:solidFill>
                <a:srgbClr val="1CADE4"/>
              </a:solidFill>
              <a:prstDash val="solid"/>
              <a:headEnd type="arrow"/>
              <a:tailEnd type="arrow"/>
            </a:ln>
          </p:spPr>
        </p:cxnSp>
        <p:sp>
          <p:nvSpPr>
            <p:cNvPr id="26" name="TextBox 46">
              <a:extLst>
                <a:ext uri="{FF2B5EF4-FFF2-40B4-BE49-F238E27FC236}">
                  <a16:creationId xmlns:a16="http://schemas.microsoft.com/office/drawing/2014/main" id="{9EE9D59E-CA19-3C73-3695-B23A9CE8DC35}"/>
                </a:ext>
              </a:extLst>
            </p:cNvPr>
            <p:cNvSpPr txBox="1"/>
            <p:nvPr/>
          </p:nvSpPr>
          <p:spPr>
            <a:xfrm>
              <a:off x="9774699" y="4211461"/>
              <a:ext cx="2659702" cy="1077218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45720" tIns="22860" rIns="45720" bIns="22860" anchor="t" anchorCtr="1" compatLnSpc="1">
              <a:spAutoFit/>
            </a:bodyPr>
            <a:lstStyle/>
            <a:p>
              <a:pPr algn="ctr" defTabSz="228600">
                <a:buClrTx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1" kern="1200" dirty="0">
                  <a:latin typeface="Century Gothic"/>
                  <a:ea typeface="+mn-ea"/>
                  <a:cs typeface="+mn-cs"/>
                </a:rPr>
                <a:t>Negotiate</a:t>
              </a:r>
            </a:p>
            <a:p>
              <a:pPr algn="ctr" defTabSz="228600">
                <a:buClrTx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1" kern="1200" dirty="0">
                  <a:latin typeface="Century Gothic"/>
                  <a:ea typeface="+mn-ea"/>
                  <a:cs typeface="+mn-cs"/>
                </a:rPr>
                <a:t>data access</a:t>
              </a:r>
            </a:p>
          </p:txBody>
        </p:sp>
        <p:sp>
          <p:nvSpPr>
            <p:cNvPr id="27" name="TextBox 47">
              <a:extLst>
                <a:ext uri="{FF2B5EF4-FFF2-40B4-BE49-F238E27FC236}">
                  <a16:creationId xmlns:a16="http://schemas.microsoft.com/office/drawing/2014/main" id="{3FDCD03C-2586-6E9E-8012-7FD17B89E052}"/>
                </a:ext>
              </a:extLst>
            </p:cNvPr>
            <p:cNvSpPr txBox="1"/>
            <p:nvPr/>
          </p:nvSpPr>
          <p:spPr>
            <a:xfrm>
              <a:off x="9300211" y="9013433"/>
              <a:ext cx="3608680" cy="58477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45720" tIns="22860" rIns="45720" bIns="22860" anchor="t" anchorCtr="1" compatLnSpc="1">
              <a:spAutoFit/>
            </a:bodyPr>
            <a:lstStyle/>
            <a:p>
              <a:pPr algn="ctr" defTabSz="228600">
                <a:buClrTx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1" kern="1200" dirty="0">
                  <a:latin typeface="Century Gothic"/>
                  <a:ea typeface="+mn-ea"/>
                  <a:cs typeface="+mn-cs"/>
                </a:rPr>
                <a:t>BBMRI Negotiator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DA57C69-1752-7545-5241-9C759EBD7ED0}"/>
              </a:ext>
            </a:extLst>
          </p:cNvPr>
          <p:cNvGrpSpPr/>
          <p:nvPr/>
        </p:nvGrpSpPr>
        <p:grpSpPr>
          <a:xfrm>
            <a:off x="2019398" y="1754967"/>
            <a:ext cx="5105205" cy="1906528"/>
            <a:chOff x="4038795" y="3509933"/>
            <a:chExt cx="10210409" cy="3813056"/>
          </a:xfrm>
        </p:grpSpPr>
        <p:pic>
          <p:nvPicPr>
            <p:cNvPr id="3" name="Graphic 3" descr="Programmer female with solid fill">
              <a:extLst>
                <a:ext uri="{FF2B5EF4-FFF2-40B4-BE49-F238E27FC236}">
                  <a16:creationId xmlns:a16="http://schemas.microsoft.com/office/drawing/2014/main" id="{93174961-FA83-AEE3-4710-FB919C3328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038795" y="4665597"/>
              <a:ext cx="1501719" cy="1501719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D57452C-ED9C-2984-2FB6-78329CE01DE7}"/>
                </a:ext>
              </a:extLst>
            </p:cNvPr>
            <p:cNvGrpSpPr/>
            <p:nvPr/>
          </p:nvGrpSpPr>
          <p:grpSpPr>
            <a:xfrm>
              <a:off x="8799737" y="3509933"/>
              <a:ext cx="5449467" cy="3813056"/>
              <a:chOff x="8799737" y="3509933"/>
              <a:chExt cx="5449467" cy="3813056"/>
            </a:xfrm>
          </p:grpSpPr>
          <p:pic>
            <p:nvPicPr>
              <p:cNvPr id="5" name="Google Shape;649;p53">
                <a:extLst>
                  <a:ext uri="{FF2B5EF4-FFF2-40B4-BE49-F238E27FC236}">
                    <a16:creationId xmlns:a16="http://schemas.microsoft.com/office/drawing/2014/main" id="{D7FA402C-C555-18F2-E4A7-CDBABBF3D7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rcRect/>
              <a:stretch>
                <a:fillRect/>
              </a:stretch>
            </p:blipFill>
            <p:spPr>
              <a:xfrm>
                <a:off x="8799737" y="3883849"/>
                <a:ext cx="5449467" cy="3439140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6" name="Picture 6" descr="A close-up of a logo&#10;&#10;AI-generated content may be incorrect.">
                <a:extLst>
                  <a:ext uri="{FF2B5EF4-FFF2-40B4-BE49-F238E27FC236}">
                    <a16:creationId xmlns:a16="http://schemas.microsoft.com/office/drawing/2014/main" id="{7C615067-76A5-FBF6-2065-7F92B6F9FA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9737" y="3509933"/>
                <a:ext cx="1619045" cy="466654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7" name="Picture 7" descr="A black and white logo&#10;&#10;AI-generated content may be incorrect.">
                <a:extLst>
                  <a:ext uri="{FF2B5EF4-FFF2-40B4-BE49-F238E27FC236}">
                    <a16:creationId xmlns:a16="http://schemas.microsoft.com/office/drawing/2014/main" id="{7A608B98-56C6-FBA9-35B0-F8BCF862BB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99737" y="3976597"/>
                <a:ext cx="1779724" cy="362431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cxnSp>
          <p:nvCxnSpPr>
            <p:cNvPr id="8" name="Straight Arrow Connector 8">
              <a:extLst>
                <a:ext uri="{FF2B5EF4-FFF2-40B4-BE49-F238E27FC236}">
                  <a16:creationId xmlns:a16="http://schemas.microsoft.com/office/drawing/2014/main" id="{C3014EEE-03A7-715D-6957-19DEFD3C5BEB}"/>
                </a:ext>
              </a:extLst>
            </p:cNvPr>
            <p:cNvCxnSpPr/>
            <p:nvPr/>
          </p:nvCxnSpPr>
          <p:spPr>
            <a:xfrm>
              <a:off x="6329495" y="5603415"/>
              <a:ext cx="1978926" cy="0"/>
            </a:xfrm>
            <a:prstGeom prst="straightConnector1">
              <a:avLst/>
            </a:prstGeom>
            <a:noFill/>
            <a:ln w="76196" cap="flat">
              <a:solidFill>
                <a:srgbClr val="1CADE4"/>
              </a:solidFill>
              <a:prstDash val="solid"/>
              <a:tailEnd type="arrow"/>
            </a:ln>
          </p:spPr>
        </p:cxn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DF598EC1-8DF4-46B1-B04B-B00C2A5704E9}"/>
                </a:ext>
              </a:extLst>
            </p:cNvPr>
            <p:cNvSpPr txBox="1"/>
            <p:nvPr/>
          </p:nvSpPr>
          <p:spPr>
            <a:xfrm>
              <a:off x="5735827" y="4789051"/>
              <a:ext cx="3166252" cy="64633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45720" tIns="22860" rIns="45720" bIns="22860" anchor="t" anchorCtr="1" compatLnSpc="1">
              <a:spAutoFit/>
            </a:bodyPr>
            <a:lstStyle/>
            <a:p>
              <a:pPr algn="ctr" defTabSz="228600">
                <a:buClrTx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b="1" kern="1200">
                  <a:latin typeface="Century Gothic"/>
                  <a:ea typeface="+mn-ea"/>
                  <a:cs typeface="+mn-cs"/>
                </a:rPr>
                <a:t>Analyse data</a:t>
              </a:r>
            </a:p>
          </p:txBody>
        </p:sp>
        <p:pic>
          <p:nvPicPr>
            <p:cNvPr id="10" name="Google Shape;642;p52">
              <a:extLst>
                <a:ext uri="{FF2B5EF4-FFF2-40B4-BE49-F238E27FC236}">
                  <a16:creationId xmlns:a16="http://schemas.microsoft.com/office/drawing/2014/main" id="{A312A779-D386-CD39-7F01-B70EDC07C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066047" y="6083868"/>
              <a:ext cx="2505812" cy="668243"/>
            </a:xfrm>
            <a:prstGeom prst="rect">
              <a:avLst/>
            </a:prstGeom>
            <a:noFill/>
            <a:ln cap="flat">
              <a:noFill/>
            </a:ln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6C8CF5B4-BF13-BA10-F23F-59E8D11645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0100" y="147575"/>
            <a:ext cx="6095998" cy="1028700"/>
          </a:xfrm>
          <a:prstGeom prst="rect">
            <a:avLst/>
          </a:prstGeom>
          <a:noFill/>
          <a:ln>
            <a:noFill/>
          </a:ln>
        </p:spPr>
        <p:txBody>
          <a:bodyPr vert="horz" wrap="square" lIns="45720" tIns="22860" rIns="45720" bIns="22860" anchor="ctr" anchorCtr="0" compatLnSpc="1">
            <a:normAutofit/>
          </a:bodyPr>
          <a:lstStyle/>
          <a:p>
            <a:pPr lvl="0"/>
            <a:r>
              <a:rPr lang="en-US"/>
              <a:t>Use case and pilot design</a:t>
            </a:r>
            <a:endParaRPr lang="-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8" name="Google Shape;3868;p3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0423" y="1792602"/>
            <a:ext cx="5167655" cy="3047599"/>
          </a:xfrm>
          <a:prstGeom prst="rect">
            <a:avLst/>
          </a:prstGeom>
          <a:noFill/>
          <a:ln>
            <a:noFill/>
          </a:ln>
        </p:spPr>
      </p:pic>
      <p:sp>
        <p:nvSpPr>
          <p:cNvPr id="3867" name="Google Shape;3867;p305"/>
          <p:cNvSpPr txBox="1">
            <a:spLocks noGrp="1"/>
          </p:cNvSpPr>
          <p:nvPr>
            <p:ph type="title"/>
          </p:nvPr>
        </p:nvSpPr>
        <p:spPr>
          <a:xfrm>
            <a:off x="628650" y="832899"/>
            <a:ext cx="2741100" cy="994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Operating </a:t>
            </a:r>
            <a:r>
              <a:rPr lang="en" dirty="0" err="1"/>
              <a:t>DataSHIELD</a:t>
            </a:r>
            <a:r>
              <a:rPr lang="en" dirty="0"/>
              <a:t> was hard (getting it installed in all centers)</a:t>
            </a:r>
            <a:endParaRPr dirty="0"/>
          </a:p>
        </p:txBody>
      </p:sp>
      <p:pic>
        <p:nvPicPr>
          <p:cNvPr id="3869" name="Google Shape;3869;p3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9756" y="473029"/>
            <a:ext cx="5505070" cy="1475724"/>
          </a:xfrm>
          <a:prstGeom prst="rect">
            <a:avLst/>
          </a:prstGeom>
          <a:noFill/>
          <a:ln>
            <a:noFill/>
          </a:ln>
        </p:spPr>
      </p:pic>
      <p:sp>
        <p:nvSpPr>
          <p:cNvPr id="3870" name="Google Shape;3870;p305"/>
          <p:cNvSpPr txBox="1">
            <a:spLocks noGrp="1"/>
          </p:cNvSpPr>
          <p:nvPr>
            <p:ph type="body" idx="1"/>
          </p:nvPr>
        </p:nvSpPr>
        <p:spPr>
          <a:xfrm>
            <a:off x="628650" y="3028883"/>
            <a:ext cx="2741100" cy="1530504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 dirty="0"/>
              <a:t>Currently we operate </a:t>
            </a:r>
            <a:r>
              <a:rPr lang="en" sz="1400" b="1" u="sng" dirty="0"/>
              <a:t>22 </a:t>
            </a:r>
            <a:r>
              <a:rPr lang="en" sz="1400" b="1" u="sng" dirty="0" err="1"/>
              <a:t>datashield</a:t>
            </a:r>
            <a:r>
              <a:rPr lang="en" sz="1400" b="1" u="sng" dirty="0"/>
              <a:t> servers </a:t>
            </a:r>
            <a:r>
              <a:rPr lang="en" sz="1400" dirty="0"/>
              <a:t>in 4 networks</a:t>
            </a:r>
            <a:endParaRPr sz="1400"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 dirty="0"/>
              <a:t>(more and more ‘hosted’)</a:t>
            </a:r>
            <a:endParaRPr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663b9be120_0_418"/>
          <p:cNvSpPr txBox="1">
            <a:spLocks noGrp="1"/>
          </p:cNvSpPr>
          <p:nvPr>
            <p:ph type="body" idx="1"/>
          </p:nvPr>
        </p:nvSpPr>
        <p:spPr>
          <a:xfrm>
            <a:off x="626775" y="2070025"/>
            <a:ext cx="3945300" cy="25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l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 disclosure controls:</a:t>
            </a:r>
            <a:endParaRPr sz="1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nl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Not returning cells with small N</a:t>
            </a:r>
            <a:endParaRPr sz="1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nl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Not running models with too many parameters</a:t>
            </a:r>
            <a:endParaRPr sz="1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nl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Anonymising graphs</a:t>
            </a:r>
            <a:endParaRPr sz="1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l" sz="1800" u="sng" dirty="0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https://wiki.datashield.org/en/opmanag/disclosure-control</a:t>
            </a:r>
            <a:endParaRPr sz="1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94" name="Google Shape;794;g3663b9be120_0_418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8028950" y="4735186"/>
            <a:ext cx="1045601" cy="3406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g3663b9be120_0_418"/>
          <p:cNvSpPr txBox="1">
            <a:spLocks noGrp="1"/>
          </p:cNvSpPr>
          <p:nvPr>
            <p:ph type="title"/>
          </p:nvPr>
        </p:nvSpPr>
        <p:spPr>
          <a:xfrm>
            <a:off x="569750" y="832900"/>
            <a:ext cx="47712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3000"/>
              <a:buFont typeface="Bebas Neue"/>
              <a:buNone/>
            </a:pPr>
            <a:r>
              <a:rPr lang="nl" sz="3600" b="1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rPr>
              <a:t>Datashield</a:t>
            </a:r>
            <a:endParaRPr sz="3600" b="1">
              <a:solidFill>
                <a:schemeClr val="accen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BFF"/>
              </a:buClr>
              <a:buSzPts val="3000"/>
              <a:buFont typeface="Bebas Neue"/>
              <a:buNone/>
            </a:pPr>
            <a:r>
              <a:rPr lang="nl" sz="1800">
                <a:solidFill>
                  <a:schemeClr val="accent1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Privacy controls</a:t>
            </a:r>
            <a:endParaRPr sz="1800">
              <a:solidFill>
                <a:schemeClr val="accen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797" name="Google Shape;797;g3663b9be120_0_418"/>
          <p:cNvGrpSpPr/>
          <p:nvPr/>
        </p:nvGrpSpPr>
        <p:grpSpPr>
          <a:xfrm>
            <a:off x="5486410" y="2070061"/>
            <a:ext cx="3042250" cy="2304554"/>
            <a:chOff x="5432638" y="1133514"/>
            <a:chExt cx="3015413" cy="2284224"/>
          </a:xfrm>
        </p:grpSpPr>
        <p:sp>
          <p:nvSpPr>
            <p:cNvPr id="798" name="Google Shape;798;g3663b9be120_0_418"/>
            <p:cNvSpPr/>
            <p:nvPr/>
          </p:nvSpPr>
          <p:spPr>
            <a:xfrm>
              <a:off x="5961600" y="1892375"/>
              <a:ext cx="1572000" cy="711000"/>
            </a:xfrm>
            <a:prstGeom prst="rect">
              <a:avLst/>
            </a:prstGeom>
            <a:solidFill>
              <a:schemeClr val="lt2"/>
            </a:solidFill>
            <a:ln w="96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250" tIns="92250" rIns="92250" bIns="922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12"/>
                <a:buFont typeface="Arial"/>
                <a:buNone/>
                <a:tabLst/>
                <a:defRPr/>
              </a:pPr>
              <a:endParaRPr kumimoji="0" sz="141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g3663b9be120_0_418"/>
            <p:cNvSpPr/>
            <p:nvPr/>
          </p:nvSpPr>
          <p:spPr>
            <a:xfrm>
              <a:off x="5487388" y="2684838"/>
              <a:ext cx="824700" cy="732900"/>
            </a:xfrm>
            <a:prstGeom prst="ellipse">
              <a:avLst/>
            </a:prstGeom>
            <a:solidFill>
              <a:schemeClr val="lt2"/>
            </a:solidFill>
            <a:ln w="96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250" tIns="92250" rIns="92250" bIns="922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12"/>
                <a:buFont typeface="Arial"/>
                <a:buNone/>
                <a:tabLst/>
                <a:defRPr/>
              </a:pPr>
              <a:endParaRPr kumimoji="0" sz="141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0" name="Google Shape;800;g3663b9be120_0_4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06388" y="2857937"/>
              <a:ext cx="386700" cy="38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1" name="Google Shape;801;g3663b9be120_0_4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048050" y="1133514"/>
              <a:ext cx="386700" cy="497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2" name="Google Shape;802;g3663b9be120_0_41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432638" y="3136187"/>
              <a:ext cx="281475" cy="281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3" name="Google Shape;803;g3663b9be120_0_418"/>
            <p:cNvSpPr/>
            <p:nvPr/>
          </p:nvSpPr>
          <p:spPr>
            <a:xfrm>
              <a:off x="6519463" y="2684838"/>
              <a:ext cx="824700" cy="732900"/>
            </a:xfrm>
            <a:prstGeom prst="ellipse">
              <a:avLst/>
            </a:prstGeom>
            <a:solidFill>
              <a:schemeClr val="lt2"/>
            </a:solidFill>
            <a:ln w="96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250" tIns="92250" rIns="92250" bIns="922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12"/>
                <a:buFont typeface="Arial"/>
                <a:buNone/>
                <a:tabLst/>
                <a:defRPr/>
              </a:pPr>
              <a:endParaRPr kumimoji="0" sz="141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4" name="Google Shape;804;g3663b9be120_0_41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456988" y="3136262"/>
              <a:ext cx="281475" cy="281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5" name="Google Shape;805;g3663b9be120_0_418"/>
            <p:cNvSpPr/>
            <p:nvPr/>
          </p:nvSpPr>
          <p:spPr>
            <a:xfrm>
              <a:off x="7543800" y="2684763"/>
              <a:ext cx="824700" cy="732900"/>
            </a:xfrm>
            <a:prstGeom prst="ellipse">
              <a:avLst/>
            </a:prstGeom>
            <a:solidFill>
              <a:schemeClr val="lt2"/>
            </a:solidFill>
            <a:ln w="96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250" tIns="92250" rIns="92250" bIns="922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12"/>
                <a:buFont typeface="Arial"/>
                <a:buNone/>
                <a:tabLst/>
                <a:defRPr/>
              </a:pPr>
              <a:endParaRPr kumimoji="0" sz="141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6" name="Google Shape;806;g3663b9be120_0_41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481325" y="3136187"/>
              <a:ext cx="281475" cy="2814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07" name="Google Shape;807;g3663b9be120_0_418"/>
            <p:cNvCxnSpPr>
              <a:stCxn id="800" idx="0"/>
            </p:cNvCxnSpPr>
            <p:nvPr/>
          </p:nvCxnSpPr>
          <p:spPr>
            <a:xfrm rot="10800000" flipH="1">
              <a:off x="5899738" y="2404937"/>
              <a:ext cx="764700" cy="453000"/>
            </a:xfrm>
            <a:prstGeom prst="straightConnector1">
              <a:avLst/>
            </a:prstGeom>
            <a:noFill/>
            <a:ln w="9600" cap="flat" cmpd="sng">
              <a:solidFill>
                <a:schemeClr val="dk2"/>
              </a:solidFill>
              <a:prstDash val="dot"/>
              <a:round/>
              <a:headEnd type="none" w="sm" len="sm"/>
              <a:tailEnd type="triangle" w="med" len="med"/>
            </a:ln>
          </p:spPr>
        </p:cxnSp>
        <p:cxnSp>
          <p:nvCxnSpPr>
            <p:cNvPr id="808" name="Google Shape;808;g3663b9be120_0_418"/>
            <p:cNvCxnSpPr/>
            <p:nvPr/>
          </p:nvCxnSpPr>
          <p:spPr>
            <a:xfrm rot="10800000">
              <a:off x="7010050" y="2419200"/>
              <a:ext cx="806400" cy="475200"/>
            </a:xfrm>
            <a:prstGeom prst="straightConnector1">
              <a:avLst/>
            </a:prstGeom>
            <a:noFill/>
            <a:ln w="9600" cap="flat" cmpd="sng">
              <a:solidFill>
                <a:schemeClr val="dk2"/>
              </a:solidFill>
              <a:prstDash val="dot"/>
              <a:round/>
              <a:headEnd type="none" w="sm" len="sm"/>
              <a:tailEnd type="triangle" w="med" len="med"/>
            </a:ln>
          </p:spPr>
        </p:cxnSp>
        <p:cxnSp>
          <p:nvCxnSpPr>
            <p:cNvPr id="809" name="Google Shape;809;g3663b9be120_0_418"/>
            <p:cNvCxnSpPr>
              <a:stCxn id="810" idx="3"/>
              <a:endCxn id="811" idx="2"/>
            </p:cNvCxnSpPr>
            <p:nvPr/>
          </p:nvCxnSpPr>
          <p:spPr>
            <a:xfrm>
              <a:off x="7434762" y="2184576"/>
              <a:ext cx="521400" cy="1059900"/>
            </a:xfrm>
            <a:prstGeom prst="bentConnector4">
              <a:avLst>
                <a:gd name="adj1" fmla="val 46122"/>
                <a:gd name="adj2" fmla="val 122277"/>
              </a:avLst>
            </a:prstGeom>
            <a:noFill/>
            <a:ln w="960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pic>
          <p:nvPicPr>
            <p:cNvPr id="812" name="Google Shape;812;g3663b9be120_0_41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704713" y="2107138"/>
              <a:ext cx="281475" cy="2814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13" name="Google Shape;813;g3663b9be120_0_418"/>
            <p:cNvCxnSpPr/>
            <p:nvPr/>
          </p:nvCxnSpPr>
          <p:spPr>
            <a:xfrm rot="10800000">
              <a:off x="6858725" y="2430662"/>
              <a:ext cx="10200" cy="450000"/>
            </a:xfrm>
            <a:prstGeom prst="straightConnector1">
              <a:avLst/>
            </a:prstGeom>
            <a:noFill/>
            <a:ln w="9600" cap="flat" cmpd="sng">
              <a:solidFill>
                <a:schemeClr val="dk2"/>
              </a:solidFill>
              <a:prstDash val="dot"/>
              <a:round/>
              <a:headEnd type="none" w="sm" len="sm"/>
              <a:tailEnd type="triangle" w="med" len="med"/>
            </a:ln>
          </p:spPr>
        </p:cxnSp>
        <p:pic>
          <p:nvPicPr>
            <p:cNvPr id="814" name="Google Shape;814;g3663b9be120_0_4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738463" y="2857937"/>
              <a:ext cx="386700" cy="386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15" name="Google Shape;815;g3663b9be120_0_418"/>
            <p:cNvCxnSpPr>
              <a:stCxn id="810" idx="3"/>
              <a:endCxn id="814" idx="2"/>
            </p:cNvCxnSpPr>
            <p:nvPr/>
          </p:nvCxnSpPr>
          <p:spPr>
            <a:xfrm flipH="1">
              <a:off x="6931962" y="2184576"/>
              <a:ext cx="502800" cy="1060200"/>
            </a:xfrm>
            <a:prstGeom prst="bentConnector4">
              <a:avLst>
                <a:gd name="adj1" fmla="val -46942"/>
                <a:gd name="adj2" fmla="val 122249"/>
              </a:avLst>
            </a:prstGeom>
            <a:noFill/>
            <a:ln w="960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16" name="Google Shape;816;g3663b9be120_0_418"/>
            <p:cNvCxnSpPr>
              <a:stCxn id="810" idx="3"/>
              <a:endCxn id="800" idx="2"/>
            </p:cNvCxnSpPr>
            <p:nvPr/>
          </p:nvCxnSpPr>
          <p:spPr>
            <a:xfrm flipH="1">
              <a:off x="5899662" y="2184576"/>
              <a:ext cx="1535100" cy="1060200"/>
            </a:xfrm>
            <a:prstGeom prst="bentConnector4">
              <a:avLst>
                <a:gd name="adj1" fmla="val -15375"/>
                <a:gd name="adj2" fmla="val 122249"/>
              </a:avLst>
            </a:prstGeom>
            <a:noFill/>
            <a:ln w="960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17" name="Google Shape;817;g3663b9be120_0_418"/>
            <p:cNvCxnSpPr>
              <a:stCxn id="801" idx="2"/>
            </p:cNvCxnSpPr>
            <p:nvPr/>
          </p:nvCxnSpPr>
          <p:spPr>
            <a:xfrm>
              <a:off x="7241400" y="1631392"/>
              <a:ext cx="0" cy="381900"/>
            </a:xfrm>
            <a:prstGeom prst="straightConnector1">
              <a:avLst/>
            </a:prstGeom>
            <a:noFill/>
            <a:ln w="960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pic>
          <p:nvPicPr>
            <p:cNvPr id="810" name="Google Shape;810;g3663b9be120_0_41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048087" y="1991228"/>
              <a:ext cx="386675" cy="386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8" name="Google Shape;818;g3663b9be120_0_418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7254000" y="1647438"/>
              <a:ext cx="228900" cy="2289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19" name="Google Shape;819;g3663b9be120_0_418"/>
            <p:cNvCxnSpPr>
              <a:stCxn id="812" idx="0"/>
              <a:endCxn id="801" idx="1"/>
            </p:cNvCxnSpPr>
            <p:nvPr/>
          </p:nvCxnSpPr>
          <p:spPr>
            <a:xfrm rot="-5400000">
              <a:off x="6584300" y="1643488"/>
              <a:ext cx="724800" cy="202500"/>
            </a:xfrm>
            <a:prstGeom prst="bentConnector2">
              <a:avLst/>
            </a:prstGeom>
            <a:noFill/>
            <a:ln w="9600" cap="flat" cmpd="sng">
              <a:solidFill>
                <a:schemeClr val="dk2"/>
              </a:solidFill>
              <a:prstDash val="dot"/>
              <a:round/>
              <a:headEnd type="none" w="sm" len="sm"/>
              <a:tailEnd type="triangle" w="med" len="med"/>
            </a:ln>
          </p:spPr>
        </p:cxnSp>
        <p:pic>
          <p:nvPicPr>
            <p:cNvPr id="811" name="Google Shape;811;g3663b9be120_0_4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762800" y="2857862"/>
              <a:ext cx="386700" cy="38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0" name="Google Shape;820;g3663b9be120_0_418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007901" y="1942998"/>
              <a:ext cx="634925" cy="183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1" name="Google Shape;821;g3663b9be120_0_418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219150" y="3136252"/>
              <a:ext cx="228901" cy="2642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2" name="Google Shape;822;g3663b9be120_0_418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6111838" y="3136252"/>
              <a:ext cx="228901" cy="2642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3" name="Google Shape;823;g3663b9be120_0_418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7330881" y="2319994"/>
              <a:ext cx="164749" cy="1276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4" name="Google Shape;824;g3663b9be120_0_418"/>
          <p:cNvPicPr preferRelativeResize="0"/>
          <p:nvPr/>
        </p:nvPicPr>
        <p:blipFill rotWithShape="1">
          <a:blip r:embed="rId14">
            <a:alphaModFix/>
          </a:blip>
          <a:srcRect t="19944" r="70409" b="21910"/>
          <a:stretch/>
        </p:blipFill>
        <p:spPr>
          <a:xfrm>
            <a:off x="7172425" y="4120575"/>
            <a:ext cx="249561" cy="25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60"/>
          <p:cNvSpPr txBox="1">
            <a:spLocks noGrp="1"/>
          </p:cNvSpPr>
          <p:nvPr>
            <p:ph type="title"/>
          </p:nvPr>
        </p:nvSpPr>
        <p:spPr>
          <a:xfrm>
            <a:off x="628650" y="832900"/>
            <a:ext cx="790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APPLICATION</a:t>
            </a:r>
          </a:p>
          <a:p>
            <a:pPr marL="0" lvl="0" indent="0" algn="l" rtl="0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The datasets</a:t>
            </a:r>
          </a:p>
        </p:txBody>
      </p:sp>
      <p:sp>
        <p:nvSpPr>
          <p:cNvPr id="940" name="bullets"/>
          <p:cNvSpPr txBox="1"/>
          <p:nvPr/>
        </p:nvSpPr>
        <p:spPr>
          <a:xfrm>
            <a:off x="628650" y="2120000"/>
            <a:ext cx="4520000" cy="2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sz="1600" dirty="0">
                <a:solidFill>
                  <a:srgbClr val="333333"/>
                </a:solidFill>
              </a:rPr>
              <a:t>INTEGRATE-LMEDC, WP12.3 — built on the </a:t>
            </a:r>
            <a:r>
              <a:rPr lang="en" sz="1600" dirty="0" err="1">
                <a:solidFill>
                  <a:srgbClr val="333333"/>
                </a:solidFill>
              </a:rPr>
              <a:t>LifeCycle</a:t>
            </a:r>
            <a:r>
              <a:rPr lang="en" sz="1600" dirty="0">
                <a:solidFill>
                  <a:srgbClr val="333333"/>
                </a:solidFill>
              </a:rPr>
              <a:t> birth-cohort network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sz="1600" dirty="0">
                <a:solidFill>
                  <a:srgbClr val="333333"/>
                </a:solidFill>
              </a:rPr>
              <a:t>Three cohorts: BIB, DNBC, Gen-R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sz="1600" dirty="0" err="1">
                <a:solidFill>
                  <a:srgbClr val="333333"/>
                </a:solidFill>
              </a:rPr>
              <a:t>Harmonised</a:t>
            </a:r>
            <a:r>
              <a:rPr lang="en" sz="1600" dirty="0">
                <a:solidFill>
                  <a:srgbClr val="333333"/>
                </a:solidFill>
              </a:rPr>
              <a:t> variables already in place — reusing earlier consortium work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sz="1600" dirty="0">
                <a:solidFill>
                  <a:srgbClr val="333333"/>
                </a:solidFill>
              </a:rPr>
              <a:t>Each cohort hosts its own data; nothing centrally pooled</a:t>
            </a:r>
          </a:p>
        </p:txBody>
      </p:sp>
      <p:sp>
        <p:nvSpPr>
          <p:cNvPr id="941" name="placeholder"/>
          <p:cNvSpPr/>
          <p:nvPr/>
        </p:nvSpPr>
        <p:spPr>
          <a:xfrm>
            <a:off x="5340000" y="1500000"/>
            <a:ext cx="3400000" cy="2980000"/>
          </a:xfrm>
          <a:prstGeom prst="roundRect">
            <a:avLst>
              <a:gd name="adj" fmla="val 3500"/>
            </a:avLst>
          </a:prstGeom>
          <a:solidFill>
            <a:srgbClr val="EAF2FF"/>
          </a:solidFill>
          <a:ln w="12700" cap="flat">
            <a:solidFill>
              <a:srgbClr val="017FFD"/>
            </a:solidFill>
            <a:prstDash val="dash"/>
          </a:ln>
        </p:spPr>
        <p:txBody>
          <a:bodyPr spcFirstLastPara="1" wrap="square" lIns="137160" tIns="91440" rIns="137160" bIns="91440" anchor="ctr" anchorCtr="0">
            <a:noAutofit/>
          </a:bodyPr>
          <a:lstStyle/>
          <a:p>
            <a:pPr algn="ctr" rtl="0">
              <a:buNone/>
            </a:pPr>
            <a:r>
              <a:rPr lang="en" sz="1150" i="1">
                <a:solidFill>
                  <a:srgbClr val="017FFD"/>
                </a:solidFill>
              </a:rPr>
              <a:t>Figure: the six cohorts as nodes on a map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4421-9548-3396-5A7E-43A94E76249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sz="2100">
                <a:latin typeface="Myriad Pro"/>
              </a:rPr>
              <a:t>Step 1: Defining research question</a:t>
            </a:r>
            <a:endParaRPr lang="en-US" sz="2100"/>
          </a:p>
        </p:txBody>
      </p:sp>
      <p:grpSp>
        <p:nvGrpSpPr>
          <p:cNvPr id="3" name="TextBox 3">
            <a:extLst>
              <a:ext uri="{FF2B5EF4-FFF2-40B4-BE49-F238E27FC236}">
                <a16:creationId xmlns:a16="http://schemas.microsoft.com/office/drawing/2014/main" id="{A38A5BC2-AD63-4C22-7760-9609399F38C5}"/>
              </a:ext>
            </a:extLst>
          </p:cNvPr>
          <p:cNvGrpSpPr/>
          <p:nvPr/>
        </p:nvGrpSpPr>
        <p:grpSpPr>
          <a:xfrm>
            <a:off x="514350" y="457689"/>
            <a:ext cx="5829300" cy="3999522"/>
            <a:chOff x="1028700" y="915378"/>
            <a:chExt cx="11658600" cy="7999043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1618954-6A87-CC3A-142C-CC83E3D8ED5B}"/>
                </a:ext>
              </a:extLst>
            </p:cNvPr>
            <p:cNvSpPr/>
            <p:nvPr/>
          </p:nvSpPr>
          <p:spPr>
            <a:xfrm>
              <a:off x="1028700" y="915378"/>
              <a:ext cx="11658600" cy="2285442"/>
            </a:xfrm>
            <a:custGeom>
              <a:avLst>
                <a:gd name="f0" fmla="val 216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CDD9EA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defTabSz="457200">
                <a:buClrTx/>
              </a:pPr>
              <a:endParaRPr lang="en-NL" sz="900" kern="120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Rectangle 4" descr="Hierarchy">
              <a:extLst>
                <a:ext uri="{FF2B5EF4-FFF2-40B4-BE49-F238E27FC236}">
                  <a16:creationId xmlns:a16="http://schemas.microsoft.com/office/drawing/2014/main" id="{049A4484-E77D-D2C2-756F-8FFB09401CFA}"/>
                </a:ext>
              </a:extLst>
            </p:cNvPr>
            <p:cNvSpPr/>
            <p:nvPr/>
          </p:nvSpPr>
          <p:spPr>
            <a:xfrm>
              <a:off x="1720050" y="1429600"/>
              <a:ext cx="1256989" cy="1256989"/>
            </a:xfrm>
            <a:prstGeom prst="rect">
              <a:avLst/>
            </a:pr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defTabSz="457200">
                <a:buClrTx/>
              </a:pPr>
              <a:endParaRPr lang="en-NL" sz="900" kern="120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0EC4228-82E8-BD1C-26E8-CD2AFA90ED6A}"/>
                </a:ext>
              </a:extLst>
            </p:cNvPr>
            <p:cNvSpPr/>
            <p:nvPr/>
          </p:nvSpPr>
          <p:spPr>
            <a:xfrm>
              <a:off x="3668380" y="915378"/>
              <a:ext cx="9018910" cy="228544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018914"/>
                <a:gd name="f7" fmla="val 2285441"/>
                <a:gd name="f8" fmla="+- 0 0 -90"/>
                <a:gd name="f9" fmla="*/ f3 1 9018914"/>
                <a:gd name="f10" fmla="*/ f4 1 2285441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9018914"/>
                <a:gd name="f19" fmla="*/ f15 1 2285441"/>
                <a:gd name="f20" fmla="*/ 0 f16 1"/>
                <a:gd name="f21" fmla="*/ 0 f15 1"/>
                <a:gd name="f22" fmla="*/ 9018914 f16 1"/>
                <a:gd name="f23" fmla="*/ 2285441 f15 1"/>
                <a:gd name="f24" fmla="+- f17 0 f1"/>
                <a:gd name="f25" fmla="*/ f20 1 9018914"/>
                <a:gd name="f26" fmla="*/ f21 1 2285441"/>
                <a:gd name="f27" fmla="*/ f22 1 9018914"/>
                <a:gd name="f28" fmla="*/ f23 1 2285441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9018914" h="2285441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120939" tIns="120939" rIns="120939" bIns="120939" anchor="ctr" anchorCtr="0" compatLnSpc="1">
              <a:noAutofit/>
            </a:bodyPr>
            <a:lstStyle/>
            <a:p>
              <a:pPr defTabSz="555626">
                <a:spcAft>
                  <a:spcPts val="550"/>
                </a:spcAft>
                <a:buClrTx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50" kern="1200">
                  <a:latin typeface="Century Gothic"/>
                  <a:ea typeface="+mn-ea"/>
                  <a:cs typeface="+mn-cs"/>
                </a:rPr>
                <a:t> The correlation between mode of birth (e.g. vaginal, caesarian) and maternal psychological health has been studied, but not extensively. </a:t>
              </a: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0FDF261-CE6C-9508-25E3-A62746982EA0}"/>
                </a:ext>
              </a:extLst>
            </p:cNvPr>
            <p:cNvSpPr/>
            <p:nvPr/>
          </p:nvSpPr>
          <p:spPr>
            <a:xfrm>
              <a:off x="1028700" y="3772183"/>
              <a:ext cx="11658600" cy="2285442"/>
            </a:xfrm>
            <a:custGeom>
              <a:avLst>
                <a:gd name="f0" fmla="val 216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CDD9EA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defTabSz="457200">
                <a:buClrTx/>
              </a:pPr>
              <a:endParaRPr lang="en-NL" sz="900" kern="120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Rectangle 7" descr="Microscope">
              <a:extLst>
                <a:ext uri="{FF2B5EF4-FFF2-40B4-BE49-F238E27FC236}">
                  <a16:creationId xmlns:a16="http://schemas.microsoft.com/office/drawing/2014/main" id="{F16C5D9D-AA52-B974-32F3-E410F7A125AF}"/>
                </a:ext>
              </a:extLst>
            </p:cNvPr>
            <p:cNvSpPr/>
            <p:nvPr/>
          </p:nvSpPr>
          <p:spPr>
            <a:xfrm>
              <a:off x="1720050" y="4286405"/>
              <a:ext cx="1256989" cy="1256989"/>
            </a:xfrm>
            <a:prstGeom prst="rect">
              <a:avLst/>
            </a:pr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defTabSz="457200">
                <a:buClrTx/>
              </a:pPr>
              <a:endParaRPr lang="en-NL" sz="900" kern="120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C22ED11-822E-C490-09EE-907444B0EBF1}"/>
                </a:ext>
              </a:extLst>
            </p:cNvPr>
            <p:cNvSpPr/>
            <p:nvPr/>
          </p:nvSpPr>
          <p:spPr>
            <a:xfrm>
              <a:off x="3668380" y="3772183"/>
              <a:ext cx="9018910" cy="228544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018914"/>
                <a:gd name="f7" fmla="val 2285441"/>
                <a:gd name="f8" fmla="+- 0 0 -90"/>
                <a:gd name="f9" fmla="*/ f3 1 9018914"/>
                <a:gd name="f10" fmla="*/ f4 1 2285441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9018914"/>
                <a:gd name="f19" fmla="*/ f15 1 2285441"/>
                <a:gd name="f20" fmla="*/ 0 f16 1"/>
                <a:gd name="f21" fmla="*/ 0 f15 1"/>
                <a:gd name="f22" fmla="*/ 9018914 f16 1"/>
                <a:gd name="f23" fmla="*/ 2285441 f15 1"/>
                <a:gd name="f24" fmla="+- f17 0 f1"/>
                <a:gd name="f25" fmla="*/ f20 1 9018914"/>
                <a:gd name="f26" fmla="*/ f21 1 2285441"/>
                <a:gd name="f27" fmla="*/ f22 1 9018914"/>
                <a:gd name="f28" fmla="*/ f23 1 2285441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9018914" h="2285441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120939" tIns="120939" rIns="120939" bIns="120939" anchor="ctr" anchorCtr="0" compatLnSpc="1">
              <a:noAutofit/>
            </a:bodyPr>
            <a:lstStyle/>
            <a:p>
              <a:pPr defTabSz="555626">
                <a:spcAft>
                  <a:spcPts val="550"/>
                </a:spcAft>
                <a:buClrTx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50" kern="1200">
                  <a:latin typeface="Century Gothic"/>
                  <a:ea typeface="+mn-ea"/>
                  <a:cs typeface="+mn-cs"/>
                </a:rPr>
                <a:t>The aim is to examine how different modes of birth are associated with adverse maternal psychological health, in particular post-partum depression.</a:t>
              </a: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CA12F4B-4730-59BB-A3EA-92760A8C2719}"/>
                </a:ext>
              </a:extLst>
            </p:cNvPr>
            <p:cNvSpPr/>
            <p:nvPr/>
          </p:nvSpPr>
          <p:spPr>
            <a:xfrm>
              <a:off x="1028700" y="6628979"/>
              <a:ext cx="11658600" cy="2285442"/>
            </a:xfrm>
            <a:custGeom>
              <a:avLst>
                <a:gd name="f0" fmla="val 216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CDD9EA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defTabSz="457200">
                <a:buClrTx/>
              </a:pPr>
              <a:endParaRPr lang="en-NL" sz="900" kern="120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 descr="Signpost with solid fill">
              <a:extLst>
                <a:ext uri="{FF2B5EF4-FFF2-40B4-BE49-F238E27FC236}">
                  <a16:creationId xmlns:a16="http://schemas.microsoft.com/office/drawing/2014/main" id="{5D51DD33-E34B-3A47-650C-DCB263CF402B}"/>
                </a:ext>
              </a:extLst>
            </p:cNvPr>
            <p:cNvSpPr/>
            <p:nvPr/>
          </p:nvSpPr>
          <p:spPr>
            <a:xfrm>
              <a:off x="1720050" y="7143201"/>
              <a:ext cx="1256989" cy="1256989"/>
            </a:xfrm>
            <a:prstGeom prst="rect">
              <a:avLst/>
            </a:pr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defTabSz="457200">
                <a:buClrTx/>
              </a:pPr>
              <a:endParaRPr lang="en-NL" sz="900" kern="120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2A7BCBC-C210-E761-08CA-A47A19A03E73}"/>
                </a:ext>
              </a:extLst>
            </p:cNvPr>
            <p:cNvSpPr/>
            <p:nvPr/>
          </p:nvSpPr>
          <p:spPr>
            <a:xfrm>
              <a:off x="3668380" y="6628979"/>
              <a:ext cx="9018910" cy="228544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018914"/>
                <a:gd name="f7" fmla="val 2285441"/>
                <a:gd name="f8" fmla="+- 0 0 -90"/>
                <a:gd name="f9" fmla="*/ f3 1 9018914"/>
                <a:gd name="f10" fmla="*/ f4 1 2285441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9018914"/>
                <a:gd name="f19" fmla="*/ f15 1 2285441"/>
                <a:gd name="f20" fmla="*/ 0 f16 1"/>
                <a:gd name="f21" fmla="*/ 0 f15 1"/>
                <a:gd name="f22" fmla="*/ 9018914 f16 1"/>
                <a:gd name="f23" fmla="*/ 2285441 f15 1"/>
                <a:gd name="f24" fmla="+- f17 0 f1"/>
                <a:gd name="f25" fmla="*/ f20 1 9018914"/>
                <a:gd name="f26" fmla="*/ f21 1 2285441"/>
                <a:gd name="f27" fmla="*/ f22 1 9018914"/>
                <a:gd name="f28" fmla="*/ f23 1 2285441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9018914" h="2285441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120939" tIns="120939" rIns="120939" bIns="120939" anchor="ctr" anchorCtr="0" compatLnSpc="1">
              <a:noAutofit/>
            </a:bodyPr>
            <a:lstStyle/>
            <a:p>
              <a:pPr defTabSz="555626">
                <a:spcAft>
                  <a:spcPts val="550"/>
                </a:spcAft>
                <a:buClrTx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50" kern="1200">
                  <a:latin typeface="Century Gothic"/>
                  <a:ea typeface="+mn-ea"/>
                  <a:cs typeface="+mn-cs"/>
                </a:rPr>
                <a:t>Associations between mode of delivery and psychological health with be assessed via 2-Stage Individual Participant Meta-analysis using data from multiple birth cohorts.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4652C-8850-C13D-A300-4B0ECFE3BA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0100" y="481944"/>
            <a:ext cx="6095998" cy="1028700"/>
          </a:xfrm>
          <a:prstGeom prst="rect">
            <a:avLst/>
          </a:prstGeom>
          <a:noFill/>
          <a:ln>
            <a:noFill/>
          </a:ln>
        </p:spPr>
        <p:txBody>
          <a:bodyPr vert="horz" wrap="square" lIns="45720" tIns="22860" rIns="45720" bIns="22860" anchor="ctr" anchorCtr="0" compatLnSpc="1">
            <a:normAutofit/>
          </a:bodyPr>
          <a:lstStyle/>
          <a:p>
            <a:pPr lvl="0"/>
            <a:r>
              <a:rPr lang="en-US" sz="2000" b="1">
                <a:latin typeface="Myriad Pro"/>
              </a:rPr>
              <a:t>Step 2: Searching metadata catalogue</a:t>
            </a:r>
            <a:endParaRPr lang="en-US" sz="2000" b="1"/>
          </a:p>
        </p:txBody>
      </p:sp>
      <p:pic>
        <p:nvPicPr>
          <p:cNvPr id="3" name="Marcador de contenido 1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7E5997EB-D877-8CED-74E0-53B8F29C4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0891" y="1568681"/>
            <a:ext cx="5455379" cy="308748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48C0C1B-E826-CB3B-4311-4EBB3962E71C}"/>
              </a:ext>
            </a:extLst>
          </p:cNvPr>
          <p:cNvSpPr txBox="1"/>
          <p:nvPr/>
        </p:nvSpPr>
        <p:spPr>
          <a:xfrm>
            <a:off x="6666424" y="1657711"/>
            <a:ext cx="1985446" cy="12695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22860" rIns="45720" bIns="22860" anchor="b" anchorCtr="0" compatLnSpc="1">
            <a:noAutofit/>
          </a:bodyPr>
          <a:lstStyle/>
          <a:p>
            <a:pPr defTabSz="685800">
              <a:lnSpc>
                <a:spcPct val="90000"/>
              </a:lnSpc>
              <a:buClrTx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kern="1200">
                <a:solidFill>
                  <a:srgbClr val="0089AD"/>
                </a:solidFill>
                <a:latin typeface="Myriad Pro"/>
                <a:ea typeface="+mn-ea"/>
                <a:cs typeface="+mn-cs"/>
              </a:rPr>
              <a:t>Identified 3 birth cohorts from existing network of harmonised data:</a:t>
            </a:r>
            <a:br>
              <a:rPr lang="es-ES" sz="1200" kern="1200">
                <a:solidFill>
                  <a:srgbClr val="0089AD"/>
                </a:solidFill>
                <a:latin typeface="Myriad Pro"/>
                <a:ea typeface="+mn-ea"/>
                <a:cs typeface="+mn-cs"/>
              </a:rPr>
            </a:br>
            <a:br>
              <a:rPr lang="es-ES" sz="1200" kern="1200">
                <a:solidFill>
                  <a:srgbClr val="0089AD"/>
                </a:solidFill>
                <a:latin typeface="Myriad Pro"/>
                <a:ea typeface="+mn-ea"/>
                <a:cs typeface="+mn-cs"/>
              </a:rPr>
            </a:br>
            <a:endParaRPr lang="es-ES" sz="1200" kern="1200">
              <a:solidFill>
                <a:srgbClr val="0089AD"/>
              </a:solidFill>
              <a:latin typeface="Myriad Pro"/>
              <a:ea typeface="+mn-ea"/>
              <a:cs typeface="+mn-cs"/>
            </a:endParaRPr>
          </a:p>
          <a:p>
            <a:pPr marL="171450" indent="-171450" defTabSz="685800">
              <a:lnSpc>
                <a:spcPct val="90000"/>
              </a:lnSpc>
              <a:buClrTx/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kern="1200">
                <a:solidFill>
                  <a:srgbClr val="0089AD"/>
                </a:solidFill>
                <a:latin typeface="Myriad Pro"/>
                <a:ea typeface="+mn-ea"/>
                <a:cs typeface="+mn-cs"/>
              </a:rPr>
              <a:t>Born in Bradford (UK)</a:t>
            </a:r>
            <a:endParaRPr lang="es-ES" sz="1200" kern="1200">
              <a:solidFill>
                <a:srgbClr val="0089AD"/>
              </a:solidFill>
              <a:latin typeface="Myriad Pro" pitchFamily="34"/>
              <a:ea typeface="+mn-ea"/>
              <a:cs typeface="+mn-cs"/>
            </a:endParaRPr>
          </a:p>
          <a:p>
            <a:pPr marL="171450" indent="-171450" defTabSz="685800">
              <a:lnSpc>
                <a:spcPct val="90000"/>
              </a:lnSpc>
              <a:buClrTx/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kern="1200">
                <a:solidFill>
                  <a:srgbClr val="0089AD"/>
                </a:solidFill>
                <a:latin typeface="Myriad Pro"/>
                <a:ea typeface="+mn-ea"/>
                <a:cs typeface="+mn-cs"/>
              </a:rPr>
              <a:t>DNBC (Denmark)</a:t>
            </a:r>
            <a:endParaRPr lang="es-ES" sz="1200" kern="1200">
              <a:solidFill>
                <a:srgbClr val="0089AD"/>
              </a:solidFill>
              <a:latin typeface="Myriad Pro" pitchFamily="34"/>
              <a:ea typeface="+mn-ea"/>
              <a:cs typeface="+mn-cs"/>
            </a:endParaRPr>
          </a:p>
          <a:p>
            <a:pPr marL="171450" indent="-171450" defTabSz="685800">
              <a:lnSpc>
                <a:spcPct val="90000"/>
              </a:lnSpc>
              <a:buClrTx/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kern="1200">
                <a:solidFill>
                  <a:srgbClr val="0089AD"/>
                </a:solidFill>
                <a:latin typeface="Myriad Pro"/>
                <a:ea typeface="+mn-ea"/>
                <a:cs typeface="+mn-cs"/>
              </a:rPr>
              <a:t>Generation-R (NL)</a:t>
            </a:r>
            <a:endParaRPr lang="es-ES" sz="1200" kern="1200">
              <a:solidFill>
                <a:srgbClr val="0089AD"/>
              </a:solidFill>
              <a:latin typeface="Myriad Pro" pitchFamily="3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86ADB-E4EF-B41D-ABAD-2964479305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0100" y="481944"/>
            <a:ext cx="6095998" cy="1028700"/>
          </a:xfrm>
          <a:prstGeom prst="rect">
            <a:avLst/>
          </a:prstGeom>
          <a:noFill/>
          <a:ln>
            <a:noFill/>
          </a:ln>
        </p:spPr>
        <p:txBody>
          <a:bodyPr vert="horz" wrap="square" lIns="45720" tIns="22860" rIns="45720" bIns="22860" anchor="ctr" anchorCtr="0" compatLnSpc="1">
            <a:normAutofit/>
          </a:bodyPr>
          <a:lstStyle/>
          <a:p>
            <a:pPr lvl="0"/>
            <a:r>
              <a:rPr lang="en-US" sz="2000" b="1">
                <a:latin typeface="Myriad Pro"/>
              </a:rPr>
              <a:t>Step 3: Apply for data access</a:t>
            </a:r>
            <a:endParaRPr lang="es-ES"/>
          </a:p>
        </p:txBody>
      </p:sp>
      <p:grpSp>
        <p:nvGrpSpPr>
          <p:cNvPr id="3" name="Content Placeholder 2">
            <a:extLst>
              <a:ext uri="{FF2B5EF4-FFF2-40B4-BE49-F238E27FC236}">
                <a16:creationId xmlns:a16="http://schemas.microsoft.com/office/drawing/2014/main" id="{01E29B49-C228-CD19-2F50-0AB0057AB012}"/>
              </a:ext>
            </a:extLst>
          </p:cNvPr>
          <p:cNvGrpSpPr/>
          <p:nvPr/>
        </p:nvGrpSpPr>
        <p:grpSpPr>
          <a:xfrm>
            <a:off x="800100" y="1636333"/>
            <a:ext cx="7543800" cy="3186391"/>
            <a:chOff x="1600200" y="3272665"/>
            <a:chExt cx="15087600" cy="6372782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AFD7E329-6E32-1D09-A72B-C9ACF9E339FC}"/>
                </a:ext>
              </a:extLst>
            </p:cNvPr>
            <p:cNvSpPr/>
            <p:nvPr/>
          </p:nvSpPr>
          <p:spPr>
            <a:xfrm>
              <a:off x="1600200" y="3272665"/>
              <a:ext cx="15087600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solidFill>
                <a:srgbClr val="1CADE4"/>
              </a:solidFill>
              <a:prstDash val="solid"/>
            </a:ln>
          </p:spPr>
          <p:txBody>
            <a:bodyPr lIns="0" tIns="0" rIns="0" bIns="0"/>
            <a:lstStyle/>
            <a:p>
              <a:pPr defTabSz="457200">
                <a:buClrTx/>
              </a:pPr>
              <a:endParaRPr lang="en-NL" sz="900" kern="120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56527EE-DCC3-CD47-0E05-A4BC388F0F6B}"/>
                </a:ext>
              </a:extLst>
            </p:cNvPr>
            <p:cNvSpPr/>
            <p:nvPr/>
          </p:nvSpPr>
          <p:spPr>
            <a:xfrm>
              <a:off x="1600200" y="3272665"/>
              <a:ext cx="15087600" cy="318639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87600"/>
                <a:gd name="f7" fmla="val 3186388"/>
                <a:gd name="f8" fmla="+- 0 0 -90"/>
                <a:gd name="f9" fmla="*/ f3 1 15087600"/>
                <a:gd name="f10" fmla="*/ f4 1 3186388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15087600"/>
                <a:gd name="f19" fmla="*/ f15 1 3186388"/>
                <a:gd name="f20" fmla="*/ 0 f16 1"/>
                <a:gd name="f21" fmla="*/ 0 f15 1"/>
                <a:gd name="f22" fmla="*/ 15087600 f16 1"/>
                <a:gd name="f23" fmla="*/ 3186388 f15 1"/>
                <a:gd name="f24" fmla="+- f17 0 f1"/>
                <a:gd name="f25" fmla="*/ f20 1 15087600"/>
                <a:gd name="f26" fmla="*/ f21 1 3186388"/>
                <a:gd name="f27" fmla="*/ f22 1 15087600"/>
                <a:gd name="f28" fmla="*/ f23 1 3186388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15087600" h="3186388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60958" tIns="60958" rIns="60958" bIns="60958" anchor="t" anchorCtr="0" compatLnSpc="1">
              <a:noAutofit/>
            </a:bodyPr>
            <a:lstStyle/>
            <a:p>
              <a:pPr defTabSz="711202">
                <a:lnSpc>
                  <a:spcPct val="90000"/>
                </a:lnSpc>
                <a:spcAft>
                  <a:spcPts val="650"/>
                </a:spcAft>
                <a:buClrTx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kern="1200">
                  <a:latin typeface="Century Gothic"/>
                  <a:ea typeface="+mn-ea"/>
                  <a:cs typeface="+mn-cs"/>
                </a:rPr>
                <a:t>Each cohort was contacted directly and individual Data Access Agreements were arranged</a:t>
              </a: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10B9AED-752A-E684-BF2D-B9B39951B3E6}"/>
                </a:ext>
              </a:extLst>
            </p:cNvPr>
            <p:cNvSpPr/>
            <p:nvPr/>
          </p:nvSpPr>
          <p:spPr>
            <a:xfrm>
              <a:off x="1600200" y="6459056"/>
              <a:ext cx="15087600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2701" cap="flat">
              <a:solidFill>
                <a:srgbClr val="1CADE4"/>
              </a:solidFill>
              <a:prstDash val="solid"/>
            </a:ln>
          </p:spPr>
          <p:txBody>
            <a:bodyPr lIns="0" tIns="0" rIns="0" bIns="0"/>
            <a:lstStyle/>
            <a:p>
              <a:pPr defTabSz="457200">
                <a:buClrTx/>
              </a:pPr>
              <a:endParaRPr lang="en-NL" sz="900" kern="120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F905668-DC68-D322-A582-481203898E7B}"/>
                </a:ext>
              </a:extLst>
            </p:cNvPr>
            <p:cNvSpPr/>
            <p:nvPr/>
          </p:nvSpPr>
          <p:spPr>
            <a:xfrm>
              <a:off x="1600200" y="6459056"/>
              <a:ext cx="15087600" cy="318639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87600"/>
                <a:gd name="f7" fmla="val 3186388"/>
                <a:gd name="f8" fmla="+- 0 0 -90"/>
                <a:gd name="f9" fmla="*/ f3 1 15087600"/>
                <a:gd name="f10" fmla="*/ f4 1 3186388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15087600"/>
                <a:gd name="f19" fmla="*/ f15 1 3186388"/>
                <a:gd name="f20" fmla="*/ 0 f16 1"/>
                <a:gd name="f21" fmla="*/ 0 f15 1"/>
                <a:gd name="f22" fmla="*/ 15087600 f16 1"/>
                <a:gd name="f23" fmla="*/ 3186388 f15 1"/>
                <a:gd name="f24" fmla="+- f17 0 f1"/>
                <a:gd name="f25" fmla="*/ f20 1 15087600"/>
                <a:gd name="f26" fmla="*/ f21 1 3186388"/>
                <a:gd name="f27" fmla="*/ f22 1 15087600"/>
                <a:gd name="f28" fmla="*/ f23 1 3186388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15087600" h="3186388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123823" tIns="123823" rIns="123823" bIns="123823" anchor="t" anchorCtr="0" compatLnSpc="1">
              <a:noAutofit/>
            </a:bodyPr>
            <a:lstStyle/>
            <a:p>
              <a:pPr defTabSz="1444624">
                <a:lnSpc>
                  <a:spcPct val="90000"/>
                </a:lnSpc>
                <a:spcAft>
                  <a:spcPts val="1350"/>
                </a:spcAft>
                <a:buClrTx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3250" kern="1200">
                <a:latin typeface="Century Gothic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C1B135EE-8CAF-B2BC-D0E3-619885D10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0100" y="481944"/>
            <a:ext cx="6095998" cy="1028700"/>
          </a:xfrm>
          <a:prstGeom prst="rect">
            <a:avLst/>
          </a:prstGeom>
          <a:noFill/>
          <a:ln>
            <a:noFill/>
          </a:ln>
        </p:spPr>
        <p:txBody>
          <a:bodyPr vert="horz" wrap="square" lIns="45720" tIns="22860" rIns="45720" bIns="22860" anchor="ctr" anchorCtr="0" compatLnSpc="1">
            <a:normAutofit/>
          </a:bodyPr>
          <a:lstStyle/>
          <a:p>
            <a:pPr lvl="0"/>
            <a:r>
              <a:rPr lang="en-US" sz="2000" b="1">
                <a:latin typeface="Myriad Pro"/>
              </a:rPr>
              <a:t>Step 4: Set up federated analysis infrastructure</a:t>
            </a:r>
            <a:endParaRPr lang="en-US" sz="2000">
              <a:solidFill>
                <a:srgbClr val="000000"/>
              </a:solidFill>
              <a:latin typeface="Myriad Pro"/>
            </a:endParaRPr>
          </a:p>
          <a:p>
            <a:pPr lvl="0"/>
            <a:endParaRPr lang="en-US" sz="2000"/>
          </a:p>
        </p:txBody>
      </p:sp>
      <p:pic>
        <p:nvPicPr>
          <p:cNvPr id="3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3CFD1FAC-5294-5970-30B9-872A4EF2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30" b="121"/>
          <a:stretch>
            <a:fillRect/>
          </a:stretch>
        </p:blipFill>
        <p:spPr>
          <a:xfrm>
            <a:off x="801261" y="1511778"/>
            <a:ext cx="6955955" cy="2520457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BD8BA-C3DA-17D3-43A3-D16D8BE611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0100" y="481944"/>
            <a:ext cx="6095998" cy="1028700"/>
          </a:xfrm>
          <a:prstGeom prst="rect">
            <a:avLst/>
          </a:prstGeom>
          <a:noFill/>
          <a:ln>
            <a:noFill/>
          </a:ln>
        </p:spPr>
        <p:txBody>
          <a:bodyPr vert="horz" wrap="square" lIns="45720" tIns="22860" rIns="45720" bIns="22860" anchor="ctr" anchorCtr="0" compatLnSpc="1">
            <a:normAutofit/>
          </a:bodyPr>
          <a:lstStyle/>
          <a:p>
            <a:pPr lvl="0"/>
            <a:r>
              <a:rPr lang="en-GB" sz="2000">
                <a:latin typeface="Myriad Pro"/>
              </a:rPr>
              <a:t>Step 5: Analysis and preliminary findings</a:t>
            </a:r>
            <a:endParaRPr lang="es-ES" sz="2000"/>
          </a:p>
        </p:txBody>
      </p:sp>
      <p:pic>
        <p:nvPicPr>
          <p:cNvPr id="3" name="Marcador de contenido 11" descr="Gráfico, Gráfico de dispersión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FC91EBA9-CB4D-ADC5-B7C6-CAC15DAAD0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9071" y="1368829"/>
            <a:ext cx="6008600" cy="3205420"/>
          </a:xfrm>
          <a:prstGeom prst="rect">
            <a:avLst/>
          </a:prstGeom>
          <a:noFill/>
          <a:ln w="9528">
            <a:solidFill>
              <a:srgbClr val="000000"/>
            </a:solidFill>
            <a:prstDash val="solid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60"/>
          <p:cNvSpPr txBox="1">
            <a:spLocks noGrp="1"/>
          </p:cNvSpPr>
          <p:nvPr>
            <p:ph type="title"/>
          </p:nvPr>
        </p:nvSpPr>
        <p:spPr>
          <a:xfrm>
            <a:off x="628650" y="832900"/>
            <a:ext cx="790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APPLICATION · DEMO</a:t>
            </a:r>
          </a:p>
          <a:p>
            <a:pPr marL="0" lvl="0" indent="0" algn="l" rtl="0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Find</a:t>
            </a:r>
          </a:p>
        </p:txBody>
      </p:sp>
      <p:sp>
        <p:nvSpPr>
          <p:cNvPr id="940" name="lead"/>
          <p:cNvSpPr txBox="1"/>
          <p:nvPr/>
        </p:nvSpPr>
        <p:spPr>
          <a:xfrm>
            <a:off x="628650" y="1600000"/>
            <a:ext cx="79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marL="0" lvl="0" indent="0" algn="l" rtl="0">
              <a:lnSpc>
                <a:spcPct val="116000"/>
              </a:lnSpc>
              <a:buNone/>
            </a:pPr>
            <a:r>
              <a:rPr lang="en" sz="1500"/>
              <a:t>A real question: which cohorts have harmonised variables for postpartum depression &amp; gestational hypertension? Searched in the MOLGENIS catalogue — found the six LifeCycle cohorts.</a:t>
            </a:r>
          </a:p>
        </p:txBody>
      </p:sp>
      <p:sp>
        <p:nvSpPr>
          <p:cNvPr id="941" name="placeholder"/>
          <p:cNvSpPr/>
          <p:nvPr/>
        </p:nvSpPr>
        <p:spPr>
          <a:xfrm>
            <a:off x="628650" y="2360000"/>
            <a:ext cx="4640000" cy="2150000"/>
          </a:xfrm>
          <a:prstGeom prst="roundRect">
            <a:avLst>
              <a:gd name="adj" fmla="val 3500"/>
            </a:avLst>
          </a:prstGeom>
          <a:solidFill>
            <a:srgbClr val="EAF2FF"/>
          </a:solidFill>
          <a:ln w="12700" cap="flat">
            <a:solidFill>
              <a:srgbClr val="017FFD"/>
            </a:solidFill>
            <a:prstDash val="dash"/>
          </a:ln>
        </p:spPr>
        <p:txBody>
          <a:bodyPr spcFirstLastPara="1" wrap="square" lIns="137160" tIns="91440" rIns="137160" bIns="91440" anchor="ctr" anchorCtr="0">
            <a:noAutofit/>
          </a:bodyPr>
          <a:lstStyle/>
          <a:p>
            <a:pPr algn="ctr" rtl="0">
              <a:buNone/>
            </a:pPr>
            <a:r>
              <a:rPr lang="en" sz="1150" i="1">
                <a:solidFill>
                  <a:srgbClr val="017FFD"/>
                </a:solidFill>
              </a:rPr>
              <a:t>Screenshot: catalogue search → six LifeCycle cohorts</a:t>
            </a:r>
          </a:p>
        </p:txBody>
      </p:sp>
      <p:sp>
        <p:nvSpPr>
          <p:cNvPr id="950" name="jrow0"/>
          <p:cNvSpPr/>
          <p:nvPr/>
        </p:nvSpPr>
        <p:spPr>
          <a:xfrm>
            <a:off x="5560000" y="2360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FB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7A7F87"/>
                </a:solidFill>
              </a:rPr>
              <a:t>Local data</a:t>
            </a:r>
          </a:p>
        </p:txBody>
      </p:sp>
      <p:pic>
        <p:nvPicPr>
          <p:cNvPr id="951" name="ic0"/>
          <p:cNvPicPr/>
          <p:nvPr/>
        </p:nvPicPr>
        <p:blipFill>
          <a:blip r:embed="rId2"/>
          <a:stretch>
            <a:fillRect/>
          </a:stretch>
        </p:blipFill>
        <p:spPr>
          <a:xfrm>
            <a:off x="5695000" y="2435000"/>
            <a:ext cx="250000" cy="250000"/>
          </a:xfrm>
          <a:prstGeom prst="rect">
            <a:avLst/>
          </a:prstGeom>
        </p:spPr>
      </p:pic>
      <p:sp>
        <p:nvSpPr>
          <p:cNvPr id="952" name="jrow1"/>
          <p:cNvSpPr/>
          <p:nvPr/>
        </p:nvSpPr>
        <p:spPr>
          <a:xfrm>
            <a:off x="5560000" y="2804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017FFD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017FFD"/>
                </a:solidFill>
              </a:rPr>
              <a:t>Catalogue</a:t>
            </a:r>
          </a:p>
        </p:txBody>
      </p:sp>
      <p:pic>
        <p:nvPicPr>
          <p:cNvPr id="953" name="ic1"/>
          <p:cNvPicPr/>
          <p:nvPr/>
        </p:nvPicPr>
        <p:blipFill>
          <a:blip r:embed="rId3"/>
          <a:stretch>
            <a:fillRect/>
          </a:stretch>
        </p:blipFill>
        <p:spPr>
          <a:xfrm>
            <a:off x="5695000" y="2879000"/>
            <a:ext cx="250000" cy="250000"/>
          </a:xfrm>
          <a:prstGeom prst="rect">
            <a:avLst/>
          </a:prstGeom>
        </p:spPr>
      </p:pic>
      <p:sp>
        <p:nvSpPr>
          <p:cNvPr id="954" name="jrow2"/>
          <p:cNvSpPr/>
          <p:nvPr/>
        </p:nvSpPr>
        <p:spPr>
          <a:xfrm>
            <a:off x="5560000" y="3248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FB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7A7F87"/>
                </a:solidFill>
              </a:rPr>
              <a:t>Request</a:t>
            </a:r>
          </a:p>
        </p:txBody>
      </p:sp>
      <p:pic>
        <p:nvPicPr>
          <p:cNvPr id="955" name="ic2"/>
          <p:cNvPicPr/>
          <p:nvPr/>
        </p:nvPicPr>
        <p:blipFill>
          <a:blip r:embed="rId4"/>
          <a:stretch>
            <a:fillRect/>
          </a:stretch>
        </p:blipFill>
        <p:spPr>
          <a:xfrm>
            <a:off x="5695000" y="3323000"/>
            <a:ext cx="250000" cy="250000"/>
          </a:xfrm>
          <a:prstGeom prst="rect">
            <a:avLst/>
          </a:prstGeom>
        </p:spPr>
      </p:pic>
      <p:sp>
        <p:nvSpPr>
          <p:cNvPr id="956" name="jrow3"/>
          <p:cNvSpPr/>
          <p:nvPr/>
        </p:nvSpPr>
        <p:spPr>
          <a:xfrm>
            <a:off x="5560000" y="3692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FB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7A7F87"/>
                </a:solidFill>
              </a:rPr>
              <a:t>Access</a:t>
            </a:r>
          </a:p>
        </p:txBody>
      </p:sp>
      <p:pic>
        <p:nvPicPr>
          <p:cNvPr id="957" name="ic3"/>
          <p:cNvPicPr/>
          <p:nvPr/>
        </p:nvPicPr>
        <p:blipFill>
          <a:blip r:embed="rId5"/>
          <a:stretch>
            <a:fillRect/>
          </a:stretch>
        </p:blipFill>
        <p:spPr>
          <a:xfrm>
            <a:off x="5695000" y="3767000"/>
            <a:ext cx="250000" cy="250000"/>
          </a:xfrm>
          <a:prstGeom prst="rect">
            <a:avLst/>
          </a:prstGeom>
        </p:spPr>
      </p:pic>
      <p:sp>
        <p:nvSpPr>
          <p:cNvPr id="958" name="jrow4"/>
          <p:cNvSpPr/>
          <p:nvPr/>
        </p:nvSpPr>
        <p:spPr>
          <a:xfrm>
            <a:off x="5560000" y="4136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FB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7A7F87"/>
                </a:solidFill>
              </a:rPr>
              <a:t>Analyse</a:t>
            </a:r>
          </a:p>
        </p:txBody>
      </p:sp>
      <p:pic>
        <p:nvPicPr>
          <p:cNvPr id="959" name="ic4"/>
          <p:cNvPicPr/>
          <p:nvPr/>
        </p:nvPicPr>
        <p:blipFill>
          <a:blip r:embed="rId6"/>
          <a:stretch>
            <a:fillRect/>
          </a:stretch>
        </p:blipFill>
        <p:spPr>
          <a:xfrm>
            <a:off x="5695000" y="4211000"/>
            <a:ext cx="250000" cy="250000"/>
          </a:xfrm>
          <a:prstGeom prst="rect">
            <a:avLst/>
          </a:prstGeom>
        </p:spPr>
      </p:pic>
      <p:sp>
        <p:nvSpPr>
          <p:cNvPr id="960" name="jcap"/>
          <p:cNvSpPr txBox="1"/>
          <p:nvPr/>
        </p:nvSpPr>
        <p:spPr>
          <a:xfrm>
            <a:off x="5560000" y="4606000"/>
            <a:ext cx="318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algn="ctr" rtl="0">
              <a:buNone/>
            </a:pPr>
            <a:r>
              <a:rPr lang="en" sz="1000" b="1" i="1">
                <a:solidFill>
                  <a:srgbClr val="7A7F87"/>
                </a:solidFill>
              </a:rPr>
              <a:t>one open stack — same at every scale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60"/>
          <p:cNvSpPr txBox="1">
            <a:spLocks noGrp="1"/>
          </p:cNvSpPr>
          <p:nvPr>
            <p:ph type="title"/>
          </p:nvPr>
        </p:nvSpPr>
        <p:spPr>
          <a:xfrm>
            <a:off x="628650" y="832900"/>
            <a:ext cx="790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APPLICATION · DEMO</a:t>
            </a:r>
          </a:p>
          <a:p>
            <a:pPr marL="0" lvl="0" indent="0" algn="l" rtl="0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Request</a:t>
            </a:r>
          </a:p>
        </p:txBody>
      </p:sp>
      <p:sp>
        <p:nvSpPr>
          <p:cNvPr id="940" name="lead"/>
          <p:cNvSpPr txBox="1"/>
          <p:nvPr/>
        </p:nvSpPr>
        <p:spPr>
          <a:xfrm>
            <a:off x="628650" y="1600000"/>
            <a:ext cx="79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16000"/>
              </a:lnSpc>
              <a:buNone/>
            </a:pPr>
            <a:r>
              <a:rPr lang="en" sz="1500" dirty="0"/>
              <a:t>One request in the BBMRI-ERIC Negotiator — fans out to all six cohorts; each independently approves or declines.</a:t>
            </a:r>
          </a:p>
        </p:txBody>
      </p:sp>
      <p:sp>
        <p:nvSpPr>
          <p:cNvPr id="941" name="placeholder"/>
          <p:cNvSpPr/>
          <p:nvPr/>
        </p:nvSpPr>
        <p:spPr>
          <a:xfrm>
            <a:off x="628650" y="2360000"/>
            <a:ext cx="4640000" cy="2150000"/>
          </a:xfrm>
          <a:prstGeom prst="roundRect">
            <a:avLst>
              <a:gd name="adj" fmla="val 3500"/>
            </a:avLst>
          </a:prstGeom>
          <a:solidFill>
            <a:srgbClr val="EAF2FF"/>
          </a:solidFill>
          <a:ln w="12700" cap="flat">
            <a:solidFill>
              <a:srgbClr val="017FFD"/>
            </a:solidFill>
            <a:prstDash val="dash"/>
          </a:ln>
        </p:spPr>
        <p:txBody>
          <a:bodyPr spcFirstLastPara="1" wrap="square" lIns="137160" tIns="91440" rIns="137160" bIns="91440" anchor="ctr" anchorCtr="0">
            <a:noAutofit/>
          </a:bodyPr>
          <a:lstStyle/>
          <a:p>
            <a:pPr algn="ctr" rtl="0">
              <a:buNone/>
            </a:pPr>
            <a:r>
              <a:rPr lang="en" sz="1150" i="1">
                <a:solidFill>
                  <a:srgbClr val="017FFD"/>
                </a:solidFill>
              </a:rPr>
              <a:t>Screenshot: the Negotiator request across six cohorts</a:t>
            </a:r>
          </a:p>
        </p:txBody>
      </p:sp>
      <p:sp>
        <p:nvSpPr>
          <p:cNvPr id="950" name="jrow0"/>
          <p:cNvSpPr/>
          <p:nvPr/>
        </p:nvSpPr>
        <p:spPr>
          <a:xfrm>
            <a:off x="5560000" y="2360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FB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7A7F87"/>
                </a:solidFill>
              </a:rPr>
              <a:t>Local data</a:t>
            </a:r>
          </a:p>
        </p:txBody>
      </p:sp>
      <p:pic>
        <p:nvPicPr>
          <p:cNvPr id="951" name="ic0"/>
          <p:cNvPicPr/>
          <p:nvPr/>
        </p:nvPicPr>
        <p:blipFill>
          <a:blip r:embed="rId2"/>
          <a:stretch>
            <a:fillRect/>
          </a:stretch>
        </p:blipFill>
        <p:spPr>
          <a:xfrm>
            <a:off x="5695000" y="2435000"/>
            <a:ext cx="250000" cy="250000"/>
          </a:xfrm>
          <a:prstGeom prst="rect">
            <a:avLst/>
          </a:prstGeom>
        </p:spPr>
      </p:pic>
      <p:sp>
        <p:nvSpPr>
          <p:cNvPr id="952" name="jrow1"/>
          <p:cNvSpPr/>
          <p:nvPr/>
        </p:nvSpPr>
        <p:spPr>
          <a:xfrm>
            <a:off x="5560000" y="2804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FB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7A7F87"/>
                </a:solidFill>
              </a:rPr>
              <a:t>Catalogue</a:t>
            </a:r>
          </a:p>
        </p:txBody>
      </p:sp>
      <p:pic>
        <p:nvPicPr>
          <p:cNvPr id="953" name="ic1"/>
          <p:cNvPicPr/>
          <p:nvPr/>
        </p:nvPicPr>
        <p:blipFill>
          <a:blip r:embed="rId3"/>
          <a:stretch>
            <a:fillRect/>
          </a:stretch>
        </p:blipFill>
        <p:spPr>
          <a:xfrm>
            <a:off x="5695000" y="2879000"/>
            <a:ext cx="250000" cy="250000"/>
          </a:xfrm>
          <a:prstGeom prst="rect">
            <a:avLst/>
          </a:prstGeom>
        </p:spPr>
      </p:pic>
      <p:sp>
        <p:nvSpPr>
          <p:cNvPr id="954" name="jrow2"/>
          <p:cNvSpPr/>
          <p:nvPr/>
        </p:nvSpPr>
        <p:spPr>
          <a:xfrm>
            <a:off x="5560000" y="3248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017FFD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017FFD"/>
                </a:solidFill>
              </a:rPr>
              <a:t>Request</a:t>
            </a:r>
          </a:p>
        </p:txBody>
      </p:sp>
      <p:pic>
        <p:nvPicPr>
          <p:cNvPr id="955" name="ic2"/>
          <p:cNvPicPr/>
          <p:nvPr/>
        </p:nvPicPr>
        <p:blipFill>
          <a:blip r:embed="rId4"/>
          <a:stretch>
            <a:fillRect/>
          </a:stretch>
        </p:blipFill>
        <p:spPr>
          <a:xfrm>
            <a:off x="5695000" y="3323000"/>
            <a:ext cx="250000" cy="250000"/>
          </a:xfrm>
          <a:prstGeom prst="rect">
            <a:avLst/>
          </a:prstGeom>
        </p:spPr>
      </p:pic>
      <p:sp>
        <p:nvSpPr>
          <p:cNvPr id="956" name="jrow3"/>
          <p:cNvSpPr/>
          <p:nvPr/>
        </p:nvSpPr>
        <p:spPr>
          <a:xfrm>
            <a:off x="5560000" y="3692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FB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7A7F87"/>
                </a:solidFill>
              </a:rPr>
              <a:t>Access</a:t>
            </a:r>
          </a:p>
        </p:txBody>
      </p:sp>
      <p:pic>
        <p:nvPicPr>
          <p:cNvPr id="957" name="ic3"/>
          <p:cNvPicPr/>
          <p:nvPr/>
        </p:nvPicPr>
        <p:blipFill>
          <a:blip r:embed="rId5"/>
          <a:stretch>
            <a:fillRect/>
          </a:stretch>
        </p:blipFill>
        <p:spPr>
          <a:xfrm>
            <a:off x="5695000" y="3767000"/>
            <a:ext cx="250000" cy="250000"/>
          </a:xfrm>
          <a:prstGeom prst="rect">
            <a:avLst/>
          </a:prstGeom>
        </p:spPr>
      </p:pic>
      <p:sp>
        <p:nvSpPr>
          <p:cNvPr id="958" name="jrow4"/>
          <p:cNvSpPr/>
          <p:nvPr/>
        </p:nvSpPr>
        <p:spPr>
          <a:xfrm>
            <a:off x="5560000" y="4136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FB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7A7F87"/>
                </a:solidFill>
              </a:rPr>
              <a:t>Analyse</a:t>
            </a:r>
          </a:p>
        </p:txBody>
      </p:sp>
      <p:pic>
        <p:nvPicPr>
          <p:cNvPr id="959" name="ic4"/>
          <p:cNvPicPr/>
          <p:nvPr/>
        </p:nvPicPr>
        <p:blipFill>
          <a:blip r:embed="rId6"/>
          <a:stretch>
            <a:fillRect/>
          </a:stretch>
        </p:blipFill>
        <p:spPr>
          <a:xfrm>
            <a:off x="5695000" y="4211000"/>
            <a:ext cx="250000" cy="250000"/>
          </a:xfrm>
          <a:prstGeom prst="rect">
            <a:avLst/>
          </a:prstGeom>
        </p:spPr>
      </p:pic>
      <p:sp>
        <p:nvSpPr>
          <p:cNvPr id="960" name="jcap"/>
          <p:cNvSpPr txBox="1"/>
          <p:nvPr/>
        </p:nvSpPr>
        <p:spPr>
          <a:xfrm>
            <a:off x="5560000" y="4606000"/>
            <a:ext cx="318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algn="ctr" rtl="0">
              <a:buNone/>
            </a:pPr>
            <a:r>
              <a:rPr lang="en" sz="1000" b="1" i="1">
                <a:solidFill>
                  <a:srgbClr val="7A7F87"/>
                </a:solidFill>
              </a:rPr>
              <a:t>one open stack — same at every scale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60"/>
          <p:cNvSpPr txBox="1">
            <a:spLocks noGrp="1"/>
          </p:cNvSpPr>
          <p:nvPr>
            <p:ph type="title"/>
          </p:nvPr>
        </p:nvSpPr>
        <p:spPr>
          <a:xfrm>
            <a:off x="628650" y="832900"/>
            <a:ext cx="790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APPLICATION · DEMO</a:t>
            </a:r>
          </a:p>
          <a:p>
            <a:pPr marL="0" lvl="0" indent="0" algn="l" rtl="0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Access</a:t>
            </a:r>
          </a:p>
        </p:txBody>
      </p:sp>
      <p:sp>
        <p:nvSpPr>
          <p:cNvPr id="940" name="lead"/>
          <p:cNvSpPr txBox="1"/>
          <p:nvPr/>
        </p:nvSpPr>
        <p:spPr>
          <a:xfrm>
            <a:off x="628650" y="1600000"/>
            <a:ext cx="79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16000"/>
              </a:lnSpc>
              <a:buNone/>
            </a:pPr>
            <a:r>
              <a:rPr lang="en" sz="1500" dirty="0"/>
              <a:t>Approvals become executable </a:t>
            </a:r>
            <a:r>
              <a:rPr lang="en" sz="1500" dirty="0" err="1"/>
              <a:t>authorisations</a:t>
            </a:r>
            <a:r>
              <a:rPr lang="en" sz="1500" dirty="0"/>
              <a:t> — identity &amp; permissions provisioned via LS AAI/</a:t>
            </a:r>
            <a:r>
              <a:rPr lang="en" sz="1500" dirty="0" err="1"/>
              <a:t>Keycloak</a:t>
            </a:r>
            <a:r>
              <a:rPr lang="en" sz="1500" dirty="0"/>
              <a:t>.</a:t>
            </a:r>
          </a:p>
        </p:txBody>
      </p:sp>
      <p:sp>
        <p:nvSpPr>
          <p:cNvPr id="941" name="placeholder"/>
          <p:cNvSpPr/>
          <p:nvPr/>
        </p:nvSpPr>
        <p:spPr>
          <a:xfrm>
            <a:off x="628650" y="2360000"/>
            <a:ext cx="4640000" cy="2150000"/>
          </a:xfrm>
          <a:prstGeom prst="roundRect">
            <a:avLst>
              <a:gd name="adj" fmla="val 3500"/>
            </a:avLst>
          </a:prstGeom>
          <a:solidFill>
            <a:srgbClr val="EAF2FF"/>
          </a:solidFill>
          <a:ln w="12700" cap="flat">
            <a:solidFill>
              <a:srgbClr val="017FFD"/>
            </a:solidFill>
            <a:prstDash val="dash"/>
          </a:ln>
        </p:spPr>
        <p:txBody>
          <a:bodyPr spcFirstLastPara="1" wrap="square" lIns="137160" tIns="91440" rIns="137160" bIns="91440" anchor="ctr" anchorCtr="0">
            <a:noAutofit/>
          </a:bodyPr>
          <a:lstStyle/>
          <a:p>
            <a:pPr algn="ctr" rtl="0">
              <a:buNone/>
            </a:pPr>
            <a:r>
              <a:rPr lang="en" sz="1150" i="1">
                <a:solidFill>
                  <a:srgbClr val="017FFD"/>
                </a:solidFill>
              </a:rPr>
              <a:t>Screenshot: approval → provisioned analysis environment</a:t>
            </a:r>
          </a:p>
        </p:txBody>
      </p:sp>
      <p:sp>
        <p:nvSpPr>
          <p:cNvPr id="950" name="jrow0"/>
          <p:cNvSpPr/>
          <p:nvPr/>
        </p:nvSpPr>
        <p:spPr>
          <a:xfrm>
            <a:off x="5560000" y="2360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FB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7A7F87"/>
                </a:solidFill>
              </a:rPr>
              <a:t>Local data</a:t>
            </a:r>
          </a:p>
        </p:txBody>
      </p:sp>
      <p:pic>
        <p:nvPicPr>
          <p:cNvPr id="951" name="ic0"/>
          <p:cNvPicPr/>
          <p:nvPr/>
        </p:nvPicPr>
        <p:blipFill>
          <a:blip r:embed="rId2"/>
          <a:stretch>
            <a:fillRect/>
          </a:stretch>
        </p:blipFill>
        <p:spPr>
          <a:xfrm>
            <a:off x="5695000" y="2435000"/>
            <a:ext cx="250000" cy="250000"/>
          </a:xfrm>
          <a:prstGeom prst="rect">
            <a:avLst/>
          </a:prstGeom>
        </p:spPr>
      </p:pic>
      <p:sp>
        <p:nvSpPr>
          <p:cNvPr id="952" name="jrow1"/>
          <p:cNvSpPr/>
          <p:nvPr/>
        </p:nvSpPr>
        <p:spPr>
          <a:xfrm>
            <a:off x="5560000" y="2804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FB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7A7F87"/>
                </a:solidFill>
              </a:rPr>
              <a:t>Catalogue</a:t>
            </a:r>
          </a:p>
        </p:txBody>
      </p:sp>
      <p:pic>
        <p:nvPicPr>
          <p:cNvPr id="953" name="ic1"/>
          <p:cNvPicPr/>
          <p:nvPr/>
        </p:nvPicPr>
        <p:blipFill>
          <a:blip r:embed="rId3"/>
          <a:stretch>
            <a:fillRect/>
          </a:stretch>
        </p:blipFill>
        <p:spPr>
          <a:xfrm>
            <a:off x="5695000" y="2879000"/>
            <a:ext cx="250000" cy="250000"/>
          </a:xfrm>
          <a:prstGeom prst="rect">
            <a:avLst/>
          </a:prstGeom>
        </p:spPr>
      </p:pic>
      <p:sp>
        <p:nvSpPr>
          <p:cNvPr id="954" name="jrow2"/>
          <p:cNvSpPr/>
          <p:nvPr/>
        </p:nvSpPr>
        <p:spPr>
          <a:xfrm>
            <a:off x="5560000" y="3248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FB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7A7F87"/>
                </a:solidFill>
              </a:rPr>
              <a:t>Request</a:t>
            </a:r>
          </a:p>
        </p:txBody>
      </p:sp>
      <p:pic>
        <p:nvPicPr>
          <p:cNvPr id="955" name="ic2"/>
          <p:cNvPicPr/>
          <p:nvPr/>
        </p:nvPicPr>
        <p:blipFill>
          <a:blip r:embed="rId4"/>
          <a:stretch>
            <a:fillRect/>
          </a:stretch>
        </p:blipFill>
        <p:spPr>
          <a:xfrm>
            <a:off x="5695000" y="3323000"/>
            <a:ext cx="250000" cy="250000"/>
          </a:xfrm>
          <a:prstGeom prst="rect">
            <a:avLst/>
          </a:prstGeom>
        </p:spPr>
      </p:pic>
      <p:sp>
        <p:nvSpPr>
          <p:cNvPr id="956" name="jrow3"/>
          <p:cNvSpPr/>
          <p:nvPr/>
        </p:nvSpPr>
        <p:spPr>
          <a:xfrm>
            <a:off x="5560000" y="3692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017FFD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017FFD"/>
                </a:solidFill>
              </a:rPr>
              <a:t>Access</a:t>
            </a:r>
          </a:p>
        </p:txBody>
      </p:sp>
      <p:pic>
        <p:nvPicPr>
          <p:cNvPr id="957" name="ic3"/>
          <p:cNvPicPr/>
          <p:nvPr/>
        </p:nvPicPr>
        <p:blipFill>
          <a:blip r:embed="rId5"/>
          <a:stretch>
            <a:fillRect/>
          </a:stretch>
        </p:blipFill>
        <p:spPr>
          <a:xfrm>
            <a:off x="5695000" y="3767000"/>
            <a:ext cx="250000" cy="250000"/>
          </a:xfrm>
          <a:prstGeom prst="rect">
            <a:avLst/>
          </a:prstGeom>
        </p:spPr>
      </p:pic>
      <p:sp>
        <p:nvSpPr>
          <p:cNvPr id="958" name="jrow4"/>
          <p:cNvSpPr/>
          <p:nvPr/>
        </p:nvSpPr>
        <p:spPr>
          <a:xfrm>
            <a:off x="5560000" y="4136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FB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7A7F87"/>
                </a:solidFill>
              </a:rPr>
              <a:t>Analyse</a:t>
            </a:r>
          </a:p>
        </p:txBody>
      </p:sp>
      <p:pic>
        <p:nvPicPr>
          <p:cNvPr id="959" name="ic4"/>
          <p:cNvPicPr/>
          <p:nvPr/>
        </p:nvPicPr>
        <p:blipFill>
          <a:blip r:embed="rId6"/>
          <a:stretch>
            <a:fillRect/>
          </a:stretch>
        </p:blipFill>
        <p:spPr>
          <a:xfrm>
            <a:off x="5695000" y="4211000"/>
            <a:ext cx="250000" cy="250000"/>
          </a:xfrm>
          <a:prstGeom prst="rect">
            <a:avLst/>
          </a:prstGeom>
        </p:spPr>
      </p:pic>
      <p:sp>
        <p:nvSpPr>
          <p:cNvPr id="960" name="jcap"/>
          <p:cNvSpPr txBox="1"/>
          <p:nvPr/>
        </p:nvSpPr>
        <p:spPr>
          <a:xfrm>
            <a:off x="5560000" y="4606000"/>
            <a:ext cx="318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algn="ctr" rtl="0">
              <a:buNone/>
            </a:pPr>
            <a:r>
              <a:rPr lang="en" sz="1000" b="1" i="1">
                <a:solidFill>
                  <a:srgbClr val="7A7F87"/>
                </a:solidFill>
              </a:rPr>
              <a:t>one open stack — same at every scale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60"/>
          <p:cNvSpPr txBox="1">
            <a:spLocks noGrp="1"/>
          </p:cNvSpPr>
          <p:nvPr>
            <p:ph type="title"/>
          </p:nvPr>
        </p:nvSpPr>
        <p:spPr>
          <a:xfrm>
            <a:off x="628650" y="832900"/>
            <a:ext cx="790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APPLICATION · DEMO</a:t>
            </a:r>
          </a:p>
          <a:p>
            <a:pPr marL="0" lvl="0" indent="0" algn="l" rtl="0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Analyse</a:t>
            </a:r>
          </a:p>
        </p:txBody>
      </p:sp>
      <p:sp>
        <p:nvSpPr>
          <p:cNvPr id="940" name="lead"/>
          <p:cNvSpPr txBox="1"/>
          <p:nvPr/>
        </p:nvSpPr>
        <p:spPr>
          <a:xfrm>
            <a:off x="628650" y="1600000"/>
            <a:ext cx="79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lvl="0">
              <a:lnSpc>
                <a:spcPct val="116000"/>
              </a:lnSpc>
            </a:pPr>
            <a:r>
              <a:rPr lang="en" sz="1500" dirty="0"/>
              <a:t>Federated analysis across all six cohorts — data never moves; only safe summary results are pooled. The question is answered, end to end, ; an Armadillo node stood up at each cohort.</a:t>
            </a:r>
          </a:p>
        </p:txBody>
      </p:sp>
      <p:sp>
        <p:nvSpPr>
          <p:cNvPr id="941" name="placeholder"/>
          <p:cNvSpPr/>
          <p:nvPr/>
        </p:nvSpPr>
        <p:spPr>
          <a:xfrm>
            <a:off x="628650" y="2360000"/>
            <a:ext cx="4640000" cy="2150000"/>
          </a:xfrm>
          <a:prstGeom prst="roundRect">
            <a:avLst>
              <a:gd name="adj" fmla="val 3500"/>
            </a:avLst>
          </a:prstGeom>
          <a:solidFill>
            <a:srgbClr val="EAF2FF"/>
          </a:solidFill>
          <a:ln w="12700" cap="flat">
            <a:solidFill>
              <a:srgbClr val="017FFD"/>
            </a:solidFill>
            <a:prstDash val="dash"/>
          </a:ln>
        </p:spPr>
        <p:txBody>
          <a:bodyPr spcFirstLastPara="1" wrap="square" lIns="137160" tIns="91440" rIns="137160" bIns="91440" anchor="ctr" anchorCtr="0">
            <a:noAutofit/>
          </a:bodyPr>
          <a:lstStyle/>
          <a:p>
            <a:pPr algn="ctr" rtl="0">
              <a:buNone/>
            </a:pPr>
            <a:r>
              <a:rPr lang="en" sz="1150" i="1">
                <a:solidFill>
                  <a:srgbClr val="017FFD"/>
                </a:solidFill>
              </a:rPr>
              <a:t>Screenshot: federated analysis result</a:t>
            </a:r>
          </a:p>
        </p:txBody>
      </p:sp>
      <p:sp>
        <p:nvSpPr>
          <p:cNvPr id="950" name="jrow0"/>
          <p:cNvSpPr/>
          <p:nvPr/>
        </p:nvSpPr>
        <p:spPr>
          <a:xfrm>
            <a:off x="5560000" y="2360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017FFD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017FFD"/>
                </a:solidFill>
              </a:rPr>
              <a:t>Local data</a:t>
            </a:r>
          </a:p>
        </p:txBody>
      </p:sp>
      <p:pic>
        <p:nvPicPr>
          <p:cNvPr id="951" name="ic0"/>
          <p:cNvPicPr/>
          <p:nvPr/>
        </p:nvPicPr>
        <p:blipFill>
          <a:blip r:embed="rId2"/>
          <a:stretch>
            <a:fillRect/>
          </a:stretch>
        </p:blipFill>
        <p:spPr>
          <a:xfrm>
            <a:off x="5695000" y="2435000"/>
            <a:ext cx="250000" cy="250000"/>
          </a:xfrm>
          <a:prstGeom prst="rect">
            <a:avLst/>
          </a:prstGeom>
        </p:spPr>
      </p:pic>
      <p:sp>
        <p:nvSpPr>
          <p:cNvPr id="952" name="jrow1"/>
          <p:cNvSpPr/>
          <p:nvPr/>
        </p:nvSpPr>
        <p:spPr>
          <a:xfrm>
            <a:off x="5560000" y="2804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017FFD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017FFD"/>
                </a:solidFill>
              </a:rPr>
              <a:t>Catalogue</a:t>
            </a:r>
          </a:p>
        </p:txBody>
      </p:sp>
      <p:pic>
        <p:nvPicPr>
          <p:cNvPr id="953" name="ic1"/>
          <p:cNvPicPr/>
          <p:nvPr/>
        </p:nvPicPr>
        <p:blipFill>
          <a:blip r:embed="rId3"/>
          <a:stretch>
            <a:fillRect/>
          </a:stretch>
        </p:blipFill>
        <p:spPr>
          <a:xfrm>
            <a:off x="5695000" y="2879000"/>
            <a:ext cx="250000" cy="250000"/>
          </a:xfrm>
          <a:prstGeom prst="rect">
            <a:avLst/>
          </a:prstGeom>
        </p:spPr>
      </p:pic>
      <p:sp>
        <p:nvSpPr>
          <p:cNvPr id="954" name="jrow2"/>
          <p:cNvSpPr/>
          <p:nvPr/>
        </p:nvSpPr>
        <p:spPr>
          <a:xfrm>
            <a:off x="5560000" y="3248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017FFD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017FFD"/>
                </a:solidFill>
              </a:rPr>
              <a:t>Request</a:t>
            </a:r>
          </a:p>
        </p:txBody>
      </p:sp>
      <p:pic>
        <p:nvPicPr>
          <p:cNvPr id="955" name="ic2"/>
          <p:cNvPicPr/>
          <p:nvPr/>
        </p:nvPicPr>
        <p:blipFill>
          <a:blip r:embed="rId4"/>
          <a:stretch>
            <a:fillRect/>
          </a:stretch>
        </p:blipFill>
        <p:spPr>
          <a:xfrm>
            <a:off x="5695000" y="3323000"/>
            <a:ext cx="250000" cy="250000"/>
          </a:xfrm>
          <a:prstGeom prst="rect">
            <a:avLst/>
          </a:prstGeom>
        </p:spPr>
      </p:pic>
      <p:sp>
        <p:nvSpPr>
          <p:cNvPr id="956" name="jrow3"/>
          <p:cNvSpPr/>
          <p:nvPr/>
        </p:nvSpPr>
        <p:spPr>
          <a:xfrm>
            <a:off x="5560000" y="3692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017FFD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017FFD"/>
                </a:solidFill>
              </a:rPr>
              <a:t>Access</a:t>
            </a:r>
          </a:p>
        </p:txBody>
      </p:sp>
      <p:pic>
        <p:nvPicPr>
          <p:cNvPr id="957" name="ic3"/>
          <p:cNvPicPr/>
          <p:nvPr/>
        </p:nvPicPr>
        <p:blipFill>
          <a:blip r:embed="rId5"/>
          <a:stretch>
            <a:fillRect/>
          </a:stretch>
        </p:blipFill>
        <p:spPr>
          <a:xfrm>
            <a:off x="5695000" y="3767000"/>
            <a:ext cx="250000" cy="250000"/>
          </a:xfrm>
          <a:prstGeom prst="rect">
            <a:avLst/>
          </a:prstGeom>
        </p:spPr>
      </p:pic>
      <p:sp>
        <p:nvSpPr>
          <p:cNvPr id="958" name="jrow4"/>
          <p:cNvSpPr/>
          <p:nvPr/>
        </p:nvSpPr>
        <p:spPr>
          <a:xfrm>
            <a:off x="5560000" y="4136000"/>
            <a:ext cx="3180000" cy="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017FFD"/>
            </a:solidFill>
          </a:ln>
        </p:spPr>
        <p:txBody>
          <a:bodyPr spcFirstLastPara="1" wrap="square" lIns="640000" tIns="22860" rIns="68575" bIns="22860" anchor="ctr" anchorCtr="0">
            <a:noAutofit/>
          </a:bodyPr>
          <a:lstStyle/>
          <a:p>
            <a:pPr algn="l" rtl="0">
              <a:buNone/>
            </a:pPr>
            <a:r>
              <a:rPr lang="en" sz="1500" b="1">
                <a:solidFill>
                  <a:srgbClr val="017FFD"/>
                </a:solidFill>
              </a:rPr>
              <a:t>Analyse</a:t>
            </a:r>
          </a:p>
        </p:txBody>
      </p:sp>
      <p:pic>
        <p:nvPicPr>
          <p:cNvPr id="959" name="ic4"/>
          <p:cNvPicPr/>
          <p:nvPr/>
        </p:nvPicPr>
        <p:blipFill>
          <a:blip r:embed="rId6"/>
          <a:stretch>
            <a:fillRect/>
          </a:stretch>
        </p:blipFill>
        <p:spPr>
          <a:xfrm>
            <a:off x="5695000" y="4211000"/>
            <a:ext cx="250000" cy="250000"/>
          </a:xfrm>
          <a:prstGeom prst="rect">
            <a:avLst/>
          </a:prstGeom>
        </p:spPr>
      </p:pic>
      <p:sp>
        <p:nvSpPr>
          <p:cNvPr id="960" name="jcap"/>
          <p:cNvSpPr txBox="1"/>
          <p:nvPr/>
        </p:nvSpPr>
        <p:spPr>
          <a:xfrm>
            <a:off x="5560000" y="4606000"/>
            <a:ext cx="318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algn="ctr" rtl="0">
              <a:buNone/>
            </a:pPr>
            <a:r>
              <a:rPr lang="en" sz="1000" b="1" i="1">
                <a:solidFill>
                  <a:srgbClr val="7A7F87"/>
                </a:solidFill>
              </a:rPr>
              <a:t>one open stack — same at every scale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1" name="Google Shape;2901;p254"/>
          <p:cNvSpPr txBox="1">
            <a:spLocks noGrp="1"/>
          </p:cNvSpPr>
          <p:nvPr>
            <p:ph type="ctrTitle"/>
          </p:nvPr>
        </p:nvSpPr>
        <p:spPr>
          <a:xfrm>
            <a:off x="1143000" y="1708714"/>
            <a:ext cx="8001000" cy="831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622300" algn="l" rtl="0">
              <a:spcBef>
                <a:spcPts val="0"/>
              </a:spcBef>
              <a:spcAft>
                <a:spcPts val="0"/>
              </a:spcAft>
              <a:buSzPts val="6200"/>
              <a:buNone/>
            </a:pPr>
            <a:r>
              <a:rPr lang="en" dirty="0"/>
              <a:t>Part 4 — Concluding remarks</a:t>
            </a:r>
            <a:endParaRPr sz="2200" b="0" dirty="0"/>
          </a:p>
        </p:txBody>
      </p:sp>
      <p:sp>
        <p:nvSpPr>
          <p:cNvPr id="2902" name="Google Shape;2902;p25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lt1"/>
                </a:solidFill>
              </a:rPr>
              <a:t>From a demo to a blueprint — and the road ahead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60"/>
          <p:cNvSpPr txBox="1">
            <a:spLocks noGrp="1"/>
          </p:cNvSpPr>
          <p:nvPr>
            <p:ph type="title"/>
          </p:nvPr>
        </p:nvSpPr>
        <p:spPr>
          <a:xfrm>
            <a:off x="628650" y="832900"/>
            <a:ext cx="790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CONCLUDING REMARKS</a:t>
            </a:r>
          </a:p>
          <a:p>
            <a:pPr marL="0" lvl="0" indent="0" algn="l" rtl="0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dirty="0"/>
              <a:t>A common blueprint, </a:t>
            </a:r>
            <a:r>
              <a:rPr lang="en" dirty="0" err="1"/>
              <a:t>variationS</a:t>
            </a:r>
            <a:r>
              <a:rPr lang="en" dirty="0"/>
              <a:t> per domain</a:t>
            </a:r>
          </a:p>
        </p:txBody>
      </p:sp>
      <p:sp>
        <p:nvSpPr>
          <p:cNvPr id="940" name="bullets"/>
          <p:cNvSpPr txBox="1"/>
          <p:nvPr/>
        </p:nvSpPr>
        <p:spPr>
          <a:xfrm>
            <a:off x="628650" y="2120000"/>
            <a:ext cx="4520000" cy="2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70000" lnSpcReduction="20000"/>
          </a:bodyPr>
          <a:lstStyle/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sz="1750" dirty="0">
                <a:solidFill>
                  <a:srgbClr val="333333"/>
                </a:solidFill>
              </a:rPr>
              <a:t>Seen often now — the common blueprint is starting to complete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sz="1750" dirty="0">
                <a:solidFill>
                  <a:srgbClr val="333333"/>
                </a:solidFill>
              </a:rPr>
              <a:t>Same open stack, every scale — only the level changes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sz="1750" dirty="0">
                <a:solidFill>
                  <a:srgbClr val="333333"/>
                </a:solidFill>
              </a:rPr>
              <a:t>Modular, open blocks — MOLGENIS, XNAT, Armadillo, Negotiator — no lock-in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sz="1750" dirty="0">
                <a:solidFill>
                  <a:srgbClr val="333333"/>
                </a:solidFill>
              </a:rPr>
              <a:t>Varies per research: data model · variables · analysis protocol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1100"/>
              </a:spcBef>
              <a:buSzPts val="1575"/>
              <a:buChar char="•"/>
            </a:pPr>
            <a:r>
              <a:rPr lang="en" sz="1750" dirty="0">
                <a:solidFill>
                  <a:srgbClr val="333333"/>
                </a:solidFill>
              </a:rPr>
              <a:t>We argued it in 2007 — generate the infrastructure, don’t over-</a:t>
            </a:r>
            <a:r>
              <a:rPr lang="en" sz="1750" dirty="0" err="1">
                <a:solidFill>
                  <a:srgbClr val="333333"/>
                </a:solidFill>
              </a:rPr>
              <a:t>standardise</a:t>
            </a:r>
            <a:endParaRPr lang="en" sz="1750" dirty="0">
              <a:solidFill>
                <a:srgbClr val="333333"/>
              </a:solidFill>
            </a:endParaRPr>
          </a:p>
        </p:txBody>
      </p:sp>
      <p:sp>
        <p:nvSpPr>
          <p:cNvPr id="941" name="placeholder"/>
          <p:cNvSpPr/>
          <p:nvPr/>
        </p:nvSpPr>
        <p:spPr>
          <a:xfrm>
            <a:off x="5340000" y="1500000"/>
            <a:ext cx="3400000" cy="2980000"/>
          </a:xfrm>
          <a:prstGeom prst="roundRect">
            <a:avLst>
              <a:gd name="adj" fmla="val 3500"/>
            </a:avLst>
          </a:prstGeom>
          <a:solidFill>
            <a:srgbClr val="EAF2FF"/>
          </a:solidFill>
          <a:ln w="12700" cap="flat">
            <a:solidFill>
              <a:srgbClr val="017FFD"/>
            </a:solidFill>
            <a:prstDash val="dash"/>
          </a:ln>
        </p:spPr>
        <p:txBody>
          <a:bodyPr spcFirstLastPara="1" wrap="square" lIns="137160" tIns="91440" rIns="137160" bIns="91440" anchor="ctr" anchorCtr="0">
            <a:noAutofit/>
          </a:bodyPr>
          <a:lstStyle/>
          <a:p>
            <a:pPr algn="ctr" rtl="0">
              <a:buNone/>
            </a:pPr>
            <a:r>
              <a:rPr lang="en" sz="1150" i="1">
                <a:solidFill>
                  <a:srgbClr val="017FFD"/>
                </a:solidFill>
              </a:rPr>
              <a:t>Figure: the journey diagram 3× — birth cohorts · rare disease · clinical biobanks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60"/>
          <p:cNvSpPr txBox="1">
            <a:spLocks noGrp="1"/>
          </p:cNvSpPr>
          <p:nvPr>
            <p:ph type="title"/>
          </p:nvPr>
        </p:nvSpPr>
        <p:spPr>
          <a:xfrm>
            <a:off x="628650" y="832900"/>
            <a:ext cx="790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CONCLUDING REMARKS</a:t>
            </a:r>
          </a:p>
          <a:p>
            <a:pPr marL="0" lvl="0" indent="0" algn="l" rtl="0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dirty="0"/>
              <a:t>NEXT STEPS — and what it asks of us</a:t>
            </a:r>
          </a:p>
        </p:txBody>
      </p:sp>
      <p:sp>
        <p:nvSpPr>
          <p:cNvPr id="960" name="card"/>
          <p:cNvSpPr/>
          <p:nvPr/>
        </p:nvSpPr>
        <p:spPr>
          <a:xfrm>
            <a:off x="628650" y="1820000"/>
            <a:ext cx="3900000" cy="30000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CFE0FB"/>
            </a:solidFill>
          </a:ln>
        </p:spPr>
        <p:txBody>
          <a:bodyPr spcFirstLastPara="1" wrap="square" lIns="180000" tIns="150000" rIns="150000" bIns="140000" anchor="t" anchorCtr="0">
            <a:normAutofit fontScale="92500" lnSpcReduction="10000"/>
          </a:bodyPr>
          <a:lstStyle/>
          <a:p>
            <a:pPr marL="0" lvl="0" indent="0" algn="l" rtl="0">
              <a:spcAft>
                <a:spcPts val="700"/>
              </a:spcAft>
              <a:buNone/>
            </a:pPr>
            <a:r>
              <a:rPr lang="en" sz="1700" b="1" dirty="0">
                <a:solidFill>
                  <a:srgbClr val="017FFD"/>
                </a:solidFill>
              </a:rPr>
              <a:t>Where it’s going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800"/>
              </a:spcBef>
              <a:buSzPts val="1350"/>
              <a:buChar char="•"/>
            </a:pPr>
            <a:r>
              <a:rPr lang="en" sz="1500" dirty="0">
                <a:solidFill>
                  <a:srgbClr val="333333"/>
                </a:solidFill>
              </a:rPr>
              <a:t>EHDS — consortia can be trusted data holders, simplified procedure</a:t>
            </a:r>
          </a:p>
          <a:p>
            <a:pPr marL="320040" indent="-320040">
              <a:lnSpc>
                <a:spcPct val="112000"/>
              </a:lnSpc>
              <a:spcBef>
                <a:spcPts val="800"/>
              </a:spcBef>
              <a:buSzPts val="1350"/>
              <a:buFont typeface="Arial"/>
              <a:buChar char="•"/>
            </a:pPr>
            <a:r>
              <a:rPr lang="en" sz="1500" dirty="0">
                <a:solidFill>
                  <a:srgbClr val="333333"/>
                </a:solidFill>
              </a:rPr>
              <a:t>A series of consortia reusing each other’s work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800"/>
              </a:spcBef>
              <a:buSzPts val="1350"/>
              <a:buChar char="•"/>
            </a:pPr>
            <a:r>
              <a:rPr lang="en" sz="1500" dirty="0">
                <a:solidFill>
                  <a:srgbClr val="333333"/>
                </a:solidFill>
              </a:rPr>
              <a:t>MOLGENIS can host it — cheap to keep alive, costs only when used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800"/>
              </a:spcBef>
              <a:buSzPts val="1350"/>
              <a:buChar char="•"/>
            </a:pPr>
            <a:r>
              <a:rPr lang="en" sz="1500" dirty="0">
                <a:solidFill>
                  <a:srgbClr val="333333"/>
                </a:solidFill>
              </a:rPr>
              <a:t>Toward EOSC-node hosting; across RIs (BBMRI-ERIC, ECRIN, …)</a:t>
            </a:r>
          </a:p>
        </p:txBody>
      </p:sp>
      <p:sp>
        <p:nvSpPr>
          <p:cNvPr id="961" name="card"/>
          <p:cNvSpPr/>
          <p:nvPr/>
        </p:nvSpPr>
        <p:spPr>
          <a:xfrm>
            <a:off x="4630000" y="1820000"/>
            <a:ext cx="3900000" cy="30000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CFE0FB"/>
            </a:solidFill>
          </a:ln>
        </p:spPr>
        <p:txBody>
          <a:bodyPr spcFirstLastPara="1" wrap="square" lIns="180000" tIns="150000" rIns="150000" bIns="140000" anchor="t" anchorCtr="0">
            <a:normAutofit fontScale="92500" lnSpcReduction="10000"/>
          </a:bodyPr>
          <a:lstStyle/>
          <a:p>
            <a:pPr marL="0" lvl="0" indent="0" algn="l" rtl="0">
              <a:spcAft>
                <a:spcPts val="700"/>
              </a:spcAft>
              <a:buNone/>
            </a:pPr>
            <a:r>
              <a:rPr lang="en" sz="1700" b="1" dirty="0">
                <a:solidFill>
                  <a:srgbClr val="017FFD"/>
                </a:solidFill>
              </a:rPr>
              <a:t>What it asks of us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800"/>
              </a:spcBef>
              <a:buSzPts val="1350"/>
              <a:buChar char="•"/>
            </a:pPr>
            <a:r>
              <a:rPr lang="en" sz="1500" dirty="0">
                <a:solidFill>
                  <a:srgbClr val="333333"/>
                </a:solidFill>
              </a:rPr>
              <a:t>Don’t rebuild the base layer — connect (single-login, standards, ELSI)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800"/>
              </a:spcBef>
              <a:buSzPts val="1350"/>
              <a:buChar char="•"/>
            </a:pPr>
            <a:r>
              <a:rPr lang="en" sz="1500" dirty="0">
                <a:solidFill>
                  <a:srgbClr val="333333"/>
                </a:solidFill>
              </a:rPr>
              <a:t>Holders keep FAIR at the source · RIs provide &amp; maintain the base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800"/>
              </a:spcBef>
              <a:buSzPts val="1350"/>
              <a:buChar char="•"/>
            </a:pPr>
            <a:r>
              <a:rPr lang="en" sz="1500" dirty="0">
                <a:solidFill>
                  <a:srgbClr val="333333"/>
                </a:solidFill>
              </a:rPr>
              <a:t>Nodes take a role and deliver components · standards enabling, not prescriptive</a:t>
            </a:r>
          </a:p>
          <a:p>
            <a:pPr marL="320040" lvl="0" indent="-320040" algn="l" rtl="0">
              <a:lnSpc>
                <a:spcPct val="112000"/>
              </a:lnSpc>
              <a:spcBef>
                <a:spcPts val="800"/>
              </a:spcBef>
              <a:buSzPts val="1350"/>
              <a:buChar char="•"/>
            </a:pPr>
            <a:r>
              <a:rPr lang="en" sz="1500" dirty="0">
                <a:solidFill>
                  <a:srgbClr val="333333"/>
                </a:solidFill>
              </a:rPr>
              <a:t>MOLGENIS’ mission: be the enabler</a:t>
            </a:r>
          </a:p>
        </p:txBody>
      </p:sp>
      <p:sp>
        <p:nvSpPr>
          <p:cNvPr id="962" name="a1"/>
          <p:cNvSpPr/>
          <p:nvPr/>
        </p:nvSpPr>
        <p:spPr>
          <a:xfrm>
            <a:off x="628650" y="1820000"/>
            <a:ext cx="3900000" cy="90000"/>
          </a:xfrm>
          <a:prstGeom prst="rect">
            <a:avLst/>
          </a:prstGeom>
          <a:solidFill>
            <a:srgbClr val="017FFD"/>
          </a:solidFill>
          <a:ln>
            <a:noFill/>
          </a:ln>
        </p:spPr>
        <p:txBody>
          <a:bodyPr/>
          <a:lstStyle/>
          <a:p>
            <a:endParaRPr lang="en"/>
          </a:p>
        </p:txBody>
      </p:sp>
      <p:sp>
        <p:nvSpPr>
          <p:cNvPr id="963" name="a2"/>
          <p:cNvSpPr/>
          <p:nvPr/>
        </p:nvSpPr>
        <p:spPr>
          <a:xfrm>
            <a:off x="4630000" y="1820000"/>
            <a:ext cx="3900000" cy="90000"/>
          </a:xfrm>
          <a:prstGeom prst="rect">
            <a:avLst/>
          </a:prstGeom>
          <a:solidFill>
            <a:srgbClr val="017FFD"/>
          </a:solidFill>
          <a:ln>
            <a:noFill/>
          </a:ln>
        </p:spPr>
        <p:txBody>
          <a:bodyPr/>
          <a:lstStyle/>
          <a:p>
            <a:endParaRPr lang="e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6" name="Google Shape;3956;p3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3958" name="Google Shape;3958;p3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m.a.swertz@umcg.nl</a:t>
            </a:r>
            <a:endParaRPr/>
          </a:p>
        </p:txBody>
      </p:sp>
      <p:pic>
        <p:nvPicPr>
          <p:cNvPr id="3957" name="Google Shape;3957;p3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34750" y="609400"/>
            <a:ext cx="4500224" cy="3090649"/>
          </a:xfrm>
          <a:prstGeom prst="rect">
            <a:avLst/>
          </a:prstGeom>
          <a:noFill/>
          <a:ln>
            <a:noFill/>
          </a:ln>
        </p:spPr>
      </p:pic>
      <p:sp>
        <p:nvSpPr>
          <p:cNvPr id="3959" name="Google Shape;3959;p312"/>
          <p:cNvSpPr txBox="1"/>
          <p:nvPr/>
        </p:nvSpPr>
        <p:spPr>
          <a:xfrm>
            <a:off x="533400" y="3714150"/>
            <a:ext cx="62892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" sz="1200" b="1" dirty="0">
                <a:solidFill>
                  <a:srgbClr val="017FFD"/>
                </a:solidFill>
              </a:rPr>
              <a:t>Read more   </a:t>
            </a:r>
            <a:r>
              <a:rPr lang="en" sz="1000" b="0" dirty="0">
                <a:solidFill>
                  <a:srgbClr val="333333"/>
                </a:solidFill>
              </a:rPr>
              <a:t>Swertz &amp; Gini 2022 — catalogue ecosystem  ·  Cadman et al. 2024 — Armadillo  ·  Reihs et al. 2021 — Negotiator  ·  Fortier et al. — </a:t>
            </a:r>
            <a:r>
              <a:rPr lang="en" sz="1000" b="0" dirty="0" err="1">
                <a:solidFill>
                  <a:srgbClr val="333333"/>
                </a:solidFill>
              </a:rPr>
              <a:t>harmonisation</a:t>
            </a:r>
            <a:r>
              <a:rPr lang="en" sz="1000" b="0" dirty="0">
                <a:solidFill>
                  <a:srgbClr val="333333"/>
                </a:solidFill>
              </a:rPr>
              <a:t>  ·  Swertz &amp; Jansen 2007 — the blueprint</a:t>
            </a:r>
          </a:p>
          <a:p>
            <a:pPr marL="0" lvl="0" indent="0" algn="l" rtl="0">
              <a:lnSpc>
                <a:spcPct val="120000"/>
              </a:lnSpc>
              <a:spcBef>
                <a:spcPts val="800"/>
              </a:spcBef>
              <a:buNone/>
            </a:pPr>
            <a:r>
              <a:rPr lang="en" sz="1200" b="1" dirty="0">
                <a:solidFill>
                  <a:srgbClr val="017FFD"/>
                </a:solidFill>
              </a:rPr>
              <a:t>Find us   </a:t>
            </a:r>
            <a:r>
              <a:rPr lang="en" sz="1000" b="0" dirty="0" err="1">
                <a:solidFill>
                  <a:srgbClr val="333333"/>
                </a:solidFill>
              </a:rPr>
              <a:t>molgenis.org</a:t>
            </a:r>
            <a:r>
              <a:rPr lang="en" sz="1000" b="0" dirty="0">
                <a:solidFill>
                  <a:srgbClr val="333333"/>
                </a:solidFill>
              </a:rPr>
              <a:t>   ·   </a:t>
            </a:r>
            <a:r>
              <a:rPr lang="en" sz="1000" b="0" dirty="0" err="1">
                <a:solidFill>
                  <a:srgbClr val="333333"/>
                </a:solidFill>
              </a:rPr>
              <a:t>github.com</a:t>
            </a:r>
            <a:r>
              <a:rPr lang="en" sz="1000" b="0" dirty="0">
                <a:solidFill>
                  <a:srgbClr val="333333"/>
                </a:solidFill>
              </a:rPr>
              <a:t>/</a:t>
            </a:r>
            <a:r>
              <a:rPr lang="en" sz="1000" b="0" dirty="0" err="1">
                <a:solidFill>
                  <a:srgbClr val="333333"/>
                </a:solidFill>
              </a:rPr>
              <a:t>molgenis</a:t>
            </a:r>
            <a:r>
              <a:rPr lang="en" sz="1000" b="0" dirty="0">
                <a:solidFill>
                  <a:srgbClr val="333333"/>
                </a:solidFill>
              </a:rPr>
              <a:t>   ·   </a:t>
            </a:r>
            <a:r>
              <a:rPr lang="en" sz="1000" b="0" dirty="0" err="1">
                <a:solidFill>
                  <a:srgbClr val="333333"/>
                </a:solidFill>
              </a:rPr>
              <a:t>molgeniscatalogue.org</a:t>
            </a:r>
            <a:endParaRPr lang="en" sz="1000" b="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MOLGENIS 3">
      <a:dk1>
        <a:srgbClr val="000000"/>
      </a:dk1>
      <a:lt1>
        <a:srgbClr val="FFFFFF"/>
      </a:lt1>
      <a:dk2>
        <a:srgbClr val="343434"/>
      </a:dk2>
      <a:lt2>
        <a:srgbClr val="E7E6E6"/>
      </a:lt2>
      <a:accent1>
        <a:srgbClr val="7BEDF3"/>
      </a:accent1>
      <a:accent2>
        <a:srgbClr val="F36969"/>
      </a:accent2>
      <a:accent3>
        <a:srgbClr val="EFED75"/>
      </a:accent3>
      <a:accent4>
        <a:srgbClr val="FD9A6D"/>
      </a:accent4>
      <a:accent5>
        <a:srgbClr val="017FFD"/>
      </a:accent5>
      <a:accent6>
        <a:srgbClr val="5DFFA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3C546A4B-451F-4F4D-9513-B8130B5570EE}" vid="{983DF4D2-D7C2-F547-9F87-F24B4E046D39}"/>
    </a:ext>
  </a:extLst>
</a:theme>
</file>

<file path=ppt/theme/theme2.xml><?xml version="1.0" encoding="utf-8"?>
<a:theme xmlns:a="http://schemas.openxmlformats.org/drawingml/2006/main" name="Sav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OLGENIS 3">
    <a:dk1>
      <a:srgbClr val="000000"/>
    </a:dk1>
    <a:lt1>
      <a:srgbClr val="FFFFFF"/>
    </a:lt1>
    <a:dk2>
      <a:srgbClr val="343434"/>
    </a:dk2>
    <a:lt2>
      <a:srgbClr val="E7E6E6"/>
    </a:lt2>
    <a:accent1>
      <a:srgbClr val="7BEDF3"/>
    </a:accent1>
    <a:accent2>
      <a:srgbClr val="F36969"/>
    </a:accent2>
    <a:accent3>
      <a:srgbClr val="EFED75"/>
    </a:accent3>
    <a:accent4>
      <a:srgbClr val="FD9A6D"/>
    </a:accent4>
    <a:accent5>
      <a:srgbClr val="017FFD"/>
    </a:accent5>
    <a:accent6>
      <a:srgbClr val="5DFFAC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Simple Light</Template>
  <TotalTime>1780</TotalTime>
  <Words>1717</Words>
  <Application>Microsoft Macintosh PowerPoint</Application>
  <PresentationFormat>Presentación en pantalla (16:9)</PresentationFormat>
  <Paragraphs>222</Paragraphs>
  <Slides>33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15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33</vt:i4>
      </vt:variant>
    </vt:vector>
  </HeadingPairs>
  <TitlesOfParts>
    <vt:vector size="51" baseType="lpstr">
      <vt:lpstr>Garamond</vt:lpstr>
      <vt:lpstr>Inter</vt:lpstr>
      <vt:lpstr>Calibri</vt:lpstr>
      <vt:lpstr>Oswald Medium</vt:lpstr>
      <vt:lpstr>Aptos</vt:lpstr>
      <vt:lpstr>Century Gothic</vt:lpstr>
      <vt:lpstr>Arial</vt:lpstr>
      <vt:lpstr>-apple-system</vt:lpstr>
      <vt:lpstr>Roboto Mono</vt:lpstr>
      <vt:lpstr>Bebas Neue</vt:lpstr>
      <vt:lpstr>Helvetica Neue</vt:lpstr>
      <vt:lpstr>IBM Plex Mono</vt:lpstr>
      <vt:lpstr>IBM Plex Sans</vt:lpstr>
      <vt:lpstr>Myriad Pro</vt:lpstr>
      <vt:lpstr>Nunito</vt:lpstr>
      <vt:lpstr>Office-thema</vt:lpstr>
      <vt:lpstr>Savon</vt:lpstr>
      <vt:lpstr>Simple Light</vt:lpstr>
      <vt:lpstr>From Data Discovery to Federated Analysis Supporting the Research Journey</vt:lpstr>
      <vt:lpstr>the researchers  JOURNEY</vt:lpstr>
      <vt:lpstr>OUR Journey FROM FAIR AT SOURCE TO FAIR RESEARCH FEDERATIONS</vt:lpstr>
      <vt:lpstr>ACT 1 — FAIR AT SOURCE</vt:lpstr>
      <vt:lpstr>FAIR AT THE SOURCE · step 1  · MAKE REUSABLE Data deposition for local (re)use</vt:lpstr>
      <vt:lpstr>FAIR AT THE SOURCE · MAKE REUSABLE catalogue for  collaboration</vt:lpstr>
      <vt:lpstr>FAIR AT THE SOURCE · MAKE ACCESSIBLE Enable trusted ANALYSIS ACCESS</vt:lpstr>
      <vt:lpstr>FAIR AT THE SOURCE · MAKE FINDABLE (many) CATALOGUES FOR RI and INSTITUTIONS</vt:lpstr>
      <vt:lpstr>ACT 2 — FAIR FEDERATIONS</vt:lpstr>
      <vt:lpstr>FAIR RESEARCH FEDERATIONS · CENTRAL ROUTE Central data deposition, central analysis ACCESS</vt:lpstr>
      <vt:lpstr>FAIR AT THE FEDERATION · MAKE FINDABLE CATALOGUE CONSORTIA / ‘data federations’</vt:lpstr>
      <vt:lpstr>FAIR RESEARCH FEDERATIONS · FEDERATED ROUTE Distributed deposition, federated analysis aCCESS</vt:lpstr>
      <vt:lpstr>FAIR RESEARCH FEDERATIONS · MAKE INTEROPERABLE Data harmonisation</vt:lpstr>
      <vt:lpstr>FAIR RESEARCH FEDERATIONS Multi-centre access requesting</vt:lpstr>
      <vt:lpstr>ACT3 — FROM TOOLS TO JOURNEYS</vt:lpstr>
      <vt:lpstr>Use case and pilot design</vt:lpstr>
      <vt:lpstr>Use case and pilot design</vt:lpstr>
      <vt:lpstr>Operating DataSHIELD was hard (getting it installed in all centers)</vt:lpstr>
      <vt:lpstr>Datashield Privacy controls</vt:lpstr>
      <vt:lpstr>APPLICATION The datasets</vt:lpstr>
      <vt:lpstr>Step 1: Defining research question</vt:lpstr>
      <vt:lpstr>Step 2: Searching metadata catalogue</vt:lpstr>
      <vt:lpstr>Step 3: Apply for data access</vt:lpstr>
      <vt:lpstr>Step 4: Set up federated analysis infrastructure </vt:lpstr>
      <vt:lpstr>Step 5: Analysis and preliminary findings</vt:lpstr>
      <vt:lpstr>APPLICATION · DEMO Find</vt:lpstr>
      <vt:lpstr>APPLICATION · DEMO Request</vt:lpstr>
      <vt:lpstr>APPLICATION · DEMO Access</vt:lpstr>
      <vt:lpstr>APPLICATION · DEMO Analyse</vt:lpstr>
      <vt:lpstr>Part 4 — Concluding remarks</vt:lpstr>
      <vt:lpstr>CONCLUDING REMARKS A common blueprint, variationS per domain</vt:lpstr>
      <vt:lpstr>CONCLUDING REMARKS NEXT STEPS — and what it asks of us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Swertz, MA</dc:creator>
  <cp:lastModifiedBy>Tim Cadman</cp:lastModifiedBy>
  <cp:revision>13</cp:revision>
  <dcterms:created xsi:type="dcterms:W3CDTF">2026-05-14T18:39:47Z</dcterms:created>
  <dcterms:modified xsi:type="dcterms:W3CDTF">2026-05-19T14:49:31Z</dcterms:modified>
</cp:coreProperties>
</file>