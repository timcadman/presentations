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4360" y="1024128"/>
            <a:ext cx="7955279" cy="2103120"/>
          </a:xfrm>
        </p:spPr>
        <p:txBody>
          <a:bodyPr anchor="t"/>
          <a:lstStyle>
            <a:lvl1pPr algn="l">
              <a:defRPr sz="5500">
                <a:solidFill>
                  <a:srgbClr val="4285F4"/>
                </a:solidFill>
                <a:latin typeface="Bebas Neue"/>
              </a:defRPr>
            </a:lvl1pPr>
            <a:lvl2pPr algn="l">
              <a:spcBef>
                <a:spcPts val="300"/>
              </a:spcBef>
              <a:buNone/>
              <a:defRPr sz="2500">
                <a:solidFill>
                  <a:srgbClr val="4285F4"/>
                </a:solidFill>
                <a:latin typeface="IBM Plex Mono"/>
              </a:defRPr>
            </a:lvl2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ccent"/>
          <p:cNvSpPr/>
          <p:nvPr/>
        </p:nvSpPr>
        <p:spPr>
          <a:xfrm>
            <a:off x="640080" y="868680"/>
            <a:ext cx="640080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822960"/>
            <a:ext cx="7863840" cy="1280160"/>
          </a:xfrm>
        </p:spPr>
        <p:txBody>
          <a:bodyPr anchor="t"/>
          <a:lstStyle>
            <a:lvl1pPr algn="l">
              <a:buNone/>
              <a:defRPr sz="4000">
                <a:solidFill>
                  <a:srgbClr val="4285F4"/>
                </a:solidFill>
                <a:latin typeface="Bebas Neue"/>
              </a:defRPr>
            </a:lvl1pPr>
            <a:lvl2pPr algn="l">
              <a:spcBef>
                <a:spcPts val="400"/>
              </a:spcBef>
              <a:buNone/>
              <a:defRPr sz="1800">
                <a:solidFill>
                  <a:srgbClr val="4285F4"/>
                </a:solidFill>
                <a:latin typeface="IBM Plex Mono"/>
              </a:defRPr>
            </a:lvl2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2148840"/>
            <a:ext cx="7863840" cy="2194560"/>
          </a:xfrm>
        </p:spPr>
        <p:txBody>
          <a:bodyPr anchor="t"/>
          <a:lstStyle>
            <a:lvl1pPr marL="228600" indent="-228600">
              <a:spcAft>
                <a:spcPts val="500"/>
              </a:spcAft>
              <a:buFont typeface="Arial"/>
              <a:buChar char="•"/>
              <a:defRPr sz="1400">
                <a:solidFill>
                  <a:srgbClr val="000000"/>
                </a:solidFill>
                <a:latin typeface="Nunito"/>
              </a:defRPr>
            </a:lvl1pPr>
            <a:lvl2pPr marL="685800" indent="-228600">
              <a:buFont typeface="Arial"/>
              <a:buChar char="•"/>
              <a:defRPr sz="1200">
                <a:solidFill>
                  <a:srgbClr val="000000"/>
                </a:solidFill>
                <a:latin typeface="Nunito"/>
              </a:defRPr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ccent"/>
          <p:cNvSpPr/>
          <p:nvPr/>
        </p:nvSpPr>
        <p:spPr>
          <a:xfrm>
            <a:off x="640080" y="548640"/>
            <a:ext cx="274320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Photo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0" y="822960"/>
            <a:ext cx="4389120" cy="1280160"/>
          </a:xfrm>
        </p:spPr>
        <p:txBody>
          <a:bodyPr anchor="t"/>
          <a:lstStyle>
            <a:lvl1pPr algn="l">
              <a:buNone/>
              <a:defRPr sz="4000">
                <a:solidFill>
                  <a:srgbClr val="4285F4"/>
                </a:solidFill>
                <a:latin typeface="Bebas Neue"/>
              </a:defRPr>
            </a:lvl1pPr>
            <a:lvl2pPr algn="l">
              <a:spcBef>
                <a:spcPts val="400"/>
              </a:spcBef>
              <a:buNone/>
              <a:defRPr sz="1800">
                <a:solidFill>
                  <a:srgbClr val="4285F4"/>
                </a:solidFill>
                <a:latin typeface="IBM Plex Mono"/>
              </a:defRPr>
            </a:lvl2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type="pic"/>
          </p:nvPr>
        </p:nvSpPr>
        <p:spPr>
          <a:xfrm>
            <a:off x="0" y="0"/>
            <a:ext cx="3657600" cy="5143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06240" y="2148840"/>
            <a:ext cx="4389120" cy="2194560"/>
          </a:xfrm>
        </p:spPr>
        <p:txBody>
          <a:bodyPr anchor="t"/>
          <a:lstStyle>
            <a:lvl1pPr marL="228600" indent="-228600">
              <a:spcAft>
                <a:spcPts val="500"/>
              </a:spcAft>
              <a:buFont typeface="Arial"/>
              <a:buChar char="•"/>
              <a:defRPr sz="1400">
                <a:solidFill>
                  <a:srgbClr val="000000"/>
                </a:solidFill>
                <a:latin typeface="Nunito"/>
              </a:defRPr>
            </a:lvl1pPr>
            <a:lvl2pPr marL="685800" indent="-228600">
              <a:buFont typeface="Arial"/>
              <a:buChar char="•"/>
              <a:defRPr sz="1200">
                <a:solidFill>
                  <a:srgbClr val="000000"/>
                </a:solidFill>
                <a:latin typeface="Nunito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Accent"/>
          <p:cNvSpPr/>
          <p:nvPr/>
        </p:nvSpPr>
        <p:spPr>
          <a:xfrm>
            <a:off x="4206240" y="548640"/>
            <a:ext cx="256032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822960"/>
            <a:ext cx="7863840" cy="1280160"/>
          </a:xfrm>
        </p:spPr>
        <p:txBody>
          <a:bodyPr anchor="t"/>
          <a:lstStyle>
            <a:lvl1pPr algn="l">
              <a:buNone/>
              <a:defRPr sz="4000">
                <a:solidFill>
                  <a:srgbClr val="4285F4"/>
                </a:solidFill>
                <a:latin typeface="Bebas Neue"/>
              </a:defRPr>
            </a:lvl1pPr>
            <a:lvl2pPr algn="l">
              <a:spcBef>
                <a:spcPts val="400"/>
              </a:spcBef>
              <a:buNone/>
              <a:defRPr sz="1800">
                <a:solidFill>
                  <a:srgbClr val="4285F4"/>
                </a:solidFill>
                <a:latin typeface="IBM Plex Mono"/>
              </a:defRPr>
            </a:lvl2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2148840"/>
            <a:ext cx="3840480" cy="2286000"/>
          </a:xfrm>
        </p:spPr>
        <p:txBody>
          <a:bodyPr anchor="t"/>
          <a:lstStyle>
            <a:lvl1pPr marL="228600" indent="-228600">
              <a:spcAft>
                <a:spcPts val="500"/>
              </a:spcAft>
              <a:buFont typeface="Arial"/>
              <a:buChar char="•"/>
              <a:defRPr sz="1400">
                <a:solidFill>
                  <a:srgbClr val="000000"/>
                </a:solidFill>
                <a:latin typeface="Nunito"/>
              </a:defRPr>
            </a:lvl1pPr>
            <a:lvl2pPr marL="685800" indent="-228600">
              <a:buFont typeface="Arial"/>
              <a:buChar char="•"/>
              <a:defRPr sz="1200">
                <a:solidFill>
                  <a:srgbClr val="000000"/>
                </a:solidFill>
                <a:latin typeface="Nunito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type="pic"/>
          </p:nvPr>
        </p:nvSpPr>
        <p:spPr>
          <a:xfrm>
            <a:off x="4754880" y="2148840"/>
            <a:ext cx="3840480" cy="228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Accent"/>
          <p:cNvSpPr/>
          <p:nvPr/>
        </p:nvSpPr>
        <p:spPr>
          <a:xfrm>
            <a:off x="640080" y="548640"/>
            <a:ext cx="256032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822960"/>
            <a:ext cx="7863840" cy="1280160"/>
          </a:xfrm>
        </p:spPr>
        <p:txBody>
          <a:bodyPr anchor="t"/>
          <a:lstStyle>
            <a:lvl1pPr algn="l">
              <a:buNone/>
              <a:defRPr sz="4000">
                <a:solidFill>
                  <a:srgbClr val="4285F4"/>
                </a:solidFill>
                <a:latin typeface="Bebas Neue"/>
              </a:defRPr>
            </a:lvl1pPr>
            <a:lvl2pPr algn="l">
              <a:spcBef>
                <a:spcPts val="400"/>
              </a:spcBef>
              <a:buNone/>
              <a:defRPr sz="1800">
                <a:solidFill>
                  <a:srgbClr val="4285F4"/>
                </a:solidFill>
                <a:latin typeface="IBM Plex Mono"/>
              </a:defRPr>
            </a:lvl2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Accent"/>
          <p:cNvSpPr/>
          <p:nvPr/>
        </p:nvSpPr>
        <p:spPr>
          <a:xfrm>
            <a:off x="640080" y="548640"/>
            <a:ext cx="274320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822960"/>
            <a:ext cx="4572000" cy="1280160"/>
          </a:xfrm>
        </p:spPr>
        <p:txBody>
          <a:bodyPr anchor="t"/>
          <a:lstStyle>
            <a:lvl1pPr algn="l">
              <a:buNone/>
              <a:defRPr sz="4000">
                <a:solidFill>
                  <a:srgbClr val="4285F4"/>
                </a:solidFill>
                <a:latin typeface="Bebas Neue"/>
              </a:defRPr>
            </a:lvl1pPr>
            <a:lvl2pPr algn="l">
              <a:spcBef>
                <a:spcPts val="400"/>
              </a:spcBef>
              <a:buNone/>
              <a:defRPr sz="1800">
                <a:solidFill>
                  <a:srgbClr val="4285F4"/>
                </a:solidFill>
                <a:latin typeface="IBM Plex Mono"/>
              </a:defRPr>
            </a:lvl2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type="pic"/>
          </p:nvPr>
        </p:nvSpPr>
        <p:spPr>
          <a:xfrm>
            <a:off x="5486400" y="0"/>
            <a:ext cx="3657600" cy="51435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0" y="2148840"/>
            <a:ext cx="4572000" cy="2194560"/>
          </a:xfrm>
        </p:spPr>
        <p:txBody>
          <a:bodyPr anchor="t"/>
          <a:lstStyle>
            <a:lvl1pPr marL="228600" indent="-228600">
              <a:spcAft>
                <a:spcPts val="500"/>
              </a:spcAft>
              <a:buFont typeface="Arial"/>
              <a:buChar char="•"/>
              <a:defRPr sz="1400">
                <a:solidFill>
                  <a:srgbClr val="000000"/>
                </a:solidFill>
                <a:latin typeface="Nunito"/>
              </a:defRPr>
            </a:lvl1pPr>
            <a:lvl2pPr marL="685800" indent="-228600">
              <a:buFont typeface="Arial"/>
              <a:buChar char="•"/>
              <a:defRPr sz="1200">
                <a:solidFill>
                  <a:srgbClr val="000000"/>
                </a:solidFill>
                <a:latin typeface="Nunito"/>
              </a:defRPr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Accent"/>
          <p:cNvSpPr/>
          <p:nvPr/>
        </p:nvSpPr>
        <p:spPr>
          <a:xfrm>
            <a:off x="640080" y="548640"/>
            <a:ext cx="256032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Logo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662748"/>
            <a:ext cx="914400" cy="29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822960"/>
            <a:ext cx="7863840" cy="1280160"/>
          </a:xfrm>
        </p:spPr>
        <p:txBody>
          <a:bodyPr anchor="t"/>
          <a:lstStyle>
            <a:lvl1pPr algn="l">
              <a:buNone/>
              <a:defRPr sz="4000">
                <a:solidFill>
                  <a:srgbClr val="4285F4"/>
                </a:solidFill>
                <a:latin typeface="Bebas Neue"/>
              </a:defRPr>
            </a:lvl1pPr>
            <a:lvl2pPr algn="l">
              <a:spcBef>
                <a:spcPts val="400"/>
              </a:spcBef>
              <a:buNone/>
              <a:defRPr sz="1800">
                <a:solidFill>
                  <a:srgbClr val="4285F4"/>
                </a:solidFill>
                <a:latin typeface="IBM Plex Mono"/>
              </a:defRPr>
            </a:lvl2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0080" y="2148840"/>
            <a:ext cx="3840480" cy="2286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54880" y="2148840"/>
            <a:ext cx="3840480" cy="2286000"/>
          </a:xfrm>
        </p:spPr>
        <p:txBody>
          <a:bodyPr anchor="t"/>
          <a:lstStyle>
            <a:lvl1pPr marL="228600" indent="-228600">
              <a:spcAft>
                <a:spcPts val="500"/>
              </a:spcAft>
              <a:buFont typeface="Arial"/>
              <a:buChar char="•"/>
              <a:defRPr sz="1400">
                <a:solidFill>
                  <a:srgbClr val="000000"/>
                </a:solidFill>
                <a:latin typeface="Nunito"/>
              </a:defRPr>
            </a:lvl1pPr>
            <a:lvl2pPr marL="685800" indent="-228600">
              <a:buFont typeface="Arial"/>
              <a:buChar char="•"/>
              <a:defRPr sz="1200">
                <a:solidFill>
                  <a:srgbClr val="000000"/>
                </a:solidFill>
                <a:latin typeface="Nunito"/>
              </a:defRPr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Accent"/>
          <p:cNvSpPr/>
          <p:nvPr/>
        </p:nvSpPr>
        <p:spPr>
          <a:xfrm>
            <a:off x="640080" y="548640"/>
            <a:ext cx="256032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Logo" descr="Logo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55280" y="4662748"/>
            <a:ext cx="914400" cy="29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4"/>
    <p:sldLayoutId id="2147483653" r:id="rId5"/>
    <p:sldLayoutId id="2147483654" r:id="rId6"/>
    <p:sldLayoutId id="2147483656" r:id="rId8"/>
    <p:sldLayoutId id="2147483657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Armadillo vs Opal</a:t>
            </a:r>
          </a:p>
          <a:p>
            <a:pPr lvl="1"/>
            <a:r>
              <a:t>Performance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833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222222"/>
                </a:solidFill>
                <a:latin typeface="Nunito"/>
              </a:rPr>
              <a:t>Tim Cadman</a:t>
            </a:r>
          </a:p>
          <a:p>
            <a:r>
              <a:rPr sz="1100">
                <a:solidFill>
                  <a:srgbClr val="222222"/>
                </a:solidFill>
                <a:latin typeface="Nunito"/>
              </a:rPr>
              <a:t>Senior Data Scientist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benchmark?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We assume that Armadillo is faster than Opal — but we haven't systematically measured it</a:t>
            </a:r>
          </a:p>
          <a:p>
            <a:pPr/>
            <a:r>
              <a:t>We know Armadillo is more light-weight, but again we have not measured it</a:t>
            </a:r>
          </a:p>
          <a:p>
            <a:pPr/>
            <a:r>
              <a:t>Leon (NCC) asked for benchmarks to help choose between Armadillo and Opal</a:t>
            </a:r>
          </a:p>
          <a:p>
            <a:pPr/>
            <a:r>
              <a:t>Stats could be useful in the future when marketting Armadillo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  <a:p>
            <a:pPr lvl="1"/>
            <a:r>
              <a:t>To test the following: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011680"/>
            <a:ext cx="3794759" cy="27203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09728"/>
          <a:lstStyle/>
          <a:p>
            <a:pPr algn="ctr"/>
            <a:r>
              <a:rPr b="1" sz="1500">
                <a:solidFill>
                  <a:srgbClr val="4285F4"/>
                </a:solidFill>
                <a:latin typeface="Nunito"/>
              </a:rPr>
              <a:t>Footprint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Nunito"/>
              </a:rPr>
              <a:t>Resting memory and on-disk storage efficiency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011680"/>
            <a:ext cx="64008" cy="2720339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09159" y="2011680"/>
            <a:ext cx="3794759" cy="27203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09728"/>
          <a:lstStyle/>
          <a:p>
            <a:pPr algn="ctr"/>
            <a:r>
              <a:rPr b="1" sz="1500">
                <a:solidFill>
                  <a:srgbClr val="4285F4"/>
                </a:solidFill>
                <a:latin typeface="Nunito"/>
              </a:rPr>
              <a:t>Speed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Nunito"/>
              </a:rPr>
              <a:t>How fast Armadillo (Rock) and Opal are when deployed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709159" y="2011680"/>
            <a:ext cx="64008" cy="2720339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Servers tested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920240"/>
          <a:ext cx="8229597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608"/>
                <a:gridCol w="901873"/>
                <a:gridCol w="3043824"/>
                <a:gridCol w="1691013"/>
                <a:gridCol w="1578279"/>
              </a:tblGrid>
              <a:tr h="320040">
                <a:tc>
                  <a:txBody>
                    <a:bodyPr/>
                    <a:lstStyle/>
                    <a:p>
                      <a:r>
                        <a:rPr sz="1100">
                          <a:latin typeface="Nunito"/>
                        </a:rPr>
                        <a:t>Server</a:t>
                      </a:r>
                    </a:p>
                  </a:txBody>
                  <a:tcPr marT="12700" marB="12700" marL="76200" marR="76200"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Nunito"/>
                        </a:rPr>
                        <a:t>R engine</a:t>
                      </a:r>
                    </a:p>
                  </a:txBody>
                  <a:tcPr marT="12700" marB="12700" marL="76200" marR="76200"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Nunito"/>
                        </a:rPr>
                        <a:t>Host</a:t>
                      </a:r>
                    </a:p>
                  </a:txBody>
                  <a:tcPr marT="12700" marB="12700" marL="76200" marR="76200"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Nunito"/>
                        </a:rPr>
                        <a:t>Version</a:t>
                      </a:r>
                    </a:p>
                  </a:txBody>
                  <a:tcPr marT="12700" marB="12700" marL="76200" marR="76200"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Nunito"/>
                        </a:rPr>
                        <a:t>Spec</a:t>
                      </a:r>
                    </a:p>
                  </a:txBody>
                  <a:tcPr marT="12700" marB="12700" marL="76200" marR="76200"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>
                          <a:latin typeface="Nunito"/>
                        </a:rPr>
                        <a:t>Armadillo</a:t>
                      </a:r>
                    </a:p>
                  </a:txBody>
                  <a:tcPr marT="12700" marB="12700" marL="76200" marR="76200"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Nunito"/>
                        </a:rPr>
                        <a:t>Rock</a:t>
                      </a:r>
                    </a:p>
                  </a:txBody>
                  <a:tcPr marT="12700" marB="12700" marL="76200" marR="76200"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Nunito"/>
                        </a:rPr>
                        <a:t>armadillo-demo.molgenis.net</a:t>
                      </a:r>
                    </a:p>
                  </a:txBody>
                  <a:tcPr marT="12700" marB="12700" marL="76200" marR="76200"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Nunito"/>
                        </a:rPr>
                        <a:t>5.12.2</a:t>
                      </a:r>
                    </a:p>
                  </a:txBody>
                  <a:tcPr marT="12700" marB="12700" marL="76200" marR="76200"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Nunito"/>
                        </a:rPr>
                        <a:t>2 vCPU · 8 GiB</a:t>
                      </a:r>
                    </a:p>
                  </a:txBody>
                  <a:tcPr marT="12700" marB="12700" marL="76200" marR="76200"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>
                          <a:latin typeface="Nunito"/>
                        </a:rPr>
                        <a:t>Armadillo</a:t>
                      </a:r>
                    </a:p>
                  </a:txBody>
                  <a:tcPr marT="12700" marB="12700" marL="76200" marR="76200"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Nunito"/>
                        </a:rPr>
                        <a:t>Rock</a:t>
                      </a:r>
                    </a:p>
                  </a:txBody>
                  <a:tcPr marT="12700" marB="12700" marL="76200" marR="76200"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Nunito"/>
                        </a:rPr>
                        <a:t>localhost</a:t>
                      </a:r>
                    </a:p>
                  </a:txBody>
                  <a:tcPr marT="12700" marB="12700" marL="76200" marR="76200"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Nunito"/>
                        </a:rPr>
                        <a:t>5.14.0-SNAPSHOT</a:t>
                      </a:r>
                    </a:p>
                  </a:txBody>
                  <a:tcPr marT="12700" marB="12700" marL="76200" marR="76200"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Nunito"/>
                        </a:rPr>
                        <a:t>2 vCPU · 8 GiB</a:t>
                      </a:r>
                    </a:p>
                  </a:txBody>
                  <a:tcPr marT="12700" marB="12700" marL="76200" marR="76200"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>
                          <a:latin typeface="Nunito"/>
                        </a:rPr>
                        <a:t>Opal</a:t>
                      </a:r>
                    </a:p>
                  </a:txBody>
                  <a:tcPr marT="12700" marB="12700" marL="76200" marR="76200"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Nunito"/>
                        </a:rPr>
                        <a:t>Rock</a:t>
                      </a:r>
                    </a:p>
                  </a:txBody>
                  <a:tcPr marT="12700" marB="12700" marL="76200" marR="76200"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Nunito"/>
                        </a:rPr>
                        <a:t>opal.molgeniscloud.org</a:t>
                      </a:r>
                    </a:p>
                  </a:txBody>
                  <a:tcPr marT="12700" marB="12700" marL="76200" marR="76200"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Nunito"/>
                        </a:rPr>
                        <a:t>5.7.2</a:t>
                      </a:r>
                    </a:p>
                  </a:txBody>
                  <a:tcPr marT="12700" marB="12700" marL="76200" marR="76200"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Nunito"/>
                        </a:rPr>
                        <a:t>2 vCPU · 8 GiB</a:t>
                      </a:r>
                    </a:p>
                  </a:txBody>
                  <a:tcPr marT="12700" marB="12700" marL="76200" marR="76200"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>
                          <a:latin typeface="Nunito"/>
                        </a:rPr>
                        <a:t>Opal</a:t>
                      </a:r>
                    </a:p>
                  </a:txBody>
                  <a:tcPr marT="12700" marB="12700" marL="76200" marR="76200"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Nunito"/>
                        </a:rPr>
                        <a:t>Rock</a:t>
                      </a:r>
                    </a:p>
                  </a:txBody>
                  <a:tcPr marT="12700" marB="12700" marL="76200" marR="76200"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Nunito"/>
                        </a:rPr>
                        <a:t>localhost</a:t>
                      </a:r>
                    </a:p>
                  </a:txBody>
                  <a:tcPr marT="12700" marB="12700" marL="76200" marR="76200"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Nunito"/>
                        </a:rPr>
                        <a:t>5.7.1</a:t>
                      </a:r>
                    </a:p>
                  </a:txBody>
                  <a:tcPr marT="12700" marB="12700" marL="76200" marR="76200"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Nunito"/>
                        </a:rPr>
                        <a:t>2 vCPU · 8 GiB</a:t>
                      </a:r>
                    </a:p>
                  </a:txBody>
                  <a:tcPr marT="12700" marB="12700" marL="76200" marR="7620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Footprint</a:t>
            </a:r>
          </a:p>
          <a:p>
            <a:pPr lvl="1"/>
            <a:r>
              <a:t>What was measured and how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920240"/>
          <a:ext cx="8229598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543"/>
                <a:gridCol w="3883631"/>
                <a:gridCol w="3051424"/>
              </a:tblGrid>
              <a:tr h="320039">
                <a:tc>
                  <a:txBody>
                    <a:bodyPr/>
                    <a:lstStyle/>
                    <a:p>
                      <a:r>
                        <a:rPr sz="1200">
                          <a:latin typeface="Nunito"/>
                        </a:rPr>
                        <a:t>Metric</a:t>
                      </a:r>
                    </a:p>
                  </a:txBody>
                  <a:tcPr marT="12700" marB="12700" marL="76200" marR="76200"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Nunito"/>
                        </a:rPr>
                        <a:t>Armadillo</a:t>
                      </a:r>
                    </a:p>
                  </a:txBody>
                  <a:tcPr marT="12700" marB="12700" marL="76200" marR="76200"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Nunito"/>
                        </a:rPr>
                        <a:t>Opal</a:t>
                      </a:r>
                    </a:p>
                  </a:txBody>
                  <a:tcPr marT="12700" marB="12700" marL="76200" marR="76200"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200">
                          <a:latin typeface="Nunito"/>
                        </a:rPr>
                        <a:t>Resting memory</a:t>
                      </a:r>
                    </a:p>
                  </a:txBody>
                  <a:tcPr marT="12700" marB="12700" marL="76200" marR="76200"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Nunito"/>
                        </a:rPr>
                        <a:t>Armadillo + Rock engine</a:t>
                      </a:r>
                    </a:p>
                  </a:txBody>
                  <a:tcPr marT="12700" marB="12700" marL="76200" marR="76200"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Nunito"/>
                        </a:rPr>
                        <a:t>Opal + MongoDB + Rock engine</a:t>
                      </a:r>
                    </a:p>
                  </a:txBody>
                  <a:tcPr marT="12700" marB="12700" marL="76200" marR="76200"/>
                </a:tc>
              </a:tr>
              <a:tr h="320041">
                <a:tc>
                  <a:txBody>
                    <a:bodyPr/>
                    <a:lstStyle/>
                    <a:p>
                      <a:r>
                        <a:rPr sz="1200">
                          <a:latin typeface="Nunito"/>
                        </a:rPr>
                        <a:t>Data on disk</a:t>
                      </a:r>
                    </a:p>
                  </a:txBody>
                  <a:tcPr marT="12700" marB="12700" marL="76200" marR="76200"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Nunito"/>
                        </a:rPr>
                        <a:t>Example 10,000-row data, stored as Parquet</a:t>
                      </a:r>
                    </a:p>
                  </a:txBody>
                  <a:tcPr marT="12700" marB="12700" marL="76200" marR="76200"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Nunito"/>
                        </a:rPr>
                        <a:t>Same data file, stored in MongoDB</a:t>
                      </a:r>
                    </a:p>
                  </a:txBody>
                  <a:tcPr marT="12700" marB="12700" marL="76200" marR="7620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Speed</a:t>
            </a:r>
          </a:p>
          <a:p>
            <a:pPr lvl="1"/>
            <a:r>
              <a:t>Where the time goes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011680"/>
            <a:ext cx="3794759" cy="12230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09728"/>
          <a:lstStyle/>
          <a:p>
            <a:pPr algn="ctr"/>
            <a:r>
              <a:rPr b="1" sz="1500">
                <a:solidFill>
                  <a:srgbClr val="4285F4"/>
                </a:solidFill>
                <a:latin typeface="Nunito"/>
              </a:rPr>
              <a:t>Server compute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Nunito"/>
              </a:rPr>
              <a:t>the function runs in R — command end − start Armadillo GET /lastcommand · Opal GET /datashield/…/command/{id}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011680"/>
            <a:ext cx="64008" cy="122301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09159" y="2011680"/>
            <a:ext cx="3794759" cy="12230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09728"/>
          <a:lstStyle/>
          <a:p>
            <a:pPr algn="ctr"/>
            <a:r>
              <a:rPr b="1" sz="1500">
                <a:solidFill>
                  <a:srgbClr val="4285F4"/>
                </a:solidFill>
                <a:latin typeface="Nunito"/>
              </a:rPr>
              <a:t>System overhead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Nunito"/>
              </a:rPr>
              <a:t>serialise · protocol · dispatch · auth — (localhost round-trip) − compute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09159" y="2011680"/>
            <a:ext cx="64008" cy="122301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3509010"/>
            <a:ext cx="3794759" cy="12230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09728"/>
          <a:lstStyle/>
          <a:p>
            <a:pPr algn="ctr"/>
            <a:r>
              <a:rPr b="1" sz="1500">
                <a:solidFill>
                  <a:srgbClr val="4285F4"/>
                </a:solidFill>
                <a:latin typeface="Nunito"/>
              </a:rPr>
              <a:t>Network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Nunito"/>
              </a:rPr>
              <a:t>round-trips on the wire — (remote round-trip) − compute − overhead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509010"/>
            <a:ext cx="64008" cy="122301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09159" y="3509010"/>
            <a:ext cx="3794759" cy="12230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09728"/>
          <a:lstStyle/>
          <a:p>
            <a:pPr algn="ctr"/>
            <a:r>
              <a:rPr b="1" sz="1500">
                <a:solidFill>
                  <a:srgbClr val="4285F4"/>
                </a:solidFill>
                <a:latin typeface="Nunito"/>
              </a:rPr>
              <a:t>Polling delay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Nunito"/>
              </a:rPr>
              <a:t>client waits between async status checks — DSI poll-sleep fixed at 2 ms (0.002 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59" y="3509010"/>
            <a:ext cx="64008" cy="122301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</a:t>
            </a:r>
          </a:p>
          <a:p>
            <a:pPr lvl="1"/>
            <a:r>
              <a:t>Functions benchmarked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920240"/>
          <a:ext cx="8229599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9059"/>
                <a:gridCol w="556054"/>
                <a:gridCol w="5004486"/>
              </a:tblGrid>
              <a:tr h="320039">
                <a:tc>
                  <a:txBody>
                    <a:bodyPr/>
                    <a:lstStyle/>
                    <a:p>
                      <a:r>
                        <a:rPr sz="900">
                          <a:latin typeface="Nunito"/>
                        </a:rPr>
                        <a:t>Family</a:t>
                      </a:r>
                    </a:p>
                  </a:txBody>
                  <a:tcPr marT="12700" marB="12700" marL="76200" marR="76200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Nunito"/>
                        </a:rPr>
                        <a:t>n</a:t>
                      </a:r>
                    </a:p>
                  </a:txBody>
                  <a:tcPr marT="12700" marB="12700" marL="76200" marR="76200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Nunito"/>
                        </a:rPr>
                        <a:t>Functions (dsBase server function)</a:t>
                      </a:r>
                    </a:p>
                  </a:txBody>
                  <a:tcPr marT="12700" marB="12700" marL="76200" marR="76200"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900">
                          <a:latin typeface="Nunito"/>
                        </a:rPr>
                        <a:t>Summary statistics</a:t>
                      </a:r>
                    </a:p>
                  </a:txBody>
                  <a:tcPr marT="12700" marB="12700" marL="76200" marR="76200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Nunito"/>
                        </a:rPr>
                        <a:t>5</a:t>
                      </a:r>
                    </a:p>
                  </a:txBody>
                  <a:tcPr marT="12700" marB="12700" marL="76200" marR="76200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Nunito"/>
                        </a:rPr>
                        <a:t>meanDS · varDS · quantileMeanDS · corDS · tableDS</a:t>
                      </a:r>
                    </a:p>
                  </a:txBody>
                  <a:tcPr marT="12700" marB="12700" marL="76200" marR="76200"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900">
                          <a:latin typeface="Nunito"/>
                        </a:rPr>
                        <a:t>Metadata / introspection</a:t>
                      </a:r>
                    </a:p>
                  </a:txBody>
                  <a:tcPr marT="12700" marB="12700" marL="76200" marR="76200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Nunito"/>
                        </a:rPr>
                        <a:t>8</a:t>
                      </a:r>
                    </a:p>
                  </a:txBody>
                  <a:tcPr marT="12700" marB="12700" marL="76200" marR="76200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Nunito"/>
                        </a:rPr>
                        <a:t>classDS · dimDS · colnamesDS · lengthDS · levelsDS · numNaDS · lsDS · isValidDS</a:t>
                      </a:r>
                    </a:p>
                  </a:txBody>
                  <a:tcPr marT="12700" marB="12700" marL="76200" marR="76200"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900">
                          <a:latin typeface="Nunito"/>
                        </a:rPr>
                        <a:t>Transform &amp; recode</a:t>
                      </a:r>
                    </a:p>
                  </a:txBody>
                  <a:tcPr marT="12700" marB="12700" marL="76200" marR="76200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Nunito"/>
                        </a:rPr>
                        <a:t>11</a:t>
                      </a:r>
                    </a:p>
                  </a:txBody>
                  <a:tcPr marT="12700" marB="12700" marL="76200" marR="76200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Nunito"/>
                        </a:rPr>
                        <a:t>asFactorDS1 · asFactorDS2 · asIntegerDS · asCharacterDS · asDataMatrixDS · BooleDS · recodeValuesDS · recodeLevelsDS · changeRefGroupDS · repDS · replaceNaDS</a:t>
                      </a:r>
                    </a:p>
                  </a:txBody>
                  <a:tcPr marT="12700" marB="12700" marL="76200" marR="76200"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900">
                          <a:latin typeface="Nunito"/>
                        </a:rPr>
                        <a:t>Data-frame manipulation</a:t>
                      </a:r>
                    </a:p>
                  </a:txBody>
                  <a:tcPr marT="12700" marB="12700" marL="76200" marR="76200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Nunito"/>
                        </a:rPr>
                        <a:t>6</a:t>
                      </a:r>
                    </a:p>
                  </a:txBody>
                  <a:tcPr marT="12700" marB="12700" marL="76200" marR="76200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Nunito"/>
                        </a:rPr>
                        <a:t>dataFrameDS · dataFrameSubsetDS1 · dataFrameSubsetDS2 · cbindDS · mergeDS · reShapeDS</a:t>
                      </a:r>
                    </a:p>
                  </a:txBody>
                  <a:tcPr marT="12700" marB="12700" marL="76200" marR="76200"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900">
                          <a:latin typeface="Nunito"/>
                        </a:rPr>
                        <a:t>Modelling</a:t>
                      </a:r>
                    </a:p>
                  </a:txBody>
                  <a:tcPr marT="12700" marB="12700" marL="76200" marR="76200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Nunito"/>
                        </a:rPr>
                        <a:t>5</a:t>
                      </a:r>
                    </a:p>
                  </a:txBody>
                  <a:tcPr marT="12700" marB="12700" marL="76200" marR="76200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Nunito"/>
                        </a:rPr>
                        <a:t>glmDS1 · glmDS2 · glmSLMADS1 · glmSLMADS.assign · lmerSLMADS2</a:t>
                      </a:r>
                    </a:p>
                  </a:txBody>
                  <a:tcPr marT="12700" marB="12700" marL="76200" marR="76200"/>
                </a:tc>
              </a:tr>
              <a:tr h="320045">
                <a:tc>
                  <a:txBody>
                    <a:bodyPr/>
                    <a:lstStyle/>
                    <a:p>
                      <a:r>
                        <a:rPr sz="900">
                          <a:latin typeface="Nunito"/>
                        </a:rPr>
                        <a:t>DSI</a:t>
                      </a:r>
                    </a:p>
                  </a:txBody>
                  <a:tcPr marT="12700" marB="12700" marL="76200" marR="76200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Nunito"/>
                        </a:rPr>
                        <a:t>9</a:t>
                      </a:r>
                    </a:p>
                  </a:txBody>
                  <a:tcPr marT="12700" marB="12700" marL="76200" marR="76200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Nunito"/>
                        </a:rPr>
                        <a:t>rmDS · login · workspace_save · workspace_load · assign.table · tables · profiles · workspaces · pkg_status</a:t>
                      </a:r>
                    </a:p>
                  </a:txBody>
                  <a:tcPr marT="12700" marB="12700" marL="76200" marR="76200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</a:t>
            </a:r>
          </a:p>
          <a:p>
            <a:pPr lvl="1"/>
            <a:r>
              <a:t>Repeats &amp; shuffling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Each call was timed over 5 shuffled passes — every pass randomises the call order, then repeats each call 5 times 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Footprint</a:t>
            </a:r>
          </a:p>
          <a:p>
            <a:pPr lvl="1"/>
            <a:r>
              <a:t>Memory and disk space</a:t>
            </a:r>
          </a:p>
        </p:txBody>
      </p:sp>
      <p:pic>
        <p:nvPicPr>
          <p:cNvPr id="3" name="Picture 2" descr="res_mem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3749040" cy="2385752"/>
          </a:xfrm>
          <a:prstGeom prst="rect">
            <a:avLst/>
          </a:prstGeom>
          <a:ln w="12700">
            <a:solidFill>
              <a:srgbClr val="D9D9D9"/>
            </a:solidFill>
          </a:ln>
        </p:spPr>
      </p:pic>
      <p:pic>
        <p:nvPicPr>
          <p:cNvPr id="4" name="Picture 3" descr="res_sto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828800"/>
            <a:ext cx="3749040" cy="2385752"/>
          </a:xfrm>
          <a:prstGeom prst="rect">
            <a:avLst/>
          </a:prstGeom>
          <a:ln w="12700">
            <a:solidFill>
              <a:srgbClr val="D9D9D9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Speed</a:t>
            </a:r>
          </a:p>
          <a:p>
            <a:pPr lvl="1"/>
            <a:r>
              <a:t>Armadillo speed vs Opal</a:t>
            </a:r>
          </a:p>
        </p:txBody>
      </p:sp>
      <p:pic>
        <p:nvPicPr>
          <p:cNvPr id="3" name="Picture 2" descr="total_lo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3749040" cy="2385752"/>
          </a:xfrm>
          <a:prstGeom prst="rect">
            <a:avLst/>
          </a:prstGeom>
          <a:ln w="12700">
            <a:solidFill>
              <a:srgbClr val="D9D9D9"/>
            </a:solidFill>
          </a:ln>
        </p:spPr>
      </p:pic>
      <p:pic>
        <p:nvPicPr>
          <p:cNvPr id="4" name="Picture 3" descr="total_remo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828800"/>
            <a:ext cx="3749040" cy="2385752"/>
          </a:xfrm>
          <a:prstGeom prst="rect">
            <a:avLst/>
          </a:prstGeom>
          <a:ln w="12700">
            <a:solidFill>
              <a:srgbClr val="D9D9D9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Speed</a:t>
            </a:r>
          </a:p>
          <a:p>
            <a:pPr lvl="1"/>
            <a:r>
              <a:t>DSI variance</a:t>
            </a:r>
          </a:p>
        </p:txBody>
      </p:sp>
      <p:pic>
        <p:nvPicPr>
          <p:cNvPr id="3" name="Picture 2" descr="session_lo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3749040" cy="2385752"/>
          </a:xfrm>
          <a:prstGeom prst="rect">
            <a:avLst/>
          </a:prstGeom>
          <a:ln w="12700">
            <a:solidFill>
              <a:srgbClr val="D9D9D9"/>
            </a:solidFill>
          </a:ln>
        </p:spPr>
      </p:pic>
      <p:pic>
        <p:nvPicPr>
          <p:cNvPr id="4" name="Picture 3" descr="session_remo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828800"/>
            <a:ext cx="3749040" cy="2385752"/>
          </a:xfrm>
          <a:prstGeom prst="rect">
            <a:avLst/>
          </a:prstGeom>
          <a:ln w="12700">
            <a:solidFill>
              <a:srgbClr val="D9D9D9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Speed</a:t>
            </a:r>
          </a:p>
          <a:p>
            <a:pPr lvl="1"/>
            <a:r>
              <a:t>Where is Armadillo faster?</a:t>
            </a:r>
          </a:p>
        </p:txBody>
      </p:sp>
      <p:pic>
        <p:nvPicPr>
          <p:cNvPr id="3" name="Picture 2" descr="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930" y="1828800"/>
            <a:ext cx="6454140" cy="2766060"/>
          </a:xfrm>
          <a:prstGeom prst="rect">
            <a:avLst/>
          </a:prstGeom>
          <a:ln w="12700">
            <a:solidFill>
              <a:srgbClr val="D9D9D9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Armadillo is faster than Opal — locally ~3× ; remotely ~1.2×</a:t>
            </a:r>
          </a:p>
          <a:p>
            <a:pPr/>
            <a:r>
              <a:t>Deployment is dominated by network latency (~160 ms, shared) — so Armadillo's comparative advantage diminishes when deployed</a:t>
            </a:r>
          </a:p>
          <a:p>
            <a:pPr/>
            <a:r>
              <a:t>We should improve the few operations where Armadillo did worse — login and workspace_load</a:t>
            </a:r>
          </a:p>
          <a:p>
            <a:pPr/>
            <a:r>
              <a:t>We can confidently say that Armadillo is quicker and more light-weight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Feedback</a:t>
            </a:r>
          </a:p>
          <a:p>
            <a:pPr lvl="1"/>
            <a:r>
              <a:t>Open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Anything else worth measuring?</a:t>
            </a:r>
          </a:p>
          <a:p>
            <a:pPr/>
            <a:r>
              <a:t>Do we want to put these figures in the docs/website?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